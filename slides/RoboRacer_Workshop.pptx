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73dd0bdb-718f-bbcf-7fb4-066a628ca356}">
          <p14:sldIdLst>
            <p14:sldId id="256"/>
            <p14:sldId id="257"/>
          </p14:sldIdLst>
        </p14:section>
        <p14:section name="Meet RoboRacer" id="{1ab0cde7-1169-948d-8a8b-8d1edca91358}">
          <p14:sldIdLst>
            <p14:sldId id="258"/>
            <p14:sldId id="259"/>
            <p14:sldId id="260"/>
            <p14:sldId id="261"/>
            <p14:sldId id="262"/>
            <p14:sldId id="263"/>
            <p14:sldId id="264"/>
            <p14:sldId id="265"/>
            <p14:sldId id="266"/>
            <p14:sldId id="267"/>
            <p14:sldId id="268"/>
            <p14:sldId id="269"/>
          </p14:sldIdLst>
        </p14:section>
        <p14:section name="Setup" id="{e166f7d0-4939-4c64-368a-d165b5ef1a49}">
          <p14:sldIdLst>
            <p14:sldId id="270"/>
            <p14:sldId id="271"/>
            <p14:sldId id="272"/>
            <p14:sldId id="273"/>
          </p14:sldIdLst>
        </p14:section>
        <p14:section name="The drive() API" id="{7126a2e9-f8e3-ab87-2704-f5c846b83ed5}">
          <p14:sldIdLst>
            <p14:sldId id="274"/>
            <p14:sldId id="275"/>
            <p14:sldId id="276"/>
            <p14:sldId id="277"/>
            <p14:sldId id="278"/>
          </p14:sldIdLst>
        </p14:section>
        <p14:section name="Algorithms" id="{85dad0b2-8afc-4296-7a1b-03faab15007c}">
          <p14:sldIdLst>
            <p14:sldId id="279"/>
            <p14:sldId id="280"/>
            <p14:sldId id="281"/>
            <p14:sldId id="282"/>
            <p14:sldId id="283"/>
          </p14:sldIdLst>
        </p14:section>
        <p14:section name="Exercises" id="{b4ef19eb-2722-0850-e016-1e85e878832c}">
          <p14:sldIdLst>
            <p14:sldId id="284"/>
            <p14:sldId id="285"/>
            <p14:sldId id="286"/>
            <p14:sldId id="287"/>
            <p14:sldId id="288"/>
          </p14:sldIdLst>
        </p14:section>
        <p14:section name="Wrap-up" id="{a7a080e5-2764-3b09-f3df-452fc24a72ed}">
          <p14:sldIdLst>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4161B"/>
                </a:solidFill>
                <a:latin typeface="+mn-lt"/>
              </a:defRPr>
            </a:pPr>
            <a:r>
              <a:rPr sz="1600" b="0" i="0" u="none" strike="noStrike">
                <a:solidFill>
                  <a:srgbClr val="14161B"/>
                </a:solidFill>
                <a:latin typeface="+mn-lt"/>
              </a:rPr>
              <a:t>speed = 0.8 / (1 + 2|δ|)</a:t>
            </a:r>
          </a:p>
        </c:rich>
      </c:tx>
      <c:layout/>
      <c:overlay val="0"/>
    </c:title>
    <c:autoTitleDeleted val="0"/>
    <c:plotArea>
      <c:layout/>
      <c:lineChart>
        <c:varyColors val="0"/>
        <c:ser>
          <c:idx val="0"/>
          <c:order val="0"/>
          <c:tx>
            <c:strRef>
              <c:f>Sheet1!$B$1</c:f>
              <c:strCache>
                <c:ptCount val="1"/>
                <c:pt idx="0">
                  <c:v>Requested speed (m/s)</c:v>
                </c:pt>
              </c:strCache>
            </c:strRef>
          </c:tx>
          <c:spPr>
            <a:solidFill>
              <a:srgbClr val="E63946"/>
            </a:solidFill>
            <a:ln w="38100" cap="flat">
              <a:solidFill>
                <a:srgbClr val="E63946"/>
              </a:solidFill>
              <a:prstDash val="solid"/>
              <a:round/>
            </a:ln>
            <a:effectLst/>
          </c:spPr>
          <c:invertIfNegative val="0"/>
          <c:dLbls>
            <c:numFmt formatCode="0.00" sourceLinked="0"/>
            <c:txPr>
              <a:bodyPr/>
              <a:lstStyle/>
              <a:p>
                <a:pPr>
                  <a:defRPr b="0" i="0" strike="noStrike" sz="1200" u="none">
                    <a:solidFill>
                      <a:srgbClr val="2B2F38"/>
                    </a:solidFill>
                    <a:latin typeface="+mn-lt"/>
                  </a:defRPr>
                </a:pPr>
              </a:p>
            </c:txPr>
            <c:dLblPos val="t"/>
            <c:showLegendKey val="0"/>
            <c:showVal val="1"/>
            <c:showCatName val="0"/>
            <c:showSerName val="0"/>
            <c:showPercent val="0"/>
            <c:showBubbleSize val="0"/>
            <c:showLeaderLines val="0"/>
          </c:dLbls>
          <c:marker>
            <c:symbol val="circle"/>
            <c:size val="8"/>
            <c:spPr>
              <a:solidFill>
                <a:srgbClr val="E63946"/>
              </a:solidFill>
              <a:ln w="9525" cap="flat">
                <a:solidFill>
                  <a:srgbClr val="E63946"/>
                </a:solidFill>
                <a:prstDash val="solid"/>
                <a:round/>
              </a:ln>
              <a:effectLst/>
            </c:spPr>
          </c:marker>
          <c:cat>
            <c:multiLvlStrRef>
              <c:f>Sheet1!$A$2:$A$8</c:f>
              <c:multiLvlStrCache>
                <c:ptCount val="7"/>
                <c:lvl>
                  <c:pt idx="0">
                    <c:v>0°</c:v>
                  </c:pt>
                  <c:pt idx="1">
                    <c:v>5°</c:v>
                  </c:pt>
                  <c:pt idx="2">
                    <c:v>10°</c:v>
                  </c:pt>
                  <c:pt idx="3">
                    <c:v>15°</c:v>
                  </c:pt>
                  <c:pt idx="4">
                    <c:v>20°</c:v>
                  </c:pt>
                  <c:pt idx="5">
                    <c:v>25°</c:v>
                  </c:pt>
                  <c:pt idx="6">
                    <c:v>30°</c:v>
                  </c:pt>
                </c:lvl>
              </c:multiLvlStrCache>
            </c:multiLvlStrRef>
          </c:cat>
          <c:val>
            <c:numRef>
              <c:f>Sheet1!$B$2:$B$8</c:f>
              <c:numCache>
                <c:formatCode>General</c:formatCode>
                <c:ptCount val="7"/>
                <c:pt idx="0">
                  <c:v>0.8</c:v>
                </c:pt>
                <c:pt idx="1">
                  <c:v>0.68</c:v>
                </c:pt>
                <c:pt idx="2">
                  <c:v>0.59</c:v>
                </c:pt>
                <c:pt idx="3">
                  <c:v>0.53</c:v>
                </c:pt>
                <c:pt idx="4">
                  <c:v>0.47</c:v>
                </c:pt>
                <c:pt idx="5">
                  <c:v>0.43</c:v>
                </c:pt>
                <c:pt idx="6">
                  <c:v>0.39</c:v>
                </c:pt>
              </c:numCache>
            </c:numRef>
          </c:val>
          <c:smooth val="0"/>
        </c:ser>
        <c:dLbls>
          <c:numFmt formatCode="0.00" sourceLinked="0"/>
          <c:txPr>
            <a:bodyPr/>
            <a:lstStyle/>
            <a:p>
              <a:pPr>
                <a:defRPr b="0" i="0" strike="noStrike" sz="1200" u="none">
                  <a:solidFill>
                    <a:srgbClr val="2B2F38"/>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6C7A89"/>
                    </a:solidFill>
                    <a:latin typeface="+mn-lt"/>
                  </a:defRPr>
                </a:pPr>
                <a:r>
                  <a:rPr sz="1200" b="0" i="0" u="none" strike="noStrike">
                    <a:solidFill>
                      <a:srgbClr val="6C7A89"/>
                    </a:solidFill>
                    <a:latin typeface="+mn-lt"/>
                  </a:rPr>
                  <a:t>steering angle δ</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2F38"/>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1E4E8"/>
              </a:solidFill>
              <a:prstDash val="solid"/>
              <a:round/>
            </a:ln>
          </c:spPr>
        </c:majorGridlines>
        <c:title>
          <c:tx>
            <c:rich>
              <a:bodyPr/>
              <a:lstStyle/>
              <a:p>
                <a:pPr>
                  <a:defRPr sz="1200" b="0" i="0" u="none" strike="noStrike">
                    <a:solidFill>
                      <a:srgbClr val="6C7A89"/>
                    </a:solidFill>
                    <a:latin typeface="+mn-lt"/>
                  </a:defRPr>
                </a:pPr>
                <a:r>
                  <a:rPr sz="1200" b="0" i="0" u="none" strike="noStrike">
                    <a:solidFill>
                      <a:srgbClr val="6C7A89"/>
                    </a:solidFill>
                    <a:latin typeface="+mn-lt"/>
                  </a:rPr>
                  <a:t>m/s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B2F38"/>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you'll write the brain of a small autonomous race car: a single Python function that reads LiDAR and decides speed and steering. Everything runs in a simulator on your laptop, so crashes are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We start with the ideas, get everyone's simulator running, learn the one function you write, look at the classic RoboRacer algorithms, and then spend most of the time building and racing.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RoboRacer, previously known as F1TENTH, is an international autonomous racing community using one-tenth scale cars. The cars only use onboard sensors, mainly a 2D LiDAR plus odometry. The skills are the same ones used in full-size autonomous vehicles. Today we use the official AutoDRIVE simulator so nobody needs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racing? Because it gives autonomy a clear, measurable objective. On a normal road you can drive slowly and hide weaknesses. On a race track, latency, sensor noise and poor planning cost you time or end in a crash. Small cars and simulators make those failures cheap, and the skills carry straight over to full-size autonomous vehicles.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RoboRacer began in 2016 at the University of Pennsylvania as F1TENTH, a play on Formula 1 at one-tenth scale. It grew into an international community: universities teach its course and teams race at big robotics conferences such as ICRA and IROS. Since 2024 there has also been a simulated league on the AutoDRIVE digital twin, which is the same simulator we use today, from its ICRA 2026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RoboRacer rests on three pillars. Build: the car design is open source, so anyone can build one. Learn: there is a full course on the foundations of autonomy that universities can adopt. Race: competitions give everyone a shared, measurable goal. Today touches all three, in miniature.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what's inside the real car. On top: the LiDAR, which is the main sensor, and a Jetson computer running ROS 2. Underneath: the VESC electronic speed controller, which also measures wheel speed for odometry, the steering servo and the battery, all on a Traxxas RC chassis. The simulator models the same sensors and actuators, so code written today follows the same pattern as code for the real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races, like the one at ICRA 2026 in Vienna, usually start with a time trial: one car, fastest laps. Then cars race head to head, which adds overtaking and opponent awareness. The simulated league starts with qualification, proving you can lap reliably without touching the walls, then a time attack on a track nobody has seen before, so you can't hard-code the circuit. The motto is simple: drive fast, but don't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autonomous system follows sense, plan, act. The workshop runtime handles sense and act for you. Your job is the middle box: given the latest sensor snapshot, decide one speed and one steering angle. Then it happens again about 50 ms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Sense-plan-act expands into a pipeline. Sensors and actuators are handled by the workshop runtime. Today you write a simple perception, planning and control layer that only looks at the current scan. The fast teams also build a map of the track with SLAM, localize on it with a particle filter, and follow a precomputed raceline with Pure Pursuit or model predictive control. That's the natural next step after this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broad families of racing software. Reactive methods look only at the current scan, so they're simple and work on a brand-new track, but they can't plan ahead. Map-based methods first drive slowly to build a map, then plan an optimal raceline and track it at speed. Most winning teams use map-based stacks with a reactive fallback for safety. Today we stay reactive.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develop in simulation because it's safe, quick and fair. But a simulator is never perfect. Real LiDARs see strange returns from shiny or dark surfaces, real tyres slip, real computers add latency and real batteries sag. Robust code that slows down when unsure and doesn't trust a single ray is far more likely to survive the jump to a real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vocabulary check before we set up. You don't need to know ROS 2 or Docker to take part today; the launcher hides them. But you'll see these words in the logs and in RoboRacer material, so it helps to know what they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simulator runs natively on your machine. A ROS bridge container talks to it over Socket.IO on port 4567. The controller runtime container turns ROS messages into a simple Observation, calls your drive() function, and sends the resulting command back. Your code is mounted into the container, so editing and restarting is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Ideally computers were prepared before the session because the first start downloads the simulator and Docker image. On Apple silicon, Docker Desktop needs 'Use Rosetta for x86_64/amd64 emulation' because the API image is amd64 only. Once the simulator opens, click Connection, confirm 127.0.0.1:4567, then choose Autonomous. The starter controller deliberately keeps the car stopped.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only commands you need. Restart reloads your saved Python. The selected controller is remembered, so use '-Controller starter' (or '-c starter' on macOS) to get back to your own code after trying the example. Logs with follow is your best friend when something goes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entire interface. The runtime calls drive() about 20 times per second with the newest Observation. You return a DriveCommand. All distances are metres and all angles radians. The starter returns the default command, which is zero speed and zero steering.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LiDAR fires rays all around the car and reports the distance each ray travels. Ray i points at angle_min plus i times angle_increment. Zero means the reading was invalid or unknown, so never treat it as free space. A reading equal to range_max means the ray saw nothing, i.e. clear. The sector() helper returns all ranges between two angles; sector(-0.2, 0.2) is roughly the 23-degree cone straight ahead, shown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reference to keep open while coding. Note that speed_mps in the observation is the measured speed, while speed_mps in the command is the speed you request; the runtime converts it into simulator throttle. Pose is in simulator world coordinates, handy later for lap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are the rules your code must follow; breaking them stops the controller and the logs tell you why. On the right are the protections the runtime adds. They exist so a bug can't send the car off at full speed, but they are not full collision avoidance: your algorithm still has to drive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making the car fast, make it safe. Time to collision divides the distance along a ray by how quickly we approach along that ray. If any forward ray predicts a collision soon, or is unknown, return a stop command. At low speed TTC alone lets the car creep into a wall, so combine it with a minimum distance check, which is exercise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Wall following keeps a fixed distance from one wall. Two rays to the same wall let you compute the car's angle to the wall, alpha, and its current distance D. Because the car moves while you react, predict the distance a lookahead L ahead. The error between your target distance and that prediction drives a PD controller. Positive error means too close to the left wall, so steer right, hence the minus sign. Start with Kd = 0 and tune Kp until it tracks without oscillating.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examples/follow_the_gap.py does. Each bar is one LiDAR ray, its height the measured range. Close readings are blocked, and a bubble about the car's half-width is added around them so we don't clip corners. The longest run of free rays is the best gap, and we aim at its middle. The example uses exactly these numbers: plus or minus 80 degrees, 3 m cap, 1.2 m threshold, 0.25 m bubble. It's a teaching example, not a verified clean-lap solution, so try to improve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Pure Pursuit turns 'I want to go there' into a wheel angle. Pick a target at lookahead distance L and bearing alpha; the formula gives the steering angle whose circular arc passes through it. Short L reacts sharply but wobbles; long L is smooth but cuts corners. The example uses L = 1 m and the speed rule on the right: 0.8 m/s straight, about 0.4 m/s at full 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deliberately simple controller to get the car moving. It stops if anything is close or unknown ahead, otherwise it steers at the farthest visible point. It will work on gentle tracks and fail in interesting ways on sharp ones; that's the point. Paste it into controller.py, save, and run restart -Controller 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milestones are the workshop exercises from the README. Work through them in order; each one builds on the last. When comparing changes, write down the controller settings, completed laps and collisions so you can tell whether a change actually helped.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rhythm for the rest of the session. No rebuild is ever needed: save, restart, watch the logs, and reset the car when it gets stuck. When tuning, change one thing at a time and keep notes, otherwise you won't know which change helped.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problems you're most likely to hit. In almost every case the first step is the same: run the logs command and read the last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today hooked you, here's where to go next. The RoboRacer course goes deep on the full autonomy stack. The build documentation shows how to assemble a real car. The AutoDRIVE Sim Racing League lets you compete with no hardware at all. And you can keep working on this workshop's controller at home: the same setup works anywhere Docker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three ideas, then let people get going. Point them to the README for every command and to the example as a reference once they've tried their own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6949440" cy="17373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931920"/>
            <a:ext cx="6035040" cy="9144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926080"/>
            <a:ext cx="768096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4023360"/>
            <a:ext cx="7315200" cy="9144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382512"/>
            <a:ext cx="3657600" cy="274320"/>
          </a:xfrm>
          <a:prstGeom prst="rect">
            <a:avLst/>
          </a:prstGeom>
          <a:noFill/>
          <a:ln/>
        </p:spPr>
        <p:txBody>
          <a:bodyPr wrap="square" lIns="0" tIns="0" rIns="0" bIns="0" rtlCol="0" anchor="ctr"/>
          <a:lstStyle/>
          <a:p>
            <a:pPr indent="0" marL="0">
              <a:buNone/>
            </a:pPr>
            <a:r>
              <a:rPr lang="en-US" sz="1100" dirty="0">
                <a:solidFill>
                  <a:schemeClr val="accent4"/>
                </a:solidFill>
              </a:rPr>
              <a:t>RoboRacer Workshop</a:t>
            </a:r>
            <a:endParaRPr lang="en-US" sz="11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4.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4.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4.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slideLayout" Target="../slideLayouts/slideLayout4.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4.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4.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4.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2.xml"/><Relationship Id="rId5"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731520" y="1554480"/>
            <a:ext cx="4572000" cy="365760"/>
          </a:xfrm>
          <a:prstGeom prst="rect">
            <a:avLst/>
          </a:prstGeom>
          <a:noFill/>
          <a:ln/>
        </p:spPr>
        <p:txBody>
          <a:bodyPr wrap="square" lIns="0" tIns="0" rIns="0" bIns="0" rtlCol="0" anchor="t"/>
          <a:lstStyle/>
          <a:p>
            <a:pPr indent="0" marL="0">
              <a:buNone/>
            </a:pPr>
            <a:r>
              <a:rPr lang="en-US" sz="1400" b="1" spc="400" kern="0" dirty="0">
                <a:solidFill>
                  <a:schemeClr val="accent1"/>
                </a:solidFill>
              </a:rPr>
              <a:t>HANDS-ON WORKSHOP</a:t>
            </a:r>
            <a:endParaRPr lang="en-US" sz="1400" dirty="0"/>
          </a:p>
        </p:txBody>
      </p:sp>
      <p:sp>
        <p:nvSpPr>
          <p:cNvPr id="3" name="Text 0"/>
          <p:cNvSpPr/>
          <p:nvPr>
            <p:ph idx="100" type="title" hasCustomPrompt="1"/>
          </p:nvPr>
        </p:nvSpPr>
        <p:spPr>
          <a:xfrm>
            <a:off x="731520" y="2011680"/>
            <a:ext cx="6949440" cy="1737360"/>
          </a:xfrm>
          <a:prstGeom prst="rect">
            <a:avLst/>
          </a:prstGeom>
          <a:noFill/>
          <a:ln/>
        </p:spPr>
        <p:txBody>
          <a:bodyPr wrap="square" lIns="0" tIns="0" rIns="0" bIns="0" rtlCol="0" anchor="b"/>
          <a:lstStyle/>
          <a:p>
            <a:pPr algn="l" indent="0" marL="0">
              <a:buNone/>
            </a:pPr>
            <a:r>
              <a:rPr lang="en-US" sz="4800" b="1" dirty="0">
                <a:solidFill>
                  <a:schemeClr val="bg1"/>
                </a:solidFill>
              </a:rPr>
              <a:t>RoboRacer Autonomous Racing</a:t>
            </a:r>
            <a:endParaRPr lang="en-US" sz="4800" dirty="0"/>
          </a:p>
        </p:txBody>
      </p:sp>
      <p:sp>
        <p:nvSpPr>
          <p:cNvPr id="4" name="Text 0"/>
          <p:cNvSpPr/>
          <p:nvPr>
            <p:ph idx="101" type="body" hasCustomPrompt="1"/>
          </p:nvPr>
        </p:nvSpPr>
        <p:spPr>
          <a:xfrm>
            <a:off x="731520" y="3931920"/>
            <a:ext cx="6035040" cy="914400"/>
          </a:xfrm>
          <a:prstGeom prst="rect">
            <a:avLst/>
          </a:prstGeom>
          <a:noFill/>
          <a:ln/>
        </p:spPr>
        <p:txBody>
          <a:bodyPr wrap="square" lIns="0" tIns="0" rIns="0" bIns="0" rtlCol="0" anchor="t"/>
          <a:lstStyle/>
          <a:p>
            <a:pPr algn="l" indent="0" marL="0">
              <a:buNone/>
            </a:pPr>
            <a:r>
              <a:rPr lang="en-US" sz="2000" dirty="0">
                <a:solidFill>
                  <a:schemeClr val="bg2"/>
                </a:solidFill>
              </a:rPr>
              <a:t>Write a Python driving algorithm and race it in the AutoDRIVE simulator</a:t>
            </a:r>
            <a:endParaRPr lang="en-US" sz="2000" dirty="0"/>
          </a:p>
        </p:txBody>
      </p:sp>
      <p:sp>
        <p:nvSpPr>
          <p:cNvPr id="5" name="text-2"/>
          <p:cNvSpPr txBox="1"/>
          <p:nvPr/>
        </p:nvSpPr>
        <p:spPr>
          <a:xfrm>
            <a:off x="731520" y="5852160"/>
            <a:ext cx="5486400" cy="365760"/>
          </a:xfrm>
          <a:prstGeom prst="rect">
            <a:avLst/>
          </a:prstGeom>
          <a:noFill/>
          <a:ln/>
        </p:spPr>
        <p:txBody>
          <a:bodyPr wrap="square" lIns="0" tIns="0" rIns="0" bIns="0" rtlCol="0" anchor="t"/>
          <a:lstStyle/>
          <a:p>
            <a:pPr indent="0" marL="0">
              <a:buNone/>
            </a:pPr>
            <a:r>
              <a:rPr lang="en-US" sz="1400" dirty="0">
                <a:solidFill>
                  <a:schemeClr val="accent4"/>
                </a:solidFill>
              </a:rPr>
              <a:t>Windows  ·  macOS  ·  Docker  ·  Python</a:t>
            </a:r>
            <a:endParaRPr lang="en-US" sz="1400" dirty="0"/>
          </a:p>
        </p:txBody>
      </p:sp>
      <p:sp>
        <p:nvSpPr>
          <p:cNvPr id="6" name="line-3"/>
          <p:cNvSpPr/>
          <p:nvPr/>
        </p:nvSpPr>
        <p:spPr>
          <a:xfrm>
            <a:off x="7955280" y="1463040"/>
            <a:ext cx="0" cy="4846320"/>
          </a:xfrm>
          <a:prstGeom prst="line">
            <a:avLst/>
          </a:prstGeom>
          <a:noFill/>
          <a:ln w="38100">
            <a:solidFill>
              <a:srgbClr val="2B2F38"/>
            </a:solidFill>
            <a:prstDash val="solid"/>
          </a:ln>
        </p:spPr>
      </p:sp>
      <p:sp>
        <p:nvSpPr>
          <p:cNvPr id="7" name="line-4"/>
          <p:cNvSpPr/>
          <p:nvPr/>
        </p:nvSpPr>
        <p:spPr>
          <a:xfrm>
            <a:off x="11430000" y="1463040"/>
            <a:ext cx="0" cy="4846320"/>
          </a:xfrm>
          <a:prstGeom prst="line">
            <a:avLst/>
          </a:prstGeom>
          <a:noFill/>
          <a:ln w="38100">
            <a:solidFill>
              <a:srgbClr val="2B2F38"/>
            </a:solidFill>
            <a:prstDash val="solid"/>
          </a:ln>
        </p:spPr>
      </p:sp>
      <p:sp>
        <p:nvSpPr>
          <p:cNvPr id="8" name="line-5"/>
          <p:cNvSpPr/>
          <p:nvPr/>
        </p:nvSpPr>
        <p:spPr>
          <a:xfrm>
            <a:off x="9692640" y="4846320"/>
            <a:ext cx="1737360" cy="1003065"/>
          </a:xfrm>
          <a:prstGeom prst="line">
            <a:avLst/>
          </a:prstGeom>
          <a:noFill/>
          <a:ln w="12700">
            <a:solidFill>
              <a:srgbClr val="6C7A89">
                <a:alpha val="60000"/>
              </a:srgbClr>
            </a:solidFill>
            <a:prstDash val="solid"/>
          </a:ln>
        </p:spPr>
      </p:sp>
      <p:sp>
        <p:nvSpPr>
          <p:cNvPr id="9" name="dot-6"/>
          <p:cNvSpPr/>
          <p:nvPr/>
        </p:nvSpPr>
        <p:spPr>
          <a:xfrm>
            <a:off x="11388852" y="5808237"/>
            <a:ext cx="82296" cy="82296"/>
          </a:xfrm>
          <a:prstGeom prst="ellipse">
            <a:avLst/>
          </a:prstGeom>
          <a:solidFill>
            <a:schemeClr val="accent6"/>
          </a:solidFill>
          <a:ln/>
        </p:spPr>
      </p:sp>
      <p:sp>
        <p:nvSpPr>
          <p:cNvPr id="10" name="line-7"/>
          <p:cNvSpPr/>
          <p:nvPr/>
        </p:nvSpPr>
        <p:spPr>
          <a:xfrm>
            <a:off x="9692640" y="4846320"/>
            <a:ext cx="1737360" cy="701939"/>
          </a:xfrm>
          <a:prstGeom prst="line">
            <a:avLst/>
          </a:prstGeom>
          <a:noFill/>
          <a:ln w="12700">
            <a:solidFill>
              <a:srgbClr val="6C7A89">
                <a:alpha val="60000"/>
              </a:srgbClr>
            </a:solidFill>
            <a:prstDash val="solid"/>
          </a:ln>
        </p:spPr>
      </p:sp>
      <p:sp>
        <p:nvSpPr>
          <p:cNvPr id="11" name="dot-8"/>
          <p:cNvSpPr/>
          <p:nvPr/>
        </p:nvSpPr>
        <p:spPr>
          <a:xfrm>
            <a:off x="11388852" y="5507111"/>
            <a:ext cx="82296" cy="82296"/>
          </a:xfrm>
          <a:prstGeom prst="ellipse">
            <a:avLst/>
          </a:prstGeom>
          <a:solidFill>
            <a:schemeClr val="accent6"/>
          </a:solidFill>
          <a:ln/>
        </p:spPr>
      </p:sp>
      <p:sp>
        <p:nvSpPr>
          <p:cNvPr id="12" name="line-9"/>
          <p:cNvSpPr/>
          <p:nvPr/>
        </p:nvSpPr>
        <p:spPr>
          <a:xfrm>
            <a:off x="9692640" y="4846320"/>
            <a:ext cx="1737360" cy="433172"/>
          </a:xfrm>
          <a:prstGeom prst="line">
            <a:avLst/>
          </a:prstGeom>
          <a:noFill/>
          <a:ln w="12700">
            <a:solidFill>
              <a:srgbClr val="6C7A89">
                <a:alpha val="60000"/>
              </a:srgbClr>
            </a:solidFill>
            <a:prstDash val="solid"/>
          </a:ln>
        </p:spPr>
      </p:sp>
      <p:sp>
        <p:nvSpPr>
          <p:cNvPr id="13" name="dot-10"/>
          <p:cNvSpPr/>
          <p:nvPr/>
        </p:nvSpPr>
        <p:spPr>
          <a:xfrm>
            <a:off x="11388852" y="5238344"/>
            <a:ext cx="82296" cy="82296"/>
          </a:xfrm>
          <a:prstGeom prst="ellipse">
            <a:avLst/>
          </a:prstGeom>
          <a:solidFill>
            <a:schemeClr val="accent6"/>
          </a:solidFill>
          <a:ln/>
        </p:spPr>
      </p:sp>
      <p:sp>
        <p:nvSpPr>
          <p:cNvPr id="14" name="line-11"/>
          <p:cNvSpPr/>
          <p:nvPr/>
        </p:nvSpPr>
        <p:spPr>
          <a:xfrm>
            <a:off x="9692640" y="4846320"/>
            <a:ext cx="1737360" cy="182604"/>
          </a:xfrm>
          <a:prstGeom prst="line">
            <a:avLst/>
          </a:prstGeom>
          <a:noFill/>
          <a:ln w="12700">
            <a:solidFill>
              <a:srgbClr val="6C7A89">
                <a:alpha val="60000"/>
              </a:srgbClr>
            </a:solidFill>
            <a:prstDash val="solid"/>
          </a:ln>
        </p:spPr>
      </p:sp>
      <p:sp>
        <p:nvSpPr>
          <p:cNvPr id="15" name="dot-12"/>
          <p:cNvSpPr/>
          <p:nvPr/>
        </p:nvSpPr>
        <p:spPr>
          <a:xfrm>
            <a:off x="11388852" y="4987776"/>
            <a:ext cx="82296" cy="82296"/>
          </a:xfrm>
          <a:prstGeom prst="ellipse">
            <a:avLst/>
          </a:prstGeom>
          <a:solidFill>
            <a:schemeClr val="accent6"/>
          </a:solidFill>
          <a:ln/>
        </p:spPr>
      </p:sp>
      <p:sp>
        <p:nvSpPr>
          <p:cNvPr id="16" name="line-13"/>
          <p:cNvSpPr/>
          <p:nvPr/>
        </p:nvSpPr>
        <p:spPr>
          <a:xfrm flipV="1">
            <a:off x="9692640" y="4785650"/>
            <a:ext cx="1737360" cy="60670"/>
          </a:xfrm>
          <a:prstGeom prst="line">
            <a:avLst/>
          </a:prstGeom>
          <a:noFill/>
          <a:ln w="12700">
            <a:solidFill>
              <a:srgbClr val="6C7A89">
                <a:alpha val="60000"/>
              </a:srgbClr>
            </a:solidFill>
            <a:prstDash val="solid"/>
          </a:ln>
        </p:spPr>
      </p:sp>
      <p:sp>
        <p:nvSpPr>
          <p:cNvPr id="17" name="dot-14"/>
          <p:cNvSpPr/>
          <p:nvPr/>
        </p:nvSpPr>
        <p:spPr>
          <a:xfrm>
            <a:off x="11388852" y="4744502"/>
            <a:ext cx="82296" cy="82296"/>
          </a:xfrm>
          <a:prstGeom prst="ellipse">
            <a:avLst/>
          </a:prstGeom>
          <a:solidFill>
            <a:schemeClr val="accent6"/>
          </a:solidFill>
          <a:ln/>
        </p:spPr>
      </p:sp>
      <p:sp>
        <p:nvSpPr>
          <p:cNvPr id="18" name="line-15"/>
          <p:cNvSpPr/>
          <p:nvPr/>
        </p:nvSpPr>
        <p:spPr>
          <a:xfrm flipV="1">
            <a:off x="9692640" y="4539977"/>
            <a:ext cx="1737360" cy="306343"/>
          </a:xfrm>
          <a:prstGeom prst="line">
            <a:avLst/>
          </a:prstGeom>
          <a:noFill/>
          <a:ln w="12700">
            <a:solidFill>
              <a:srgbClr val="6C7A89">
                <a:alpha val="60000"/>
              </a:srgbClr>
            </a:solidFill>
            <a:prstDash val="solid"/>
          </a:ln>
        </p:spPr>
      </p:sp>
      <p:sp>
        <p:nvSpPr>
          <p:cNvPr id="19" name="dot-16"/>
          <p:cNvSpPr/>
          <p:nvPr/>
        </p:nvSpPr>
        <p:spPr>
          <a:xfrm>
            <a:off x="11388852" y="4498829"/>
            <a:ext cx="82296" cy="82296"/>
          </a:xfrm>
          <a:prstGeom prst="ellipse">
            <a:avLst/>
          </a:prstGeom>
          <a:solidFill>
            <a:schemeClr val="accent6"/>
          </a:solidFill>
          <a:ln/>
        </p:spPr>
      </p:sp>
      <p:sp>
        <p:nvSpPr>
          <p:cNvPr id="20" name="line-17"/>
          <p:cNvSpPr/>
          <p:nvPr/>
        </p:nvSpPr>
        <p:spPr>
          <a:xfrm flipV="1">
            <a:off x="9692640" y="4281818"/>
            <a:ext cx="1737360" cy="564502"/>
          </a:xfrm>
          <a:prstGeom prst="line">
            <a:avLst/>
          </a:prstGeom>
          <a:noFill/>
          <a:ln w="12700">
            <a:solidFill>
              <a:srgbClr val="6C7A89">
                <a:alpha val="60000"/>
              </a:srgbClr>
            </a:solidFill>
            <a:prstDash val="solid"/>
          </a:ln>
        </p:spPr>
      </p:sp>
      <p:sp>
        <p:nvSpPr>
          <p:cNvPr id="21" name="dot-18"/>
          <p:cNvSpPr/>
          <p:nvPr/>
        </p:nvSpPr>
        <p:spPr>
          <a:xfrm>
            <a:off x="11388852" y="4240670"/>
            <a:ext cx="82296" cy="82296"/>
          </a:xfrm>
          <a:prstGeom prst="ellipse">
            <a:avLst/>
          </a:prstGeom>
          <a:solidFill>
            <a:schemeClr val="accent6"/>
          </a:solidFill>
          <a:ln/>
        </p:spPr>
      </p:sp>
      <p:sp>
        <p:nvSpPr>
          <p:cNvPr id="22" name="line-19"/>
          <p:cNvSpPr/>
          <p:nvPr/>
        </p:nvSpPr>
        <p:spPr>
          <a:xfrm flipV="1">
            <a:off x="9692640" y="3998953"/>
            <a:ext cx="1737360" cy="847367"/>
          </a:xfrm>
          <a:prstGeom prst="line">
            <a:avLst/>
          </a:prstGeom>
          <a:noFill/>
          <a:ln w="12700">
            <a:solidFill>
              <a:srgbClr val="6C7A89">
                <a:alpha val="60000"/>
              </a:srgbClr>
            </a:solidFill>
            <a:prstDash val="solid"/>
          </a:ln>
        </p:spPr>
      </p:sp>
      <p:sp>
        <p:nvSpPr>
          <p:cNvPr id="23" name="dot-20"/>
          <p:cNvSpPr/>
          <p:nvPr/>
        </p:nvSpPr>
        <p:spPr>
          <a:xfrm>
            <a:off x="11388852" y="3957805"/>
            <a:ext cx="82296" cy="82296"/>
          </a:xfrm>
          <a:prstGeom prst="ellipse">
            <a:avLst/>
          </a:prstGeom>
          <a:solidFill>
            <a:schemeClr val="accent6"/>
          </a:solidFill>
          <a:ln/>
        </p:spPr>
      </p:sp>
      <p:sp>
        <p:nvSpPr>
          <p:cNvPr id="24" name="line-21"/>
          <p:cNvSpPr/>
          <p:nvPr/>
        </p:nvSpPr>
        <p:spPr>
          <a:xfrm flipV="1">
            <a:off x="9692640" y="3674456"/>
            <a:ext cx="1737360" cy="1171864"/>
          </a:xfrm>
          <a:prstGeom prst="line">
            <a:avLst/>
          </a:prstGeom>
          <a:noFill/>
          <a:ln w="12700">
            <a:solidFill>
              <a:srgbClr val="6C7A89">
                <a:alpha val="60000"/>
              </a:srgbClr>
            </a:solidFill>
            <a:prstDash val="solid"/>
          </a:ln>
        </p:spPr>
      </p:sp>
      <p:sp>
        <p:nvSpPr>
          <p:cNvPr id="25" name="dot-22"/>
          <p:cNvSpPr/>
          <p:nvPr/>
        </p:nvSpPr>
        <p:spPr>
          <a:xfrm>
            <a:off x="11388852" y="3633308"/>
            <a:ext cx="82296" cy="82296"/>
          </a:xfrm>
          <a:prstGeom prst="ellipse">
            <a:avLst/>
          </a:prstGeom>
          <a:solidFill>
            <a:schemeClr val="accent6"/>
          </a:solidFill>
          <a:ln/>
        </p:spPr>
      </p:sp>
      <p:sp>
        <p:nvSpPr>
          <p:cNvPr id="26" name="line-23"/>
          <p:cNvSpPr/>
          <p:nvPr/>
        </p:nvSpPr>
        <p:spPr>
          <a:xfrm flipV="1">
            <a:off x="9692640" y="3281994"/>
            <a:ext cx="1737360" cy="1564326"/>
          </a:xfrm>
          <a:prstGeom prst="line">
            <a:avLst/>
          </a:prstGeom>
          <a:noFill/>
          <a:ln w="12700">
            <a:solidFill>
              <a:srgbClr val="6C7A89">
                <a:alpha val="60000"/>
              </a:srgbClr>
            </a:solidFill>
            <a:prstDash val="solid"/>
          </a:ln>
        </p:spPr>
      </p:sp>
      <p:sp>
        <p:nvSpPr>
          <p:cNvPr id="27" name="dot-24"/>
          <p:cNvSpPr/>
          <p:nvPr/>
        </p:nvSpPr>
        <p:spPr>
          <a:xfrm>
            <a:off x="11388852" y="3240846"/>
            <a:ext cx="82296" cy="82296"/>
          </a:xfrm>
          <a:prstGeom prst="ellipse">
            <a:avLst/>
          </a:prstGeom>
          <a:solidFill>
            <a:schemeClr val="accent6"/>
          </a:solidFill>
          <a:ln/>
        </p:spPr>
      </p:sp>
      <p:sp>
        <p:nvSpPr>
          <p:cNvPr id="28" name="line-25"/>
          <p:cNvSpPr/>
          <p:nvPr/>
        </p:nvSpPr>
        <p:spPr>
          <a:xfrm flipV="1">
            <a:off x="9692640" y="2814954"/>
            <a:ext cx="1704518" cy="2031366"/>
          </a:xfrm>
          <a:prstGeom prst="line">
            <a:avLst/>
          </a:prstGeom>
          <a:noFill/>
          <a:ln w="12700">
            <a:solidFill>
              <a:srgbClr val="6C7A89">
                <a:alpha val="60000"/>
              </a:srgbClr>
            </a:solidFill>
            <a:prstDash val="solid"/>
          </a:ln>
        </p:spPr>
      </p:sp>
      <p:sp>
        <p:nvSpPr>
          <p:cNvPr id="29" name="dot-26"/>
          <p:cNvSpPr/>
          <p:nvPr/>
        </p:nvSpPr>
        <p:spPr>
          <a:xfrm>
            <a:off x="11356010" y="2773806"/>
            <a:ext cx="82296" cy="82296"/>
          </a:xfrm>
          <a:prstGeom prst="ellipse">
            <a:avLst/>
          </a:prstGeom>
          <a:solidFill>
            <a:schemeClr val="accent6"/>
          </a:solidFill>
          <a:ln/>
        </p:spPr>
      </p:sp>
      <p:sp>
        <p:nvSpPr>
          <p:cNvPr id="30" name="line-27"/>
          <p:cNvSpPr/>
          <p:nvPr/>
        </p:nvSpPr>
        <p:spPr>
          <a:xfrm flipV="1">
            <a:off x="9692640" y="2597500"/>
            <a:ext cx="1405219" cy="2248820"/>
          </a:xfrm>
          <a:prstGeom prst="line">
            <a:avLst/>
          </a:prstGeom>
          <a:noFill/>
          <a:ln w="12700">
            <a:solidFill>
              <a:srgbClr val="6C7A89">
                <a:alpha val="60000"/>
              </a:srgbClr>
            </a:solidFill>
            <a:prstDash val="solid"/>
          </a:ln>
        </p:spPr>
      </p:sp>
      <p:sp>
        <p:nvSpPr>
          <p:cNvPr id="31" name="dot-28"/>
          <p:cNvSpPr/>
          <p:nvPr/>
        </p:nvSpPr>
        <p:spPr>
          <a:xfrm>
            <a:off x="11056711" y="2556352"/>
            <a:ext cx="82296" cy="82296"/>
          </a:xfrm>
          <a:prstGeom prst="ellipse">
            <a:avLst/>
          </a:prstGeom>
          <a:solidFill>
            <a:schemeClr val="accent6"/>
          </a:solidFill>
          <a:ln/>
        </p:spPr>
      </p:sp>
      <p:sp>
        <p:nvSpPr>
          <p:cNvPr id="32" name="line-29"/>
          <p:cNvSpPr/>
          <p:nvPr/>
        </p:nvSpPr>
        <p:spPr>
          <a:xfrm flipV="1">
            <a:off x="9692640" y="2423817"/>
            <a:ext cx="1078568" cy="2422503"/>
          </a:xfrm>
          <a:prstGeom prst="line">
            <a:avLst/>
          </a:prstGeom>
          <a:noFill/>
          <a:ln w="12700">
            <a:solidFill>
              <a:srgbClr val="6C7A89">
                <a:alpha val="60000"/>
              </a:srgbClr>
            </a:solidFill>
            <a:prstDash val="solid"/>
          </a:ln>
        </p:spPr>
      </p:sp>
      <p:sp>
        <p:nvSpPr>
          <p:cNvPr id="33" name="dot-30"/>
          <p:cNvSpPr/>
          <p:nvPr/>
        </p:nvSpPr>
        <p:spPr>
          <a:xfrm>
            <a:off x="10730060" y="2382669"/>
            <a:ext cx="82296" cy="82296"/>
          </a:xfrm>
          <a:prstGeom prst="ellipse">
            <a:avLst/>
          </a:prstGeom>
          <a:solidFill>
            <a:schemeClr val="accent6"/>
          </a:solidFill>
          <a:ln/>
        </p:spPr>
      </p:sp>
      <p:sp>
        <p:nvSpPr>
          <p:cNvPr id="34" name="line-31"/>
          <p:cNvSpPr/>
          <p:nvPr/>
        </p:nvSpPr>
        <p:spPr>
          <a:xfrm flipV="1">
            <a:off x="9692640" y="2297285"/>
            <a:ext cx="730924" cy="2549035"/>
          </a:xfrm>
          <a:prstGeom prst="line">
            <a:avLst/>
          </a:prstGeom>
          <a:noFill/>
          <a:ln w="22225">
            <a:solidFill>
              <a:srgbClr val="E63946"/>
            </a:solidFill>
            <a:prstDash val="solid"/>
          </a:ln>
        </p:spPr>
      </p:sp>
      <p:sp>
        <p:nvSpPr>
          <p:cNvPr id="35" name="dot-32"/>
          <p:cNvSpPr/>
          <p:nvPr/>
        </p:nvSpPr>
        <p:spPr>
          <a:xfrm>
            <a:off x="10382416" y="2256137"/>
            <a:ext cx="82296" cy="82296"/>
          </a:xfrm>
          <a:prstGeom prst="ellipse">
            <a:avLst/>
          </a:prstGeom>
          <a:solidFill>
            <a:schemeClr val="accent1"/>
          </a:solidFill>
          <a:ln/>
        </p:spPr>
      </p:sp>
      <p:sp>
        <p:nvSpPr>
          <p:cNvPr id="36" name="line-33"/>
          <p:cNvSpPr/>
          <p:nvPr/>
        </p:nvSpPr>
        <p:spPr>
          <a:xfrm flipV="1">
            <a:off x="9692640" y="2220367"/>
            <a:ext cx="369054" cy="2625953"/>
          </a:xfrm>
          <a:prstGeom prst="line">
            <a:avLst/>
          </a:prstGeom>
          <a:noFill/>
          <a:ln w="22225">
            <a:solidFill>
              <a:srgbClr val="E63946"/>
            </a:solidFill>
            <a:prstDash val="solid"/>
          </a:ln>
        </p:spPr>
      </p:sp>
      <p:sp>
        <p:nvSpPr>
          <p:cNvPr id="37" name="dot-34"/>
          <p:cNvSpPr/>
          <p:nvPr/>
        </p:nvSpPr>
        <p:spPr>
          <a:xfrm>
            <a:off x="10020546" y="2179219"/>
            <a:ext cx="82296" cy="82296"/>
          </a:xfrm>
          <a:prstGeom prst="ellipse">
            <a:avLst/>
          </a:prstGeom>
          <a:solidFill>
            <a:schemeClr val="accent1"/>
          </a:solidFill>
          <a:ln/>
        </p:spPr>
      </p:sp>
      <p:sp>
        <p:nvSpPr>
          <p:cNvPr id="38" name="line-35"/>
          <p:cNvSpPr/>
          <p:nvPr/>
        </p:nvSpPr>
        <p:spPr>
          <a:xfrm>
            <a:off x="9692640" y="2194560"/>
            <a:ext cx="0" cy="2651760"/>
          </a:xfrm>
          <a:prstGeom prst="line">
            <a:avLst/>
          </a:prstGeom>
          <a:noFill/>
          <a:ln w="22225">
            <a:solidFill>
              <a:srgbClr val="E63946"/>
            </a:solidFill>
            <a:prstDash val="solid"/>
          </a:ln>
        </p:spPr>
      </p:sp>
      <p:sp>
        <p:nvSpPr>
          <p:cNvPr id="39" name="dot-36"/>
          <p:cNvSpPr/>
          <p:nvPr/>
        </p:nvSpPr>
        <p:spPr>
          <a:xfrm>
            <a:off x="9651492" y="2153412"/>
            <a:ext cx="82296" cy="82296"/>
          </a:xfrm>
          <a:prstGeom prst="ellipse">
            <a:avLst/>
          </a:prstGeom>
          <a:solidFill>
            <a:schemeClr val="accent1"/>
          </a:solidFill>
          <a:ln/>
        </p:spPr>
      </p:sp>
      <p:sp>
        <p:nvSpPr>
          <p:cNvPr id="40" name="line-37"/>
          <p:cNvSpPr/>
          <p:nvPr/>
        </p:nvSpPr>
        <p:spPr>
          <a:xfrm>
            <a:off x="9323586" y="2220367"/>
            <a:ext cx="369054" cy="2625953"/>
          </a:xfrm>
          <a:prstGeom prst="line">
            <a:avLst/>
          </a:prstGeom>
          <a:noFill/>
          <a:ln w="22225">
            <a:solidFill>
              <a:srgbClr val="E63946"/>
            </a:solidFill>
            <a:prstDash val="solid"/>
          </a:ln>
        </p:spPr>
      </p:sp>
      <p:sp>
        <p:nvSpPr>
          <p:cNvPr id="41" name="dot-38"/>
          <p:cNvSpPr/>
          <p:nvPr/>
        </p:nvSpPr>
        <p:spPr>
          <a:xfrm>
            <a:off x="9282438" y="2179219"/>
            <a:ext cx="82296" cy="82296"/>
          </a:xfrm>
          <a:prstGeom prst="ellipse">
            <a:avLst/>
          </a:prstGeom>
          <a:solidFill>
            <a:schemeClr val="accent1"/>
          </a:solidFill>
          <a:ln/>
        </p:spPr>
      </p:sp>
      <p:sp>
        <p:nvSpPr>
          <p:cNvPr id="42" name="line-39"/>
          <p:cNvSpPr/>
          <p:nvPr/>
        </p:nvSpPr>
        <p:spPr>
          <a:xfrm>
            <a:off x="8961716" y="2297285"/>
            <a:ext cx="730924" cy="2549035"/>
          </a:xfrm>
          <a:prstGeom prst="line">
            <a:avLst/>
          </a:prstGeom>
          <a:noFill/>
          <a:ln w="22225">
            <a:solidFill>
              <a:srgbClr val="E63946"/>
            </a:solidFill>
            <a:prstDash val="solid"/>
          </a:ln>
        </p:spPr>
      </p:sp>
      <p:sp>
        <p:nvSpPr>
          <p:cNvPr id="43" name="dot-40"/>
          <p:cNvSpPr/>
          <p:nvPr/>
        </p:nvSpPr>
        <p:spPr>
          <a:xfrm>
            <a:off x="8920568" y="2256137"/>
            <a:ext cx="82296" cy="82296"/>
          </a:xfrm>
          <a:prstGeom prst="ellipse">
            <a:avLst/>
          </a:prstGeom>
          <a:solidFill>
            <a:schemeClr val="accent1"/>
          </a:solidFill>
          <a:ln/>
        </p:spPr>
      </p:sp>
      <p:sp>
        <p:nvSpPr>
          <p:cNvPr id="44" name="line-41"/>
          <p:cNvSpPr/>
          <p:nvPr/>
        </p:nvSpPr>
        <p:spPr>
          <a:xfrm>
            <a:off x="8614072" y="2423817"/>
            <a:ext cx="1078568" cy="2422503"/>
          </a:xfrm>
          <a:prstGeom prst="line">
            <a:avLst/>
          </a:prstGeom>
          <a:noFill/>
          <a:ln w="12700">
            <a:solidFill>
              <a:srgbClr val="6C7A89">
                <a:alpha val="60000"/>
              </a:srgbClr>
            </a:solidFill>
            <a:prstDash val="solid"/>
          </a:ln>
        </p:spPr>
      </p:sp>
      <p:sp>
        <p:nvSpPr>
          <p:cNvPr id="45" name="dot-42"/>
          <p:cNvSpPr/>
          <p:nvPr/>
        </p:nvSpPr>
        <p:spPr>
          <a:xfrm>
            <a:off x="8572924" y="2382669"/>
            <a:ext cx="82296" cy="82296"/>
          </a:xfrm>
          <a:prstGeom prst="ellipse">
            <a:avLst/>
          </a:prstGeom>
          <a:solidFill>
            <a:schemeClr val="accent6"/>
          </a:solidFill>
          <a:ln/>
        </p:spPr>
      </p:sp>
      <p:sp>
        <p:nvSpPr>
          <p:cNvPr id="46" name="line-43"/>
          <p:cNvSpPr/>
          <p:nvPr/>
        </p:nvSpPr>
        <p:spPr>
          <a:xfrm>
            <a:off x="8287421" y="2597500"/>
            <a:ext cx="1405219" cy="2248820"/>
          </a:xfrm>
          <a:prstGeom prst="line">
            <a:avLst/>
          </a:prstGeom>
          <a:noFill/>
          <a:ln w="12700">
            <a:solidFill>
              <a:srgbClr val="6C7A89">
                <a:alpha val="60000"/>
              </a:srgbClr>
            </a:solidFill>
            <a:prstDash val="solid"/>
          </a:ln>
        </p:spPr>
      </p:sp>
      <p:sp>
        <p:nvSpPr>
          <p:cNvPr id="47" name="dot-44"/>
          <p:cNvSpPr/>
          <p:nvPr/>
        </p:nvSpPr>
        <p:spPr>
          <a:xfrm>
            <a:off x="8246273" y="2556352"/>
            <a:ext cx="82296" cy="82296"/>
          </a:xfrm>
          <a:prstGeom prst="ellipse">
            <a:avLst/>
          </a:prstGeom>
          <a:solidFill>
            <a:schemeClr val="accent6"/>
          </a:solidFill>
          <a:ln/>
        </p:spPr>
      </p:sp>
      <p:sp>
        <p:nvSpPr>
          <p:cNvPr id="48" name="line-45"/>
          <p:cNvSpPr/>
          <p:nvPr/>
        </p:nvSpPr>
        <p:spPr>
          <a:xfrm>
            <a:off x="7988122" y="2814954"/>
            <a:ext cx="1704518" cy="2031366"/>
          </a:xfrm>
          <a:prstGeom prst="line">
            <a:avLst/>
          </a:prstGeom>
          <a:noFill/>
          <a:ln w="12700">
            <a:solidFill>
              <a:srgbClr val="6C7A89">
                <a:alpha val="60000"/>
              </a:srgbClr>
            </a:solidFill>
            <a:prstDash val="solid"/>
          </a:ln>
        </p:spPr>
      </p:sp>
      <p:sp>
        <p:nvSpPr>
          <p:cNvPr id="49" name="dot-46"/>
          <p:cNvSpPr/>
          <p:nvPr/>
        </p:nvSpPr>
        <p:spPr>
          <a:xfrm>
            <a:off x="7946974" y="2773806"/>
            <a:ext cx="82296" cy="82296"/>
          </a:xfrm>
          <a:prstGeom prst="ellipse">
            <a:avLst/>
          </a:prstGeom>
          <a:solidFill>
            <a:schemeClr val="accent6"/>
          </a:solidFill>
          <a:ln/>
        </p:spPr>
      </p:sp>
      <p:sp>
        <p:nvSpPr>
          <p:cNvPr id="50" name="line-47"/>
          <p:cNvSpPr/>
          <p:nvPr/>
        </p:nvSpPr>
        <p:spPr>
          <a:xfrm>
            <a:off x="7955280" y="3281994"/>
            <a:ext cx="1737360" cy="1564326"/>
          </a:xfrm>
          <a:prstGeom prst="line">
            <a:avLst/>
          </a:prstGeom>
          <a:noFill/>
          <a:ln w="12700">
            <a:solidFill>
              <a:srgbClr val="6C7A89">
                <a:alpha val="60000"/>
              </a:srgbClr>
            </a:solidFill>
            <a:prstDash val="solid"/>
          </a:ln>
        </p:spPr>
      </p:sp>
      <p:sp>
        <p:nvSpPr>
          <p:cNvPr id="51" name="dot-48"/>
          <p:cNvSpPr/>
          <p:nvPr/>
        </p:nvSpPr>
        <p:spPr>
          <a:xfrm>
            <a:off x="7914132" y="3240846"/>
            <a:ext cx="82296" cy="82296"/>
          </a:xfrm>
          <a:prstGeom prst="ellipse">
            <a:avLst/>
          </a:prstGeom>
          <a:solidFill>
            <a:schemeClr val="accent6"/>
          </a:solidFill>
          <a:ln/>
        </p:spPr>
      </p:sp>
      <p:sp>
        <p:nvSpPr>
          <p:cNvPr id="52" name="line-49"/>
          <p:cNvSpPr/>
          <p:nvPr/>
        </p:nvSpPr>
        <p:spPr>
          <a:xfrm>
            <a:off x="7955280" y="3674456"/>
            <a:ext cx="1737360" cy="1171864"/>
          </a:xfrm>
          <a:prstGeom prst="line">
            <a:avLst/>
          </a:prstGeom>
          <a:noFill/>
          <a:ln w="12700">
            <a:solidFill>
              <a:srgbClr val="6C7A89">
                <a:alpha val="60000"/>
              </a:srgbClr>
            </a:solidFill>
            <a:prstDash val="solid"/>
          </a:ln>
        </p:spPr>
      </p:sp>
      <p:sp>
        <p:nvSpPr>
          <p:cNvPr id="53" name="dot-50"/>
          <p:cNvSpPr/>
          <p:nvPr/>
        </p:nvSpPr>
        <p:spPr>
          <a:xfrm>
            <a:off x="7914132" y="3633308"/>
            <a:ext cx="82296" cy="82296"/>
          </a:xfrm>
          <a:prstGeom prst="ellipse">
            <a:avLst/>
          </a:prstGeom>
          <a:solidFill>
            <a:schemeClr val="accent6"/>
          </a:solidFill>
          <a:ln/>
        </p:spPr>
      </p:sp>
      <p:sp>
        <p:nvSpPr>
          <p:cNvPr id="54" name="line-51"/>
          <p:cNvSpPr/>
          <p:nvPr/>
        </p:nvSpPr>
        <p:spPr>
          <a:xfrm>
            <a:off x="7955280" y="3998953"/>
            <a:ext cx="1737360" cy="847367"/>
          </a:xfrm>
          <a:prstGeom prst="line">
            <a:avLst/>
          </a:prstGeom>
          <a:noFill/>
          <a:ln w="12700">
            <a:solidFill>
              <a:srgbClr val="6C7A89">
                <a:alpha val="60000"/>
              </a:srgbClr>
            </a:solidFill>
            <a:prstDash val="solid"/>
          </a:ln>
        </p:spPr>
      </p:sp>
      <p:sp>
        <p:nvSpPr>
          <p:cNvPr id="55" name="dot-52"/>
          <p:cNvSpPr/>
          <p:nvPr/>
        </p:nvSpPr>
        <p:spPr>
          <a:xfrm>
            <a:off x="7914132" y="3957805"/>
            <a:ext cx="82296" cy="82296"/>
          </a:xfrm>
          <a:prstGeom prst="ellipse">
            <a:avLst/>
          </a:prstGeom>
          <a:solidFill>
            <a:schemeClr val="accent6"/>
          </a:solidFill>
          <a:ln/>
        </p:spPr>
      </p:sp>
      <p:sp>
        <p:nvSpPr>
          <p:cNvPr id="56" name="line-53"/>
          <p:cNvSpPr/>
          <p:nvPr/>
        </p:nvSpPr>
        <p:spPr>
          <a:xfrm>
            <a:off x="7955280" y="4281818"/>
            <a:ext cx="1737360" cy="564502"/>
          </a:xfrm>
          <a:prstGeom prst="line">
            <a:avLst/>
          </a:prstGeom>
          <a:noFill/>
          <a:ln w="12700">
            <a:solidFill>
              <a:srgbClr val="6C7A89">
                <a:alpha val="60000"/>
              </a:srgbClr>
            </a:solidFill>
            <a:prstDash val="solid"/>
          </a:ln>
        </p:spPr>
      </p:sp>
      <p:sp>
        <p:nvSpPr>
          <p:cNvPr id="57" name="dot-54"/>
          <p:cNvSpPr/>
          <p:nvPr/>
        </p:nvSpPr>
        <p:spPr>
          <a:xfrm>
            <a:off x="7914132" y="4240670"/>
            <a:ext cx="82296" cy="82296"/>
          </a:xfrm>
          <a:prstGeom prst="ellipse">
            <a:avLst/>
          </a:prstGeom>
          <a:solidFill>
            <a:schemeClr val="accent6"/>
          </a:solidFill>
          <a:ln/>
        </p:spPr>
      </p:sp>
      <p:sp>
        <p:nvSpPr>
          <p:cNvPr id="58" name="line-55"/>
          <p:cNvSpPr/>
          <p:nvPr/>
        </p:nvSpPr>
        <p:spPr>
          <a:xfrm>
            <a:off x="7955280" y="4539977"/>
            <a:ext cx="1737360" cy="306343"/>
          </a:xfrm>
          <a:prstGeom prst="line">
            <a:avLst/>
          </a:prstGeom>
          <a:noFill/>
          <a:ln w="12700">
            <a:solidFill>
              <a:srgbClr val="6C7A89">
                <a:alpha val="60000"/>
              </a:srgbClr>
            </a:solidFill>
            <a:prstDash val="solid"/>
          </a:ln>
        </p:spPr>
      </p:sp>
      <p:sp>
        <p:nvSpPr>
          <p:cNvPr id="59" name="dot-56"/>
          <p:cNvSpPr/>
          <p:nvPr/>
        </p:nvSpPr>
        <p:spPr>
          <a:xfrm>
            <a:off x="7914132" y="4498829"/>
            <a:ext cx="82296" cy="82296"/>
          </a:xfrm>
          <a:prstGeom prst="ellipse">
            <a:avLst/>
          </a:prstGeom>
          <a:solidFill>
            <a:schemeClr val="accent6"/>
          </a:solidFill>
          <a:ln/>
        </p:spPr>
      </p:sp>
      <p:sp>
        <p:nvSpPr>
          <p:cNvPr id="60" name="line-57"/>
          <p:cNvSpPr/>
          <p:nvPr/>
        </p:nvSpPr>
        <p:spPr>
          <a:xfrm>
            <a:off x="7955280" y="4785650"/>
            <a:ext cx="1737360" cy="60670"/>
          </a:xfrm>
          <a:prstGeom prst="line">
            <a:avLst/>
          </a:prstGeom>
          <a:noFill/>
          <a:ln w="12700">
            <a:solidFill>
              <a:srgbClr val="6C7A89">
                <a:alpha val="60000"/>
              </a:srgbClr>
            </a:solidFill>
            <a:prstDash val="solid"/>
          </a:ln>
        </p:spPr>
      </p:sp>
      <p:sp>
        <p:nvSpPr>
          <p:cNvPr id="61" name="dot-58"/>
          <p:cNvSpPr/>
          <p:nvPr/>
        </p:nvSpPr>
        <p:spPr>
          <a:xfrm>
            <a:off x="7914132" y="4744502"/>
            <a:ext cx="82296" cy="82296"/>
          </a:xfrm>
          <a:prstGeom prst="ellipse">
            <a:avLst/>
          </a:prstGeom>
          <a:solidFill>
            <a:schemeClr val="accent6"/>
          </a:solidFill>
          <a:ln/>
        </p:spPr>
      </p:sp>
      <p:sp>
        <p:nvSpPr>
          <p:cNvPr id="62" name="line-59"/>
          <p:cNvSpPr/>
          <p:nvPr/>
        </p:nvSpPr>
        <p:spPr>
          <a:xfrm flipV="1">
            <a:off x="7955280" y="4846320"/>
            <a:ext cx="1737360" cy="182604"/>
          </a:xfrm>
          <a:prstGeom prst="line">
            <a:avLst/>
          </a:prstGeom>
          <a:noFill/>
          <a:ln w="12700">
            <a:solidFill>
              <a:srgbClr val="6C7A89">
                <a:alpha val="60000"/>
              </a:srgbClr>
            </a:solidFill>
            <a:prstDash val="solid"/>
          </a:ln>
        </p:spPr>
      </p:sp>
      <p:sp>
        <p:nvSpPr>
          <p:cNvPr id="63" name="dot-60"/>
          <p:cNvSpPr/>
          <p:nvPr/>
        </p:nvSpPr>
        <p:spPr>
          <a:xfrm>
            <a:off x="7914132" y="4987776"/>
            <a:ext cx="82296" cy="82296"/>
          </a:xfrm>
          <a:prstGeom prst="ellipse">
            <a:avLst/>
          </a:prstGeom>
          <a:solidFill>
            <a:schemeClr val="accent6"/>
          </a:solidFill>
          <a:ln/>
        </p:spPr>
      </p:sp>
      <p:sp>
        <p:nvSpPr>
          <p:cNvPr id="64" name="line-61"/>
          <p:cNvSpPr/>
          <p:nvPr/>
        </p:nvSpPr>
        <p:spPr>
          <a:xfrm flipV="1">
            <a:off x="7955280" y="4846320"/>
            <a:ext cx="1737360" cy="433172"/>
          </a:xfrm>
          <a:prstGeom prst="line">
            <a:avLst/>
          </a:prstGeom>
          <a:noFill/>
          <a:ln w="12700">
            <a:solidFill>
              <a:srgbClr val="6C7A89">
                <a:alpha val="60000"/>
              </a:srgbClr>
            </a:solidFill>
            <a:prstDash val="solid"/>
          </a:ln>
        </p:spPr>
      </p:sp>
      <p:sp>
        <p:nvSpPr>
          <p:cNvPr id="65" name="dot-62"/>
          <p:cNvSpPr/>
          <p:nvPr/>
        </p:nvSpPr>
        <p:spPr>
          <a:xfrm>
            <a:off x="7914132" y="5238344"/>
            <a:ext cx="82296" cy="82296"/>
          </a:xfrm>
          <a:prstGeom prst="ellipse">
            <a:avLst/>
          </a:prstGeom>
          <a:solidFill>
            <a:schemeClr val="accent6"/>
          </a:solidFill>
          <a:ln/>
        </p:spPr>
      </p:sp>
      <p:sp>
        <p:nvSpPr>
          <p:cNvPr id="66" name="line-63"/>
          <p:cNvSpPr/>
          <p:nvPr/>
        </p:nvSpPr>
        <p:spPr>
          <a:xfrm flipV="1">
            <a:off x="7955280" y="4846320"/>
            <a:ext cx="1737360" cy="701939"/>
          </a:xfrm>
          <a:prstGeom prst="line">
            <a:avLst/>
          </a:prstGeom>
          <a:noFill/>
          <a:ln w="12700">
            <a:solidFill>
              <a:srgbClr val="6C7A89">
                <a:alpha val="60000"/>
              </a:srgbClr>
            </a:solidFill>
            <a:prstDash val="solid"/>
          </a:ln>
        </p:spPr>
      </p:sp>
      <p:sp>
        <p:nvSpPr>
          <p:cNvPr id="67" name="dot-64"/>
          <p:cNvSpPr/>
          <p:nvPr/>
        </p:nvSpPr>
        <p:spPr>
          <a:xfrm>
            <a:off x="7914132" y="5507111"/>
            <a:ext cx="82296" cy="82296"/>
          </a:xfrm>
          <a:prstGeom prst="ellipse">
            <a:avLst/>
          </a:prstGeom>
          <a:solidFill>
            <a:schemeClr val="accent6"/>
          </a:solidFill>
          <a:ln/>
        </p:spPr>
      </p:sp>
      <p:sp>
        <p:nvSpPr>
          <p:cNvPr id="68" name="line-65"/>
          <p:cNvSpPr/>
          <p:nvPr/>
        </p:nvSpPr>
        <p:spPr>
          <a:xfrm flipV="1">
            <a:off x="7955280" y="4846320"/>
            <a:ext cx="1737360" cy="1003065"/>
          </a:xfrm>
          <a:prstGeom prst="line">
            <a:avLst/>
          </a:prstGeom>
          <a:noFill/>
          <a:ln w="12700">
            <a:solidFill>
              <a:srgbClr val="6C7A89">
                <a:alpha val="60000"/>
              </a:srgbClr>
            </a:solidFill>
            <a:prstDash val="solid"/>
          </a:ln>
        </p:spPr>
      </p:sp>
      <p:sp>
        <p:nvSpPr>
          <p:cNvPr id="69" name="dot-66"/>
          <p:cNvSpPr/>
          <p:nvPr/>
        </p:nvSpPr>
        <p:spPr>
          <a:xfrm>
            <a:off x="7914132" y="5808237"/>
            <a:ext cx="82296" cy="82296"/>
          </a:xfrm>
          <a:prstGeom prst="ellipse">
            <a:avLst/>
          </a:prstGeom>
          <a:solidFill>
            <a:schemeClr val="accent6"/>
          </a:solidFill>
          <a:ln/>
        </p:spPr>
      </p:sp>
      <p:sp>
        <p:nvSpPr>
          <p:cNvPr id="70" name="car"/>
          <p:cNvSpPr/>
          <p:nvPr/>
        </p:nvSpPr>
        <p:spPr>
          <a:xfrm>
            <a:off x="9473184" y="4480560"/>
            <a:ext cx="438912" cy="731520"/>
          </a:xfrm>
          <a:prstGeom prst="roundRect">
            <a:avLst>
              <a:gd name="adj" fmla="val 20833"/>
            </a:avLst>
          </a:prstGeom>
          <a:solidFill>
            <a:schemeClr val="accent1"/>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Today's race plan</a:t>
            </a:r>
            <a:endParaRPr lang="en-US" sz="3600" dirty="0"/>
          </a:p>
        </p:txBody>
      </p:sp>
      <p:sp>
        <p:nvSpPr>
          <p:cNvPr id="3" name="card-67"/>
          <p:cNvSpPr/>
          <p:nvPr/>
        </p:nvSpPr>
        <p:spPr>
          <a:xfrm>
            <a:off x="548640" y="1645920"/>
            <a:ext cx="1998878" cy="3840480"/>
          </a:xfrm>
          <a:prstGeom prst="roundRect">
            <a:avLst>
              <a:gd name="adj" fmla="val 3660"/>
            </a:avLst>
          </a:prstGeom>
          <a:solidFill>
            <a:schemeClr val="bg1"/>
          </a:solidFill>
          <a:ln/>
          <a:effectLst>
            <a:outerShdw sx="100000" sy="100000" kx="0" ky="0" algn="bl" rotWithShape="0" blurRad="101600" dist="25400" dir="5400000">
              <a:srgbClr val="000000">
                <a:alpha val="12000"/>
              </a:srgbClr>
            </a:outerShdw>
          </a:effectLst>
        </p:spPr>
      </p:sp>
      <p:sp>
        <p:nvSpPr>
          <p:cNvPr id="4" name="icon-circle-68"/>
          <p:cNvSpPr/>
          <p:nvPr/>
        </p:nvSpPr>
        <p:spPr>
          <a:xfrm>
            <a:off x="822960" y="1965960"/>
            <a:ext cx="777240" cy="777240"/>
          </a:xfrm>
          <a:prstGeom prst="ellipse">
            <a:avLst/>
          </a:prstGeom>
          <a:solidFill>
            <a:schemeClr val="accent1"/>
          </a:solidFill>
          <a:ln/>
        </p:spPr>
      </p:sp>
      <p:pic>
        <p:nvPicPr>
          <p:cNvPr id="5" name="icon-69" descr="preencoded.png">    </p:cNvPr>
          <p:cNvPicPr>
            <a:picLocks noChangeAspect="1"/>
          </p:cNvPicPr>
          <p:nvPr/>
        </p:nvPicPr>
        <p:blipFill>
          <a:blip r:embed="rId1"/>
          <a:stretch>
            <a:fillRect/>
          </a:stretch>
        </p:blipFill>
        <p:spPr>
          <a:xfrm>
            <a:off x="1017270" y="2160270"/>
            <a:ext cx="388620" cy="388620"/>
          </a:xfrm>
          <a:prstGeom prst="rect">
            <a:avLst/>
          </a:prstGeom>
        </p:spPr>
      </p:pic>
      <p:sp>
        <p:nvSpPr>
          <p:cNvPr id="6" name="text-70"/>
          <p:cNvSpPr txBox="1"/>
          <p:nvPr/>
        </p:nvSpPr>
        <p:spPr>
          <a:xfrm>
            <a:off x="822960" y="2971800"/>
            <a:ext cx="1450238" cy="320040"/>
          </a:xfrm>
          <a:prstGeom prst="rect">
            <a:avLst/>
          </a:prstGeom>
          <a:noFill/>
          <a:ln/>
        </p:spPr>
        <p:txBody>
          <a:bodyPr wrap="square" lIns="0" tIns="0" rIns="0" bIns="0" rtlCol="0" anchor="t"/>
          <a:lstStyle/>
          <a:p>
            <a:pPr indent="0" marL="0">
              <a:buNone/>
            </a:pPr>
            <a:r>
              <a:rPr lang="en-US" sz="1400" b="1" dirty="0">
                <a:solidFill>
                  <a:schemeClr val="accent1"/>
                </a:solidFill>
              </a:rPr>
              <a:t>01</a:t>
            </a:r>
            <a:endParaRPr lang="en-US" sz="1400" dirty="0"/>
          </a:p>
        </p:txBody>
      </p:sp>
      <p:sp>
        <p:nvSpPr>
          <p:cNvPr id="7" name="text-71"/>
          <p:cNvSpPr txBox="1"/>
          <p:nvPr/>
        </p:nvSpPr>
        <p:spPr>
          <a:xfrm>
            <a:off x="822960" y="3337560"/>
            <a:ext cx="1450238" cy="6858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Meet RoboRacer</a:t>
            </a:r>
            <a:endParaRPr lang="en-US" sz="2000" dirty="0"/>
          </a:p>
        </p:txBody>
      </p:sp>
      <p:sp>
        <p:nvSpPr>
          <p:cNvPr id="8" name="text-72"/>
          <p:cNvSpPr txBox="1"/>
          <p:nvPr/>
        </p:nvSpPr>
        <p:spPr>
          <a:xfrm>
            <a:off x="822960" y="4069080"/>
            <a:ext cx="1450238" cy="1280160"/>
          </a:xfrm>
          <a:prstGeom prst="rect">
            <a:avLst/>
          </a:prstGeom>
          <a:noFill/>
          <a:ln/>
        </p:spPr>
        <p:txBody>
          <a:bodyPr wrap="square" lIns="0" tIns="0" rIns="0" bIns="0" rtlCol="0" anchor="t"/>
          <a:lstStyle/>
          <a:p>
            <a:pPr indent="0" marL="0">
              <a:buNone/>
            </a:pPr>
            <a:r>
              <a:rPr lang="en-US" sz="1500" dirty="0">
                <a:solidFill>
                  <a:schemeClr val="tx2"/>
                </a:solidFill>
              </a:rPr>
              <a:t>History, the car, how races work and how the software thinks</a:t>
            </a:r>
            <a:endParaRPr lang="en-US" sz="1500" dirty="0"/>
          </a:p>
        </p:txBody>
      </p:sp>
      <p:sp>
        <p:nvSpPr>
          <p:cNvPr id="9" name="card-73"/>
          <p:cNvSpPr/>
          <p:nvPr/>
        </p:nvSpPr>
        <p:spPr>
          <a:xfrm>
            <a:off x="2821838" y="1645920"/>
            <a:ext cx="1998878" cy="3840480"/>
          </a:xfrm>
          <a:prstGeom prst="roundRect">
            <a:avLst>
              <a:gd name="adj" fmla="val 3660"/>
            </a:avLst>
          </a:prstGeom>
          <a:solidFill>
            <a:schemeClr val="bg1"/>
          </a:solidFill>
          <a:ln/>
          <a:effectLst>
            <a:outerShdw sx="100000" sy="100000" kx="0" ky="0" algn="bl" rotWithShape="0" blurRad="101600" dist="25400" dir="5400000">
              <a:srgbClr val="000000">
                <a:alpha val="12000"/>
              </a:srgbClr>
            </a:outerShdw>
          </a:effectLst>
        </p:spPr>
      </p:sp>
      <p:sp>
        <p:nvSpPr>
          <p:cNvPr id="10" name="icon-circle-74"/>
          <p:cNvSpPr/>
          <p:nvPr/>
        </p:nvSpPr>
        <p:spPr>
          <a:xfrm>
            <a:off x="3096158" y="1965960"/>
            <a:ext cx="777240" cy="777240"/>
          </a:xfrm>
          <a:prstGeom prst="ellipse">
            <a:avLst/>
          </a:prstGeom>
          <a:solidFill>
            <a:schemeClr val="accent1"/>
          </a:solidFill>
          <a:ln/>
        </p:spPr>
      </p:sp>
      <p:pic>
        <p:nvPicPr>
          <p:cNvPr id="11" name="icon-75" descr="preencoded.png">    </p:cNvPr>
          <p:cNvPicPr>
            <a:picLocks noChangeAspect="1"/>
          </p:cNvPicPr>
          <p:nvPr/>
        </p:nvPicPr>
        <p:blipFill>
          <a:blip r:embed="rId2"/>
          <a:stretch>
            <a:fillRect/>
          </a:stretch>
        </p:blipFill>
        <p:spPr>
          <a:xfrm>
            <a:off x="3290468" y="2160270"/>
            <a:ext cx="388620" cy="388620"/>
          </a:xfrm>
          <a:prstGeom prst="rect">
            <a:avLst/>
          </a:prstGeom>
        </p:spPr>
      </p:pic>
      <p:sp>
        <p:nvSpPr>
          <p:cNvPr id="12" name="text-76"/>
          <p:cNvSpPr txBox="1"/>
          <p:nvPr/>
        </p:nvSpPr>
        <p:spPr>
          <a:xfrm>
            <a:off x="3096158" y="2971800"/>
            <a:ext cx="1450238" cy="320040"/>
          </a:xfrm>
          <a:prstGeom prst="rect">
            <a:avLst/>
          </a:prstGeom>
          <a:noFill/>
          <a:ln/>
        </p:spPr>
        <p:txBody>
          <a:bodyPr wrap="square" lIns="0" tIns="0" rIns="0" bIns="0" rtlCol="0" anchor="t"/>
          <a:lstStyle/>
          <a:p>
            <a:pPr indent="0" marL="0">
              <a:buNone/>
            </a:pPr>
            <a:r>
              <a:rPr lang="en-US" sz="1400" b="1" dirty="0">
                <a:solidFill>
                  <a:schemeClr val="accent1"/>
                </a:solidFill>
              </a:rPr>
              <a:t>02</a:t>
            </a:r>
            <a:endParaRPr lang="en-US" sz="1400" dirty="0"/>
          </a:p>
        </p:txBody>
      </p:sp>
      <p:sp>
        <p:nvSpPr>
          <p:cNvPr id="13" name="text-77"/>
          <p:cNvSpPr txBox="1"/>
          <p:nvPr/>
        </p:nvSpPr>
        <p:spPr>
          <a:xfrm>
            <a:off x="3096158" y="3337560"/>
            <a:ext cx="1450238" cy="6858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Setup</a:t>
            </a:r>
            <a:endParaRPr lang="en-US" sz="2000" dirty="0"/>
          </a:p>
        </p:txBody>
      </p:sp>
      <p:sp>
        <p:nvSpPr>
          <p:cNvPr id="14" name="text-78"/>
          <p:cNvSpPr txBox="1"/>
          <p:nvPr/>
        </p:nvSpPr>
        <p:spPr>
          <a:xfrm>
            <a:off x="3096158" y="4069080"/>
            <a:ext cx="1450238" cy="1280160"/>
          </a:xfrm>
          <a:prstGeom prst="rect">
            <a:avLst/>
          </a:prstGeom>
          <a:noFill/>
          <a:ln/>
        </p:spPr>
        <p:txBody>
          <a:bodyPr wrap="square" lIns="0" tIns="0" rIns="0" bIns="0" rtlCol="0" anchor="t"/>
          <a:lstStyle/>
          <a:p>
            <a:pPr indent="0" marL="0">
              <a:buNone/>
            </a:pPr>
            <a:r>
              <a:rPr lang="en-US" sz="1500" dirty="0">
                <a:solidFill>
                  <a:schemeClr val="tx2"/>
                </a:solidFill>
              </a:rPr>
              <a:t>Start the simulator and the Docker containers</a:t>
            </a:r>
            <a:endParaRPr lang="en-US" sz="1500" dirty="0"/>
          </a:p>
        </p:txBody>
      </p:sp>
      <p:sp>
        <p:nvSpPr>
          <p:cNvPr id="15" name="card-79"/>
          <p:cNvSpPr/>
          <p:nvPr/>
        </p:nvSpPr>
        <p:spPr>
          <a:xfrm>
            <a:off x="5095037" y="1645920"/>
            <a:ext cx="1998878" cy="3840480"/>
          </a:xfrm>
          <a:prstGeom prst="roundRect">
            <a:avLst>
              <a:gd name="adj" fmla="val 3660"/>
            </a:avLst>
          </a:prstGeom>
          <a:solidFill>
            <a:schemeClr val="bg1"/>
          </a:solidFill>
          <a:ln/>
          <a:effectLst>
            <a:outerShdw sx="100000" sy="100000" kx="0" ky="0" algn="bl" rotWithShape="0" blurRad="101600" dist="25400" dir="5400000">
              <a:srgbClr val="000000">
                <a:alpha val="12000"/>
              </a:srgbClr>
            </a:outerShdw>
          </a:effectLst>
        </p:spPr>
      </p:sp>
      <p:sp>
        <p:nvSpPr>
          <p:cNvPr id="16" name="icon-circle-80"/>
          <p:cNvSpPr/>
          <p:nvPr/>
        </p:nvSpPr>
        <p:spPr>
          <a:xfrm>
            <a:off x="5369357" y="1965960"/>
            <a:ext cx="777240" cy="777240"/>
          </a:xfrm>
          <a:prstGeom prst="ellipse">
            <a:avLst/>
          </a:prstGeom>
          <a:solidFill>
            <a:schemeClr val="accent1"/>
          </a:solidFill>
          <a:ln/>
        </p:spPr>
      </p:sp>
      <p:pic>
        <p:nvPicPr>
          <p:cNvPr id="17" name="icon-81" descr="preencoded.png">    </p:cNvPr>
          <p:cNvPicPr>
            <a:picLocks noChangeAspect="1"/>
          </p:cNvPicPr>
          <p:nvPr/>
        </p:nvPicPr>
        <p:blipFill>
          <a:blip r:embed="rId3"/>
          <a:stretch>
            <a:fillRect/>
          </a:stretch>
        </p:blipFill>
        <p:spPr>
          <a:xfrm>
            <a:off x="5563667" y="2160270"/>
            <a:ext cx="388620" cy="388620"/>
          </a:xfrm>
          <a:prstGeom prst="rect">
            <a:avLst/>
          </a:prstGeom>
        </p:spPr>
      </p:pic>
      <p:sp>
        <p:nvSpPr>
          <p:cNvPr id="18" name="text-82"/>
          <p:cNvSpPr txBox="1"/>
          <p:nvPr/>
        </p:nvSpPr>
        <p:spPr>
          <a:xfrm>
            <a:off x="5369357" y="2971800"/>
            <a:ext cx="1450238" cy="320040"/>
          </a:xfrm>
          <a:prstGeom prst="rect">
            <a:avLst/>
          </a:prstGeom>
          <a:noFill/>
          <a:ln/>
        </p:spPr>
        <p:txBody>
          <a:bodyPr wrap="square" lIns="0" tIns="0" rIns="0" bIns="0" rtlCol="0" anchor="t"/>
          <a:lstStyle/>
          <a:p>
            <a:pPr indent="0" marL="0">
              <a:buNone/>
            </a:pPr>
            <a:r>
              <a:rPr lang="en-US" sz="1400" b="1" dirty="0">
                <a:solidFill>
                  <a:schemeClr val="accent1"/>
                </a:solidFill>
              </a:rPr>
              <a:t>03</a:t>
            </a:r>
            <a:endParaRPr lang="en-US" sz="1400" dirty="0"/>
          </a:p>
        </p:txBody>
      </p:sp>
      <p:sp>
        <p:nvSpPr>
          <p:cNvPr id="19" name="text-83"/>
          <p:cNvSpPr txBox="1"/>
          <p:nvPr/>
        </p:nvSpPr>
        <p:spPr>
          <a:xfrm>
            <a:off x="5369357" y="3337560"/>
            <a:ext cx="1450238" cy="6858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The drive() API</a:t>
            </a:r>
            <a:endParaRPr lang="en-US" sz="2000" dirty="0"/>
          </a:p>
        </p:txBody>
      </p:sp>
      <p:sp>
        <p:nvSpPr>
          <p:cNvPr id="20" name="text-84"/>
          <p:cNvSpPr txBox="1"/>
          <p:nvPr/>
        </p:nvSpPr>
        <p:spPr>
          <a:xfrm>
            <a:off x="5369357" y="4069080"/>
            <a:ext cx="1450238" cy="1280160"/>
          </a:xfrm>
          <a:prstGeom prst="rect">
            <a:avLst/>
          </a:prstGeom>
          <a:noFill/>
          <a:ln/>
        </p:spPr>
        <p:txBody>
          <a:bodyPr wrap="square" lIns="0" tIns="0" rIns="0" bIns="0" rtlCol="0" anchor="t"/>
          <a:lstStyle/>
          <a:p>
            <a:pPr indent="0" marL="0">
              <a:buNone/>
            </a:pPr>
            <a:r>
              <a:rPr lang="en-US" sz="1500" dirty="0">
                <a:solidFill>
                  <a:schemeClr val="tx2"/>
                </a:solidFill>
              </a:rPr>
              <a:t>One Python function: sensors in, commands out</a:t>
            </a:r>
            <a:endParaRPr lang="en-US" sz="1500" dirty="0"/>
          </a:p>
        </p:txBody>
      </p:sp>
      <p:sp>
        <p:nvSpPr>
          <p:cNvPr id="21" name="card-85"/>
          <p:cNvSpPr/>
          <p:nvPr/>
        </p:nvSpPr>
        <p:spPr>
          <a:xfrm>
            <a:off x="7368235" y="1645920"/>
            <a:ext cx="1998878" cy="3840480"/>
          </a:xfrm>
          <a:prstGeom prst="roundRect">
            <a:avLst>
              <a:gd name="adj" fmla="val 3660"/>
            </a:avLst>
          </a:prstGeom>
          <a:solidFill>
            <a:schemeClr val="bg1"/>
          </a:solidFill>
          <a:ln/>
          <a:effectLst>
            <a:outerShdw sx="100000" sy="100000" kx="0" ky="0" algn="bl" rotWithShape="0" blurRad="101600" dist="25400" dir="5400000">
              <a:srgbClr val="000000">
                <a:alpha val="12000"/>
              </a:srgbClr>
            </a:outerShdw>
          </a:effectLst>
        </p:spPr>
      </p:sp>
      <p:sp>
        <p:nvSpPr>
          <p:cNvPr id="22" name="icon-circle-86"/>
          <p:cNvSpPr/>
          <p:nvPr/>
        </p:nvSpPr>
        <p:spPr>
          <a:xfrm>
            <a:off x="7642555" y="1965960"/>
            <a:ext cx="777240" cy="777240"/>
          </a:xfrm>
          <a:prstGeom prst="ellipse">
            <a:avLst/>
          </a:prstGeom>
          <a:solidFill>
            <a:schemeClr val="accent1"/>
          </a:solidFill>
          <a:ln/>
        </p:spPr>
      </p:sp>
      <p:pic>
        <p:nvPicPr>
          <p:cNvPr id="23" name="icon-87" descr="preencoded.png">    </p:cNvPr>
          <p:cNvPicPr>
            <a:picLocks noChangeAspect="1"/>
          </p:cNvPicPr>
          <p:nvPr/>
        </p:nvPicPr>
        <p:blipFill>
          <a:blip r:embed="rId4"/>
          <a:stretch>
            <a:fillRect/>
          </a:stretch>
        </p:blipFill>
        <p:spPr>
          <a:xfrm>
            <a:off x="7836865" y="2160270"/>
            <a:ext cx="388620" cy="388620"/>
          </a:xfrm>
          <a:prstGeom prst="rect">
            <a:avLst/>
          </a:prstGeom>
        </p:spPr>
      </p:pic>
      <p:sp>
        <p:nvSpPr>
          <p:cNvPr id="24" name="text-88"/>
          <p:cNvSpPr txBox="1"/>
          <p:nvPr/>
        </p:nvSpPr>
        <p:spPr>
          <a:xfrm>
            <a:off x="7642555" y="2971800"/>
            <a:ext cx="1450238" cy="320040"/>
          </a:xfrm>
          <a:prstGeom prst="rect">
            <a:avLst/>
          </a:prstGeom>
          <a:noFill/>
          <a:ln/>
        </p:spPr>
        <p:txBody>
          <a:bodyPr wrap="square" lIns="0" tIns="0" rIns="0" bIns="0" rtlCol="0" anchor="t"/>
          <a:lstStyle/>
          <a:p>
            <a:pPr indent="0" marL="0">
              <a:buNone/>
            </a:pPr>
            <a:r>
              <a:rPr lang="en-US" sz="1400" b="1" dirty="0">
                <a:solidFill>
                  <a:schemeClr val="accent1"/>
                </a:solidFill>
              </a:rPr>
              <a:t>04</a:t>
            </a:r>
            <a:endParaRPr lang="en-US" sz="1400" dirty="0"/>
          </a:p>
        </p:txBody>
      </p:sp>
      <p:sp>
        <p:nvSpPr>
          <p:cNvPr id="25" name="text-89"/>
          <p:cNvSpPr txBox="1"/>
          <p:nvPr/>
        </p:nvSpPr>
        <p:spPr>
          <a:xfrm>
            <a:off x="7642555" y="3337560"/>
            <a:ext cx="1450238" cy="6858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Algorithms</a:t>
            </a:r>
            <a:endParaRPr lang="en-US" sz="2000" dirty="0"/>
          </a:p>
        </p:txBody>
      </p:sp>
      <p:sp>
        <p:nvSpPr>
          <p:cNvPr id="26" name="text-90"/>
          <p:cNvSpPr txBox="1"/>
          <p:nvPr/>
        </p:nvSpPr>
        <p:spPr>
          <a:xfrm>
            <a:off x="7642555" y="4069080"/>
            <a:ext cx="1450238" cy="1280160"/>
          </a:xfrm>
          <a:prstGeom prst="rect">
            <a:avLst/>
          </a:prstGeom>
          <a:noFill/>
          <a:ln/>
        </p:spPr>
        <p:txBody>
          <a:bodyPr wrap="square" lIns="0" tIns="0" rIns="0" bIns="0" rtlCol="0" anchor="t"/>
          <a:lstStyle/>
          <a:p>
            <a:pPr indent="0" marL="0">
              <a:buNone/>
            </a:pPr>
            <a:r>
              <a:rPr lang="en-US" sz="1500" dirty="0">
                <a:solidFill>
                  <a:schemeClr val="tx2"/>
                </a:solidFill>
              </a:rPr>
              <a:t>Emergency braking, wall following, Follow the Gap, Pure Pursuit</a:t>
            </a:r>
            <a:endParaRPr lang="en-US" sz="1500" dirty="0"/>
          </a:p>
        </p:txBody>
      </p:sp>
      <p:sp>
        <p:nvSpPr>
          <p:cNvPr id="27" name="card-91"/>
          <p:cNvSpPr/>
          <p:nvPr/>
        </p:nvSpPr>
        <p:spPr>
          <a:xfrm>
            <a:off x="9641434" y="1645920"/>
            <a:ext cx="1998878" cy="3840480"/>
          </a:xfrm>
          <a:prstGeom prst="roundRect">
            <a:avLst>
              <a:gd name="adj" fmla="val 3660"/>
            </a:avLst>
          </a:prstGeom>
          <a:solidFill>
            <a:schemeClr val="bg1"/>
          </a:solidFill>
          <a:ln/>
          <a:effectLst>
            <a:outerShdw sx="100000" sy="100000" kx="0" ky="0" algn="bl" rotWithShape="0" blurRad="101600" dist="25400" dir="5400000">
              <a:srgbClr val="000000">
                <a:alpha val="12000"/>
              </a:srgbClr>
            </a:outerShdw>
          </a:effectLst>
        </p:spPr>
      </p:sp>
      <p:sp>
        <p:nvSpPr>
          <p:cNvPr id="28" name="icon-circle-92"/>
          <p:cNvSpPr/>
          <p:nvPr/>
        </p:nvSpPr>
        <p:spPr>
          <a:xfrm>
            <a:off x="9915754" y="1965960"/>
            <a:ext cx="777240" cy="777240"/>
          </a:xfrm>
          <a:prstGeom prst="ellipse">
            <a:avLst/>
          </a:prstGeom>
          <a:solidFill>
            <a:schemeClr val="accent1"/>
          </a:solidFill>
          <a:ln/>
        </p:spPr>
      </p:sp>
      <p:pic>
        <p:nvPicPr>
          <p:cNvPr id="29" name="icon-93" descr="preencoded.png">    </p:cNvPr>
          <p:cNvPicPr>
            <a:picLocks noChangeAspect="1"/>
          </p:cNvPicPr>
          <p:nvPr/>
        </p:nvPicPr>
        <p:blipFill>
          <a:blip r:embed="rId5"/>
          <a:stretch>
            <a:fillRect/>
          </a:stretch>
        </p:blipFill>
        <p:spPr>
          <a:xfrm>
            <a:off x="10110064" y="2160270"/>
            <a:ext cx="388620" cy="388620"/>
          </a:xfrm>
          <a:prstGeom prst="rect">
            <a:avLst/>
          </a:prstGeom>
        </p:spPr>
      </p:pic>
      <p:sp>
        <p:nvSpPr>
          <p:cNvPr id="30" name="text-94"/>
          <p:cNvSpPr txBox="1"/>
          <p:nvPr/>
        </p:nvSpPr>
        <p:spPr>
          <a:xfrm>
            <a:off x="9915754" y="2971800"/>
            <a:ext cx="1450238" cy="320040"/>
          </a:xfrm>
          <a:prstGeom prst="rect">
            <a:avLst/>
          </a:prstGeom>
          <a:noFill/>
          <a:ln/>
        </p:spPr>
        <p:txBody>
          <a:bodyPr wrap="square" lIns="0" tIns="0" rIns="0" bIns="0" rtlCol="0" anchor="t"/>
          <a:lstStyle/>
          <a:p>
            <a:pPr indent="0" marL="0">
              <a:buNone/>
            </a:pPr>
            <a:r>
              <a:rPr lang="en-US" sz="1400" b="1" dirty="0">
                <a:solidFill>
                  <a:schemeClr val="accent1"/>
                </a:solidFill>
              </a:rPr>
              <a:t>05</a:t>
            </a:r>
            <a:endParaRPr lang="en-US" sz="1400" dirty="0"/>
          </a:p>
        </p:txBody>
      </p:sp>
      <p:sp>
        <p:nvSpPr>
          <p:cNvPr id="31" name="text-95"/>
          <p:cNvSpPr txBox="1"/>
          <p:nvPr/>
        </p:nvSpPr>
        <p:spPr>
          <a:xfrm>
            <a:off x="9915754" y="3337560"/>
            <a:ext cx="1450238" cy="6858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Exercises</a:t>
            </a:r>
            <a:endParaRPr lang="en-US" sz="2000" dirty="0"/>
          </a:p>
        </p:txBody>
      </p:sp>
      <p:sp>
        <p:nvSpPr>
          <p:cNvPr id="32" name="text-96"/>
          <p:cNvSpPr txBox="1"/>
          <p:nvPr/>
        </p:nvSpPr>
        <p:spPr>
          <a:xfrm>
            <a:off x="9915754" y="4069080"/>
            <a:ext cx="1450238" cy="1280160"/>
          </a:xfrm>
          <a:prstGeom prst="rect">
            <a:avLst/>
          </a:prstGeom>
          <a:noFill/>
          <a:ln/>
        </p:spPr>
        <p:txBody>
          <a:bodyPr wrap="square" lIns="0" tIns="0" rIns="0" bIns="0" rtlCol="0" anchor="t"/>
          <a:lstStyle/>
          <a:p>
            <a:pPr indent="0" marL="0">
              <a:buNone/>
            </a:pPr>
            <a:r>
              <a:rPr lang="en-US" sz="1500" dirty="0">
                <a:solidFill>
                  <a:schemeClr val="tx2"/>
                </a:solidFill>
              </a:rPr>
              <a:t>Build, tune and race your controller</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97"/>
          <p:cNvSpPr txBox="1"/>
          <p:nvPr/>
        </p:nvSpPr>
        <p:spPr>
          <a:xfrm>
            <a:off x="731520" y="1417320"/>
            <a:ext cx="2743200" cy="1371600"/>
          </a:xfrm>
          <a:prstGeom prst="rect">
            <a:avLst/>
          </a:prstGeom>
          <a:noFill/>
          <a:ln/>
        </p:spPr>
        <p:txBody>
          <a:bodyPr wrap="square" lIns="0" tIns="0" rIns="0" bIns="0" rtlCol="0" anchor="b"/>
          <a:lstStyle/>
          <a:p>
            <a:pPr indent="0" marL="0">
              <a:buNone/>
            </a:pPr>
            <a:r>
              <a:rPr lang="en-US" sz="8000" b="1" dirty="0">
                <a:solidFill>
                  <a:schemeClr val="accent1"/>
                </a:solidFill>
                <a:latin typeface="Arial" pitchFamily="34" charset="0"/>
                <a:ea typeface="Arial" pitchFamily="34" charset="-122"/>
                <a:cs typeface="Arial" pitchFamily="34" charset="-120"/>
              </a:rPr>
              <a:t>01</a:t>
            </a:r>
            <a:endParaRPr lang="en-US" sz="8000" dirty="0"/>
          </a:p>
        </p:txBody>
      </p:sp>
      <p:sp>
        <p:nvSpPr>
          <p:cNvPr id="3" name="Text 0"/>
          <p:cNvSpPr/>
          <p:nvPr>
            <p:ph idx="100" type="title" hasCustomPrompt="1"/>
          </p:nvPr>
        </p:nvSpPr>
        <p:spPr>
          <a:xfrm>
            <a:off x="731520" y="2926080"/>
            <a:ext cx="7680960" cy="1005840"/>
          </a:xfrm>
          <a:prstGeom prst="rect">
            <a:avLst/>
          </a:prstGeom>
          <a:noFill/>
          <a:ln/>
        </p:spPr>
        <p:txBody>
          <a:bodyPr wrap="square" lIns="0" tIns="0" rIns="0" bIns="0" rtlCol="0" anchor="ctr"/>
          <a:lstStyle/>
          <a:p>
            <a:pPr algn="l" indent="0" marL="0">
              <a:buNone/>
            </a:pPr>
            <a:r>
              <a:rPr lang="en-US" sz="4000" b="1" dirty="0">
                <a:solidFill>
                  <a:schemeClr val="bg1"/>
                </a:solidFill>
              </a:rPr>
              <a:t>Meet RoboRacer</a:t>
            </a:r>
            <a:endParaRPr lang="en-US" sz="4000" dirty="0"/>
          </a:p>
        </p:txBody>
      </p:sp>
      <p:sp>
        <p:nvSpPr>
          <p:cNvPr id="4" name="Text 0"/>
          <p:cNvSpPr/>
          <p:nvPr>
            <p:ph idx="101" type="body" hasCustomPrompt="1"/>
          </p:nvPr>
        </p:nvSpPr>
        <p:spPr>
          <a:xfrm>
            <a:off x="731520" y="4023360"/>
            <a:ext cx="7315200" cy="914400"/>
          </a:xfrm>
          <a:prstGeom prst="rect">
            <a:avLst/>
          </a:prstGeom>
          <a:noFill/>
          <a:ln/>
        </p:spPr>
        <p:txBody>
          <a:bodyPr wrap="square" lIns="0" tIns="0" rIns="0" bIns="0" rtlCol="0" anchor="t"/>
          <a:lstStyle/>
          <a:p>
            <a:pPr algn="l" indent="0" marL="0">
              <a:buNone/>
            </a:pPr>
            <a:r>
              <a:rPr lang="en-US" sz="1800" dirty="0">
                <a:solidFill>
                  <a:schemeClr val="bg2"/>
                </a:solidFill>
              </a:rPr>
              <a:t>Where it came from, what the car is made of, how races work and how the software thinks</a:t>
            </a:r>
            <a:endParaRPr lang="en-US" sz="1800" dirty="0"/>
          </a:p>
        </p:txBody>
      </p:sp>
      <p:sp>
        <p:nvSpPr>
          <p:cNvPr id="5" name="icon-circle-98"/>
          <p:cNvSpPr/>
          <p:nvPr/>
        </p:nvSpPr>
        <p:spPr>
          <a:xfrm>
            <a:off x="9052560" y="2240280"/>
            <a:ext cx="2194560" cy="2194560"/>
          </a:xfrm>
          <a:prstGeom prst="ellipse">
            <a:avLst/>
          </a:prstGeom>
          <a:solidFill>
            <a:schemeClr val="accent1"/>
          </a:solidFill>
          <a:ln/>
        </p:spPr>
      </p:sp>
      <p:pic>
        <p:nvPicPr>
          <p:cNvPr id="6" name="icon-99" descr="preencoded.png">    </p:cNvPr>
          <p:cNvPicPr>
            <a:picLocks noChangeAspect="1"/>
          </p:cNvPicPr>
          <p:nvPr/>
        </p:nvPicPr>
        <p:blipFill>
          <a:blip r:embed="rId1"/>
          <a:stretch>
            <a:fillRect/>
          </a:stretch>
        </p:blipFill>
        <p:spPr>
          <a:xfrm>
            <a:off x="9601200" y="2788920"/>
            <a:ext cx="1097280" cy="10972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is RoboRacer?</a:t>
            </a:r>
            <a:endParaRPr lang="en-US" sz="3600" dirty="0"/>
          </a:p>
        </p:txBody>
      </p:sp>
      <p:sp>
        <p:nvSpPr>
          <p:cNvPr id="3" name="icon-circle-100"/>
          <p:cNvSpPr/>
          <p:nvPr/>
        </p:nvSpPr>
        <p:spPr>
          <a:xfrm>
            <a:off x="548640" y="1508760"/>
            <a:ext cx="685800" cy="685800"/>
          </a:xfrm>
          <a:prstGeom prst="ellipse">
            <a:avLst/>
          </a:prstGeom>
          <a:solidFill>
            <a:schemeClr val="accent1"/>
          </a:solidFill>
          <a:ln/>
        </p:spPr>
      </p:sp>
      <p:pic>
        <p:nvPicPr>
          <p:cNvPr id="4" name="icon-101" descr="preencoded.png">    </p:cNvPr>
          <p:cNvPicPr>
            <a:picLocks noChangeAspect="1"/>
          </p:cNvPicPr>
          <p:nvPr/>
        </p:nvPicPr>
        <p:blipFill>
          <a:blip r:embed="rId1"/>
          <a:stretch>
            <a:fillRect/>
          </a:stretch>
        </p:blipFill>
        <p:spPr>
          <a:xfrm>
            <a:off x="720090" y="1680210"/>
            <a:ext cx="342900" cy="342900"/>
          </a:xfrm>
          <a:prstGeom prst="rect">
            <a:avLst/>
          </a:prstGeom>
        </p:spPr>
      </p:pic>
      <p:sp>
        <p:nvSpPr>
          <p:cNvPr id="5" name="text-102"/>
          <p:cNvSpPr txBox="1"/>
          <p:nvPr/>
        </p:nvSpPr>
        <p:spPr>
          <a:xfrm>
            <a:off x="1463040" y="1490472"/>
            <a:ext cx="5394960" cy="365760"/>
          </a:xfrm>
          <a:prstGeom prst="rect">
            <a:avLst/>
          </a:prstGeom>
          <a:noFill/>
          <a:ln/>
        </p:spPr>
        <p:txBody>
          <a:bodyPr wrap="square" lIns="0" tIns="0" rIns="0" bIns="0" rtlCol="0" anchor="t"/>
          <a:lstStyle/>
          <a:p>
            <a:pPr indent="0" marL="0">
              <a:buNone/>
            </a:pPr>
            <a:r>
              <a:rPr lang="en-US" sz="1800" b="1" dirty="0">
                <a:solidFill>
                  <a:schemeClr val="tx1"/>
                </a:solidFill>
              </a:rPr>
              <a:t>1/10-scale autonomous racing</a:t>
            </a:r>
            <a:endParaRPr lang="en-US" sz="1800" dirty="0"/>
          </a:p>
        </p:txBody>
      </p:sp>
      <p:sp>
        <p:nvSpPr>
          <p:cNvPr id="6" name="text-103"/>
          <p:cNvSpPr txBox="1"/>
          <p:nvPr/>
        </p:nvSpPr>
        <p:spPr>
          <a:xfrm>
            <a:off x="1463040" y="1874520"/>
            <a:ext cx="5394960" cy="640080"/>
          </a:xfrm>
          <a:prstGeom prst="rect">
            <a:avLst/>
          </a:prstGeom>
          <a:noFill/>
          <a:ln/>
        </p:spPr>
        <p:txBody>
          <a:bodyPr wrap="square" lIns="0" tIns="0" rIns="0" bIns="0" rtlCol="0" anchor="t"/>
          <a:lstStyle/>
          <a:p>
            <a:pPr indent="0" marL="0">
              <a:buNone/>
            </a:pPr>
            <a:r>
              <a:rPr lang="en-US" sz="1500" dirty="0">
                <a:solidFill>
                  <a:schemeClr val="tx2"/>
                </a:solidFill>
              </a:rPr>
              <a:t>RoboRacer (formerly F1TENTH) is a global community that races small self-driving cars.</a:t>
            </a:r>
            <a:endParaRPr lang="en-US" sz="1500" dirty="0"/>
          </a:p>
        </p:txBody>
      </p:sp>
      <p:sp>
        <p:nvSpPr>
          <p:cNvPr id="7" name="icon-circle-104"/>
          <p:cNvSpPr/>
          <p:nvPr/>
        </p:nvSpPr>
        <p:spPr>
          <a:xfrm>
            <a:off x="548640" y="2651760"/>
            <a:ext cx="685800" cy="685800"/>
          </a:xfrm>
          <a:prstGeom prst="ellipse">
            <a:avLst/>
          </a:prstGeom>
          <a:solidFill>
            <a:schemeClr val="accent1"/>
          </a:solidFill>
          <a:ln/>
        </p:spPr>
      </p:sp>
      <p:pic>
        <p:nvPicPr>
          <p:cNvPr id="8" name="icon-105" descr="preencoded.png">    </p:cNvPr>
          <p:cNvPicPr>
            <a:picLocks noChangeAspect="1"/>
          </p:cNvPicPr>
          <p:nvPr/>
        </p:nvPicPr>
        <p:blipFill>
          <a:blip r:embed="rId2"/>
          <a:stretch>
            <a:fillRect/>
          </a:stretch>
        </p:blipFill>
        <p:spPr>
          <a:xfrm>
            <a:off x="720090" y="2823210"/>
            <a:ext cx="342900" cy="342900"/>
          </a:xfrm>
          <a:prstGeom prst="rect">
            <a:avLst/>
          </a:prstGeom>
        </p:spPr>
      </p:pic>
      <p:sp>
        <p:nvSpPr>
          <p:cNvPr id="9" name="text-106"/>
          <p:cNvSpPr txBox="1"/>
          <p:nvPr/>
        </p:nvSpPr>
        <p:spPr>
          <a:xfrm>
            <a:off x="1463040" y="2633472"/>
            <a:ext cx="5394960" cy="365760"/>
          </a:xfrm>
          <a:prstGeom prst="rect">
            <a:avLst/>
          </a:prstGeom>
          <a:noFill/>
          <a:ln/>
        </p:spPr>
        <p:txBody>
          <a:bodyPr wrap="square" lIns="0" tIns="0" rIns="0" bIns="0" rtlCol="0" anchor="t"/>
          <a:lstStyle/>
          <a:p>
            <a:pPr indent="0" marL="0">
              <a:buNone/>
            </a:pPr>
            <a:r>
              <a:rPr lang="en-US" sz="1800" b="1" dirty="0">
                <a:solidFill>
                  <a:schemeClr val="tx1"/>
                </a:solidFill>
              </a:rPr>
              <a:t>Onboard sensors only</a:t>
            </a:r>
            <a:endParaRPr lang="en-US" sz="1800" dirty="0"/>
          </a:p>
        </p:txBody>
      </p:sp>
      <p:sp>
        <p:nvSpPr>
          <p:cNvPr id="10" name="text-107"/>
          <p:cNvSpPr txBox="1"/>
          <p:nvPr/>
        </p:nvSpPr>
        <p:spPr>
          <a:xfrm>
            <a:off x="1463040" y="3017520"/>
            <a:ext cx="5394960" cy="640080"/>
          </a:xfrm>
          <a:prstGeom prst="rect">
            <a:avLst/>
          </a:prstGeom>
          <a:noFill/>
          <a:ln/>
        </p:spPr>
        <p:txBody>
          <a:bodyPr wrap="square" lIns="0" tIns="0" rIns="0" bIns="0" rtlCol="0" anchor="t"/>
          <a:lstStyle/>
          <a:p>
            <a:pPr indent="0" marL="0">
              <a:buNone/>
            </a:pPr>
            <a:r>
              <a:rPr lang="en-US" sz="1500" dirty="0">
                <a:solidFill>
                  <a:schemeClr val="tx2"/>
                </a:solidFill>
              </a:rPr>
              <a:t>Cars see the track with a 2D LiDAR and know their speed and pose from odometry.</a:t>
            </a:r>
            <a:endParaRPr lang="en-US" sz="1500" dirty="0"/>
          </a:p>
        </p:txBody>
      </p:sp>
      <p:sp>
        <p:nvSpPr>
          <p:cNvPr id="11" name="icon-circle-108"/>
          <p:cNvSpPr/>
          <p:nvPr/>
        </p:nvSpPr>
        <p:spPr>
          <a:xfrm>
            <a:off x="548640" y="3794760"/>
            <a:ext cx="685800" cy="685800"/>
          </a:xfrm>
          <a:prstGeom prst="ellipse">
            <a:avLst/>
          </a:prstGeom>
          <a:solidFill>
            <a:schemeClr val="accent1"/>
          </a:solidFill>
          <a:ln/>
        </p:spPr>
      </p:sp>
      <p:pic>
        <p:nvPicPr>
          <p:cNvPr id="12" name="icon-109" descr="preencoded.png">    </p:cNvPr>
          <p:cNvPicPr>
            <a:picLocks noChangeAspect="1"/>
          </p:cNvPicPr>
          <p:nvPr/>
        </p:nvPicPr>
        <p:blipFill>
          <a:blip r:embed="rId3"/>
          <a:stretch>
            <a:fillRect/>
          </a:stretch>
        </p:blipFill>
        <p:spPr>
          <a:xfrm>
            <a:off x="720090" y="3966210"/>
            <a:ext cx="342900" cy="342900"/>
          </a:xfrm>
          <a:prstGeom prst="rect">
            <a:avLst/>
          </a:prstGeom>
        </p:spPr>
      </p:pic>
      <p:sp>
        <p:nvSpPr>
          <p:cNvPr id="13" name="text-110"/>
          <p:cNvSpPr txBox="1"/>
          <p:nvPr/>
        </p:nvSpPr>
        <p:spPr>
          <a:xfrm>
            <a:off x="1463040" y="3776472"/>
            <a:ext cx="5394960" cy="365760"/>
          </a:xfrm>
          <a:prstGeom prst="rect">
            <a:avLst/>
          </a:prstGeom>
          <a:noFill/>
          <a:ln/>
        </p:spPr>
        <p:txBody>
          <a:bodyPr wrap="square" lIns="0" tIns="0" rIns="0" bIns="0" rtlCol="0" anchor="t"/>
          <a:lstStyle/>
          <a:p>
            <a:pPr indent="0" marL="0">
              <a:buNone/>
            </a:pPr>
            <a:r>
              <a:rPr lang="en-US" sz="1800" b="1" dirty="0">
                <a:solidFill>
                  <a:schemeClr val="tx1"/>
                </a:solidFill>
              </a:rPr>
              <a:t>Real autonomy skills</a:t>
            </a:r>
            <a:endParaRPr lang="en-US" sz="1800" dirty="0"/>
          </a:p>
        </p:txBody>
      </p:sp>
      <p:sp>
        <p:nvSpPr>
          <p:cNvPr id="14" name="text-111"/>
          <p:cNvSpPr txBox="1"/>
          <p:nvPr/>
        </p:nvSpPr>
        <p:spPr>
          <a:xfrm>
            <a:off x="1463040" y="4160520"/>
            <a:ext cx="5394960" cy="640080"/>
          </a:xfrm>
          <a:prstGeom prst="rect">
            <a:avLst/>
          </a:prstGeom>
          <a:noFill/>
          <a:ln/>
        </p:spPr>
        <p:txBody>
          <a:bodyPr wrap="square" lIns="0" tIns="0" rIns="0" bIns="0" rtlCol="0" anchor="t"/>
          <a:lstStyle/>
          <a:p>
            <a:pPr indent="0" marL="0">
              <a:buNone/>
            </a:pPr>
            <a:r>
              <a:rPr lang="en-US" sz="1500" dirty="0">
                <a:solidFill>
                  <a:schemeClr val="tx2"/>
                </a:solidFill>
              </a:rPr>
              <a:t>Perception, planning and control: the same pipeline as full-size self-driving cars.</a:t>
            </a:r>
            <a:endParaRPr lang="en-US" sz="1500" dirty="0"/>
          </a:p>
        </p:txBody>
      </p:sp>
      <p:sp>
        <p:nvSpPr>
          <p:cNvPr id="15" name="icon-circle-112"/>
          <p:cNvSpPr/>
          <p:nvPr/>
        </p:nvSpPr>
        <p:spPr>
          <a:xfrm>
            <a:off x="548640" y="4937760"/>
            <a:ext cx="685800" cy="685800"/>
          </a:xfrm>
          <a:prstGeom prst="ellipse">
            <a:avLst/>
          </a:prstGeom>
          <a:solidFill>
            <a:schemeClr val="accent1"/>
          </a:solidFill>
          <a:ln/>
        </p:spPr>
      </p:sp>
      <p:pic>
        <p:nvPicPr>
          <p:cNvPr id="16" name="icon-113" descr="preencoded.png">    </p:cNvPr>
          <p:cNvPicPr>
            <a:picLocks noChangeAspect="1"/>
          </p:cNvPicPr>
          <p:nvPr/>
        </p:nvPicPr>
        <p:blipFill>
          <a:blip r:embed="rId4"/>
          <a:stretch>
            <a:fillRect/>
          </a:stretch>
        </p:blipFill>
        <p:spPr>
          <a:xfrm>
            <a:off x="720090" y="5109210"/>
            <a:ext cx="342900" cy="342900"/>
          </a:xfrm>
          <a:prstGeom prst="rect">
            <a:avLst/>
          </a:prstGeom>
        </p:spPr>
      </p:pic>
      <p:sp>
        <p:nvSpPr>
          <p:cNvPr id="17" name="text-114"/>
          <p:cNvSpPr txBox="1"/>
          <p:nvPr/>
        </p:nvSpPr>
        <p:spPr>
          <a:xfrm>
            <a:off x="1463040" y="4919472"/>
            <a:ext cx="5394960" cy="365760"/>
          </a:xfrm>
          <a:prstGeom prst="rect">
            <a:avLst/>
          </a:prstGeom>
          <a:noFill/>
          <a:ln/>
        </p:spPr>
        <p:txBody>
          <a:bodyPr wrap="square" lIns="0" tIns="0" rIns="0" bIns="0" rtlCol="0" anchor="t"/>
          <a:lstStyle/>
          <a:p>
            <a:pPr indent="0" marL="0">
              <a:buNone/>
            </a:pPr>
            <a:r>
              <a:rPr lang="en-US" sz="1800" b="1" dirty="0">
                <a:solidFill>
                  <a:schemeClr val="tx1"/>
                </a:solidFill>
              </a:rPr>
              <a:t>Simulator first</a:t>
            </a:r>
            <a:endParaRPr lang="en-US" sz="1800" dirty="0"/>
          </a:p>
        </p:txBody>
      </p:sp>
      <p:sp>
        <p:nvSpPr>
          <p:cNvPr id="18" name="text-115"/>
          <p:cNvSpPr txBox="1"/>
          <p:nvPr/>
        </p:nvSpPr>
        <p:spPr>
          <a:xfrm>
            <a:off x="1463040" y="5303520"/>
            <a:ext cx="5394960" cy="640080"/>
          </a:xfrm>
          <a:prstGeom prst="rect">
            <a:avLst/>
          </a:prstGeom>
          <a:noFill/>
          <a:ln/>
        </p:spPr>
        <p:txBody>
          <a:bodyPr wrap="square" lIns="0" tIns="0" rIns="0" bIns="0" rtlCol="0" anchor="t"/>
          <a:lstStyle/>
          <a:p>
            <a:pPr indent="0" marL="0">
              <a:buNone/>
            </a:pPr>
            <a:r>
              <a:rPr lang="en-US" sz="1500" dirty="0">
                <a:solidFill>
                  <a:schemeClr val="tx2"/>
                </a:solidFill>
              </a:rPr>
              <a:t>Today we use the AutoDRIVE simulator from the official ICRA 2026 sim-racing release.</a:t>
            </a:r>
            <a:endParaRPr lang="en-US" sz="1500" dirty="0"/>
          </a:p>
        </p:txBody>
      </p:sp>
      <p:sp>
        <p:nvSpPr>
          <p:cNvPr id="19" name="card-116"/>
          <p:cNvSpPr/>
          <p:nvPr/>
        </p:nvSpPr>
        <p:spPr>
          <a:xfrm>
            <a:off x="7498080" y="1463040"/>
            <a:ext cx="4142232" cy="1325880"/>
          </a:xfrm>
          <a:prstGeom prst="roundRect">
            <a:avLst>
              <a:gd name="adj" fmla="val 5517"/>
            </a:avLst>
          </a:prstGeom>
          <a:solidFill>
            <a:schemeClr val="bg1"/>
          </a:solidFill>
          <a:ln/>
          <a:effectLst>
            <a:outerShdw sx="100000" sy="100000" kx="0" ky="0" algn="bl" rotWithShape="0" blurRad="101600" dist="25400" dir="5400000">
              <a:srgbClr val="000000">
                <a:alpha val="12000"/>
              </a:srgbClr>
            </a:outerShdw>
          </a:effectLst>
        </p:spPr>
      </p:sp>
      <p:sp>
        <p:nvSpPr>
          <p:cNvPr id="20" name="text-117"/>
          <p:cNvSpPr txBox="1"/>
          <p:nvPr/>
        </p:nvSpPr>
        <p:spPr>
          <a:xfrm>
            <a:off x="7772400" y="1600200"/>
            <a:ext cx="3657600" cy="73152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1/10</a:t>
            </a:r>
            <a:endParaRPr lang="en-US" sz="4000" dirty="0"/>
          </a:p>
        </p:txBody>
      </p:sp>
      <p:sp>
        <p:nvSpPr>
          <p:cNvPr id="21" name="text-118"/>
          <p:cNvSpPr txBox="1"/>
          <p:nvPr/>
        </p:nvSpPr>
        <p:spPr>
          <a:xfrm>
            <a:off x="7772400" y="2331720"/>
            <a:ext cx="3657600" cy="320040"/>
          </a:xfrm>
          <a:prstGeom prst="rect">
            <a:avLst/>
          </a:prstGeom>
          <a:noFill/>
          <a:ln/>
        </p:spPr>
        <p:txBody>
          <a:bodyPr wrap="square" lIns="0" tIns="0" rIns="0" bIns="0" rtlCol="0" anchor="t"/>
          <a:lstStyle/>
          <a:p>
            <a:pPr indent="0" marL="0">
              <a:buNone/>
            </a:pPr>
            <a:r>
              <a:rPr lang="en-US" sz="1400" dirty="0">
                <a:solidFill>
                  <a:schemeClr val="tx2"/>
                </a:solidFill>
              </a:rPr>
              <a:t>vehicle scale</a:t>
            </a:r>
            <a:endParaRPr lang="en-US" sz="1400" dirty="0"/>
          </a:p>
        </p:txBody>
      </p:sp>
      <p:sp>
        <p:nvSpPr>
          <p:cNvPr id="22" name="card-119"/>
          <p:cNvSpPr/>
          <p:nvPr/>
        </p:nvSpPr>
        <p:spPr>
          <a:xfrm>
            <a:off x="7498080" y="3017520"/>
            <a:ext cx="4142232" cy="1325880"/>
          </a:xfrm>
          <a:prstGeom prst="roundRect">
            <a:avLst>
              <a:gd name="adj" fmla="val 5517"/>
            </a:avLst>
          </a:prstGeom>
          <a:solidFill>
            <a:schemeClr val="bg1"/>
          </a:solidFill>
          <a:ln/>
          <a:effectLst>
            <a:outerShdw sx="100000" sy="100000" kx="0" ky="0" algn="bl" rotWithShape="0" blurRad="101600" dist="25400" dir="5400000">
              <a:srgbClr val="000000">
                <a:alpha val="12000"/>
              </a:srgbClr>
            </a:outerShdw>
          </a:effectLst>
        </p:spPr>
      </p:sp>
      <p:sp>
        <p:nvSpPr>
          <p:cNvPr id="23" name="text-120"/>
          <p:cNvSpPr txBox="1"/>
          <p:nvPr/>
        </p:nvSpPr>
        <p:spPr>
          <a:xfrm>
            <a:off x="7772400" y="3154680"/>
            <a:ext cx="3657600" cy="73152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0.324 m</a:t>
            </a:r>
            <a:endParaRPr lang="en-US" sz="4000" dirty="0"/>
          </a:p>
        </p:txBody>
      </p:sp>
      <p:sp>
        <p:nvSpPr>
          <p:cNvPr id="24" name="text-121"/>
          <p:cNvSpPr txBox="1"/>
          <p:nvPr/>
        </p:nvSpPr>
        <p:spPr>
          <a:xfrm>
            <a:off x="7772400" y="3886200"/>
            <a:ext cx="3657600" cy="320040"/>
          </a:xfrm>
          <a:prstGeom prst="rect">
            <a:avLst/>
          </a:prstGeom>
          <a:noFill/>
          <a:ln/>
        </p:spPr>
        <p:txBody>
          <a:bodyPr wrap="square" lIns="0" tIns="0" rIns="0" bIns="0" rtlCol="0" anchor="t"/>
          <a:lstStyle/>
          <a:p>
            <a:pPr indent="0" marL="0">
              <a:buNone/>
            </a:pPr>
            <a:r>
              <a:rPr lang="en-US" sz="1400" dirty="0">
                <a:solidFill>
                  <a:schemeClr val="tx2"/>
                </a:solidFill>
              </a:rPr>
              <a:t>wheelbase used for steering maths</a:t>
            </a:r>
            <a:endParaRPr lang="en-US" sz="1400" dirty="0"/>
          </a:p>
        </p:txBody>
      </p:sp>
      <p:sp>
        <p:nvSpPr>
          <p:cNvPr id="25" name="card-122"/>
          <p:cNvSpPr/>
          <p:nvPr/>
        </p:nvSpPr>
        <p:spPr>
          <a:xfrm>
            <a:off x="7498080" y="4572000"/>
            <a:ext cx="4142232" cy="1325880"/>
          </a:xfrm>
          <a:prstGeom prst="roundRect">
            <a:avLst>
              <a:gd name="adj" fmla="val 5517"/>
            </a:avLst>
          </a:prstGeom>
          <a:solidFill>
            <a:schemeClr val="bg1"/>
          </a:solidFill>
          <a:ln/>
          <a:effectLst>
            <a:outerShdw sx="100000" sy="100000" kx="0" ky="0" algn="bl" rotWithShape="0" blurRad="101600" dist="25400" dir="5400000">
              <a:srgbClr val="000000">
                <a:alpha val="12000"/>
              </a:srgbClr>
            </a:outerShdw>
          </a:effectLst>
        </p:spPr>
      </p:sp>
      <p:sp>
        <p:nvSpPr>
          <p:cNvPr id="26" name="text-123"/>
          <p:cNvSpPr txBox="1"/>
          <p:nvPr/>
        </p:nvSpPr>
        <p:spPr>
          <a:xfrm>
            <a:off x="7772400" y="4709160"/>
            <a:ext cx="3657600" cy="73152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20 Hz</a:t>
            </a:r>
            <a:endParaRPr lang="en-US" sz="4000" dirty="0"/>
          </a:p>
        </p:txBody>
      </p:sp>
      <p:sp>
        <p:nvSpPr>
          <p:cNvPr id="27" name="text-124"/>
          <p:cNvSpPr txBox="1"/>
          <p:nvPr/>
        </p:nvSpPr>
        <p:spPr>
          <a:xfrm>
            <a:off x="7772400" y="5440680"/>
            <a:ext cx="3657600" cy="320040"/>
          </a:xfrm>
          <a:prstGeom prst="rect">
            <a:avLst/>
          </a:prstGeom>
          <a:noFill/>
          <a:ln/>
        </p:spPr>
        <p:txBody>
          <a:bodyPr wrap="square" lIns="0" tIns="0" rIns="0" bIns="0" rtlCol="0" anchor="t"/>
          <a:lstStyle/>
          <a:p>
            <a:pPr indent="0" marL="0">
              <a:buNone/>
            </a:pPr>
            <a:r>
              <a:rPr lang="en-US" sz="1400" dirty="0">
                <a:solidFill>
                  <a:schemeClr val="tx2"/>
                </a:solidFill>
              </a:rPr>
              <a:t>how often your code is called</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Why race robots?</a:t>
            </a:r>
            <a:endParaRPr lang="en-US" sz="3600" dirty="0"/>
          </a:p>
        </p:txBody>
      </p:sp>
      <p:sp>
        <p:nvSpPr>
          <p:cNvPr id="3" name="text-125"/>
          <p:cNvSpPr txBox="1"/>
          <p:nvPr/>
        </p:nvSpPr>
        <p:spPr>
          <a:xfrm>
            <a:off x="548640" y="1737360"/>
            <a:ext cx="4754880" cy="1554480"/>
          </a:xfrm>
          <a:prstGeom prst="rect">
            <a:avLst/>
          </a:prstGeom>
          <a:noFill/>
          <a:ln/>
        </p:spPr>
        <p:txBody>
          <a:bodyPr wrap="square" lIns="0" tIns="0" rIns="0" bIns="0" rtlCol="0" anchor="t"/>
          <a:lstStyle/>
          <a:p>
            <a:pPr indent="0" marL="0">
              <a:buNone/>
            </a:pPr>
            <a:r>
              <a:rPr lang="en-US" sz="3200" b="1" dirty="0">
                <a:solidFill>
                  <a:schemeClr val="tx1"/>
                </a:solidFill>
                <a:latin typeface="Arial" pitchFamily="34" charset="0"/>
                <a:ea typeface="Arial" pitchFamily="34" charset="-122"/>
                <a:cs typeface="Arial" pitchFamily="34" charset="-120"/>
              </a:rPr>
              <a:t>Racing is autonomy at the limit</a:t>
            </a:r>
            <a:endParaRPr lang="en-US" sz="3200" dirty="0"/>
          </a:p>
        </p:txBody>
      </p:sp>
      <p:sp>
        <p:nvSpPr>
          <p:cNvPr id="4" name="text-126"/>
          <p:cNvSpPr txBox="1"/>
          <p:nvPr/>
        </p:nvSpPr>
        <p:spPr>
          <a:xfrm>
            <a:off x="548640" y="3337560"/>
            <a:ext cx="4572000" cy="1371600"/>
          </a:xfrm>
          <a:prstGeom prst="rect">
            <a:avLst/>
          </a:prstGeom>
          <a:noFill/>
          <a:ln/>
        </p:spPr>
        <p:txBody>
          <a:bodyPr wrap="square" lIns="0" tIns="0" rIns="0" bIns="0" rtlCol="0" anchor="t"/>
          <a:lstStyle/>
          <a:p>
            <a:pPr indent="0" marL="0">
              <a:buNone/>
            </a:pPr>
            <a:r>
              <a:rPr lang="en-US" sz="1700" dirty="0">
                <a:solidFill>
                  <a:schemeClr val="tx2"/>
                </a:solidFill>
              </a:rPr>
              <a:t>A race has one clear goal and an unforgiving referee: the stopwatch. Every shortcut in your software shows up as a slower lap or a crash.</a:t>
            </a:r>
            <a:endParaRPr lang="en-US" sz="1700" dirty="0"/>
          </a:p>
        </p:txBody>
      </p:sp>
      <p:sp>
        <p:nvSpPr>
          <p:cNvPr id="5" name="goal-pill"/>
          <p:cNvSpPr/>
          <p:nvPr/>
        </p:nvSpPr>
        <p:spPr>
          <a:xfrm>
            <a:off x="548640" y="5074920"/>
            <a:ext cx="4572000" cy="868680"/>
          </a:xfrm>
          <a:prstGeom prst="roundRect">
            <a:avLst>
              <a:gd name="adj" fmla="val 8421"/>
            </a:avLst>
          </a:prstGeom>
          <a:solidFill>
            <a:schemeClr val="tx1"/>
          </a:solidFill>
          <a:ln/>
        </p:spPr>
      </p:sp>
      <p:pic>
        <p:nvPicPr>
          <p:cNvPr id="6" name="goal-icon" descr="preencoded.png">    </p:cNvPr>
          <p:cNvPicPr>
            <a:picLocks noChangeAspect="1"/>
          </p:cNvPicPr>
          <p:nvPr/>
        </p:nvPicPr>
        <p:blipFill>
          <a:blip r:embed="rId1"/>
          <a:stretch>
            <a:fillRect/>
          </a:stretch>
        </p:blipFill>
        <p:spPr>
          <a:xfrm>
            <a:off x="777240" y="5276088"/>
            <a:ext cx="457200" cy="457200"/>
          </a:xfrm>
          <a:prstGeom prst="rect">
            <a:avLst/>
          </a:prstGeom>
        </p:spPr>
      </p:pic>
      <p:sp>
        <p:nvSpPr>
          <p:cNvPr id="7" name="text-127"/>
          <p:cNvSpPr txBox="1"/>
          <p:nvPr/>
        </p:nvSpPr>
        <p:spPr>
          <a:xfrm>
            <a:off x="1417320" y="5074920"/>
            <a:ext cx="3566160" cy="868680"/>
          </a:xfrm>
          <a:prstGeom prst="rect">
            <a:avLst/>
          </a:prstGeom>
          <a:noFill/>
          <a:ln/>
        </p:spPr>
        <p:txBody>
          <a:bodyPr wrap="square" lIns="0" tIns="0" rIns="0" bIns="0" rtlCol="0" anchor="ctr"/>
          <a:lstStyle/>
          <a:p>
            <a:pPr indent="0" marL="0">
              <a:buNone/>
            </a:pPr>
            <a:r>
              <a:rPr lang="en-US" sz="1700" b="1" dirty="0">
                <a:solidFill>
                  <a:schemeClr val="bg1"/>
                </a:solidFill>
              </a:rPr>
              <a:t>Goal: the fastest lap without a collision</a:t>
            </a:r>
            <a:endParaRPr lang="en-US" sz="1700" dirty="0"/>
          </a:p>
        </p:txBody>
      </p:sp>
      <p:sp>
        <p:nvSpPr>
          <p:cNvPr id="8" name="card-128"/>
          <p:cNvSpPr/>
          <p:nvPr/>
        </p:nvSpPr>
        <p:spPr>
          <a:xfrm>
            <a:off x="5760720" y="1463040"/>
            <a:ext cx="5879592" cy="1325880"/>
          </a:xfrm>
          <a:prstGeom prst="roundRect">
            <a:avLst>
              <a:gd name="adj" fmla="val 5517"/>
            </a:avLst>
          </a:prstGeom>
          <a:solidFill>
            <a:schemeClr val="bg1"/>
          </a:solidFill>
          <a:ln/>
          <a:effectLst>
            <a:outerShdw sx="100000" sy="100000" kx="0" ky="0" algn="bl" rotWithShape="0" blurRad="101600" dist="25400" dir="5400000">
              <a:srgbClr val="000000">
                <a:alpha val="12000"/>
              </a:srgbClr>
            </a:outerShdw>
          </a:effectLst>
        </p:spPr>
      </p:sp>
      <p:sp>
        <p:nvSpPr>
          <p:cNvPr id="9" name="icon-circle-129"/>
          <p:cNvSpPr/>
          <p:nvPr/>
        </p:nvSpPr>
        <p:spPr>
          <a:xfrm>
            <a:off x="6035040" y="1783080"/>
            <a:ext cx="685800" cy="685800"/>
          </a:xfrm>
          <a:prstGeom prst="ellipse">
            <a:avLst/>
          </a:prstGeom>
          <a:solidFill>
            <a:schemeClr val="accent1"/>
          </a:solidFill>
          <a:ln/>
        </p:spPr>
      </p:sp>
      <p:pic>
        <p:nvPicPr>
          <p:cNvPr id="10" name="icon-130" descr="preencoded.png">    </p:cNvPr>
          <p:cNvPicPr>
            <a:picLocks noChangeAspect="1"/>
          </p:cNvPicPr>
          <p:nvPr/>
        </p:nvPicPr>
        <p:blipFill>
          <a:blip r:embed="rId2"/>
          <a:stretch>
            <a:fillRect/>
          </a:stretch>
        </p:blipFill>
        <p:spPr>
          <a:xfrm>
            <a:off x="6206490" y="1954530"/>
            <a:ext cx="342900" cy="342900"/>
          </a:xfrm>
          <a:prstGeom prst="rect">
            <a:avLst/>
          </a:prstGeom>
        </p:spPr>
      </p:pic>
      <p:sp>
        <p:nvSpPr>
          <p:cNvPr id="11" name="text-131"/>
          <p:cNvSpPr txBox="1"/>
          <p:nvPr/>
        </p:nvSpPr>
        <p:spPr>
          <a:xfrm>
            <a:off x="6949440" y="1664208"/>
            <a:ext cx="4480560" cy="365760"/>
          </a:xfrm>
          <a:prstGeom prst="rect">
            <a:avLst/>
          </a:prstGeom>
          <a:noFill/>
          <a:ln/>
        </p:spPr>
        <p:txBody>
          <a:bodyPr wrap="square" lIns="0" tIns="0" rIns="0" bIns="0" rtlCol="0" anchor="t"/>
          <a:lstStyle/>
          <a:p>
            <a:pPr indent="0" marL="0">
              <a:buNone/>
            </a:pPr>
            <a:r>
              <a:rPr lang="en-US" sz="1800" b="1" dirty="0">
                <a:solidFill>
                  <a:schemeClr val="tx1"/>
                </a:solidFill>
              </a:rPr>
              <a:t>Speed exposes weaknesses</a:t>
            </a:r>
            <a:endParaRPr lang="en-US" sz="1800" dirty="0"/>
          </a:p>
        </p:txBody>
      </p:sp>
      <p:sp>
        <p:nvSpPr>
          <p:cNvPr id="12" name="text-132"/>
          <p:cNvSpPr txBox="1"/>
          <p:nvPr/>
        </p:nvSpPr>
        <p:spPr>
          <a:xfrm>
            <a:off x="6949440" y="2057400"/>
            <a:ext cx="4480560" cy="640080"/>
          </a:xfrm>
          <a:prstGeom prst="rect">
            <a:avLst/>
          </a:prstGeom>
          <a:noFill/>
          <a:ln/>
        </p:spPr>
        <p:txBody>
          <a:bodyPr wrap="square" lIns="0" tIns="0" rIns="0" bIns="0" rtlCol="0" anchor="t"/>
          <a:lstStyle/>
          <a:p>
            <a:pPr indent="0" marL="0">
              <a:buNone/>
            </a:pPr>
            <a:r>
              <a:rPr lang="en-US" sz="1500" dirty="0">
                <a:solidFill>
                  <a:schemeClr val="tx2"/>
                </a:solidFill>
              </a:rPr>
              <a:t>At the limit, every delay, noisy reading or bad estimate becomes visible.</a:t>
            </a:r>
            <a:endParaRPr lang="en-US" sz="1500" dirty="0"/>
          </a:p>
        </p:txBody>
      </p:sp>
      <p:sp>
        <p:nvSpPr>
          <p:cNvPr id="13" name="card-133"/>
          <p:cNvSpPr/>
          <p:nvPr/>
        </p:nvSpPr>
        <p:spPr>
          <a:xfrm>
            <a:off x="5760720" y="3017520"/>
            <a:ext cx="5879592" cy="1325880"/>
          </a:xfrm>
          <a:prstGeom prst="roundRect">
            <a:avLst>
              <a:gd name="adj" fmla="val 5517"/>
            </a:avLst>
          </a:prstGeom>
          <a:solidFill>
            <a:schemeClr val="bg1"/>
          </a:solidFill>
          <a:ln/>
          <a:effectLst>
            <a:outerShdw sx="100000" sy="100000" kx="0" ky="0" algn="bl" rotWithShape="0" blurRad="101600" dist="25400" dir="5400000">
              <a:srgbClr val="000000">
                <a:alpha val="12000"/>
              </a:srgbClr>
            </a:outerShdw>
          </a:effectLst>
        </p:spPr>
      </p:sp>
      <p:sp>
        <p:nvSpPr>
          <p:cNvPr id="14" name="icon-circle-134"/>
          <p:cNvSpPr/>
          <p:nvPr/>
        </p:nvSpPr>
        <p:spPr>
          <a:xfrm>
            <a:off x="6035040" y="3337560"/>
            <a:ext cx="685800" cy="685800"/>
          </a:xfrm>
          <a:prstGeom prst="ellipse">
            <a:avLst/>
          </a:prstGeom>
          <a:solidFill>
            <a:schemeClr val="accent1"/>
          </a:solidFill>
          <a:ln/>
        </p:spPr>
      </p:sp>
      <p:pic>
        <p:nvPicPr>
          <p:cNvPr id="15" name="icon-135" descr="preencoded.png">    </p:cNvPr>
          <p:cNvPicPr>
            <a:picLocks noChangeAspect="1"/>
          </p:cNvPicPr>
          <p:nvPr/>
        </p:nvPicPr>
        <p:blipFill>
          <a:blip r:embed="rId3"/>
          <a:stretch>
            <a:fillRect/>
          </a:stretch>
        </p:blipFill>
        <p:spPr>
          <a:xfrm>
            <a:off x="6206490" y="3509010"/>
            <a:ext cx="342900" cy="342900"/>
          </a:xfrm>
          <a:prstGeom prst="rect">
            <a:avLst/>
          </a:prstGeom>
        </p:spPr>
      </p:pic>
      <p:sp>
        <p:nvSpPr>
          <p:cNvPr id="16" name="text-136"/>
          <p:cNvSpPr txBox="1"/>
          <p:nvPr/>
        </p:nvSpPr>
        <p:spPr>
          <a:xfrm>
            <a:off x="6949440" y="3218688"/>
            <a:ext cx="4480560" cy="365760"/>
          </a:xfrm>
          <a:prstGeom prst="rect">
            <a:avLst/>
          </a:prstGeom>
          <a:noFill/>
          <a:ln/>
        </p:spPr>
        <p:txBody>
          <a:bodyPr wrap="square" lIns="0" tIns="0" rIns="0" bIns="0" rtlCol="0" anchor="t"/>
          <a:lstStyle/>
          <a:p>
            <a:pPr indent="0" marL="0">
              <a:buNone/>
            </a:pPr>
            <a:r>
              <a:rPr lang="en-US" sz="1800" b="1" dirty="0">
                <a:solidFill>
                  <a:schemeClr val="tx1"/>
                </a:solidFill>
              </a:rPr>
              <a:t>Cheap to fail</a:t>
            </a:r>
            <a:endParaRPr lang="en-US" sz="1800" dirty="0"/>
          </a:p>
        </p:txBody>
      </p:sp>
      <p:sp>
        <p:nvSpPr>
          <p:cNvPr id="17" name="text-137"/>
          <p:cNvSpPr txBox="1"/>
          <p:nvPr/>
        </p:nvSpPr>
        <p:spPr>
          <a:xfrm>
            <a:off x="6949440" y="3611880"/>
            <a:ext cx="4480560" cy="640080"/>
          </a:xfrm>
          <a:prstGeom prst="rect">
            <a:avLst/>
          </a:prstGeom>
          <a:noFill/>
          <a:ln/>
        </p:spPr>
        <p:txBody>
          <a:bodyPr wrap="square" lIns="0" tIns="0" rIns="0" bIns="0" rtlCol="0" anchor="t"/>
          <a:lstStyle/>
          <a:p>
            <a:pPr indent="0" marL="0">
              <a:buNone/>
            </a:pPr>
            <a:r>
              <a:rPr lang="en-US" sz="1500" dirty="0">
                <a:solidFill>
                  <a:schemeClr val="tx2"/>
                </a:solidFill>
              </a:rPr>
              <a:t>A 1/10-scale car, or a simulator, turns expensive mistakes into quick lessons.</a:t>
            </a:r>
            <a:endParaRPr lang="en-US" sz="1500" dirty="0"/>
          </a:p>
        </p:txBody>
      </p:sp>
      <p:sp>
        <p:nvSpPr>
          <p:cNvPr id="18" name="card-138"/>
          <p:cNvSpPr/>
          <p:nvPr/>
        </p:nvSpPr>
        <p:spPr>
          <a:xfrm>
            <a:off x="5760720" y="4572000"/>
            <a:ext cx="5879592" cy="1325880"/>
          </a:xfrm>
          <a:prstGeom prst="roundRect">
            <a:avLst>
              <a:gd name="adj" fmla="val 5517"/>
            </a:avLst>
          </a:prstGeom>
          <a:solidFill>
            <a:schemeClr val="bg1"/>
          </a:solidFill>
          <a:ln/>
          <a:effectLst>
            <a:outerShdw sx="100000" sy="100000" kx="0" ky="0" algn="bl" rotWithShape="0" blurRad="101600" dist="25400" dir="5400000">
              <a:srgbClr val="000000">
                <a:alpha val="12000"/>
              </a:srgbClr>
            </a:outerShdw>
          </a:effectLst>
        </p:spPr>
      </p:sp>
      <p:sp>
        <p:nvSpPr>
          <p:cNvPr id="19" name="icon-circle-139"/>
          <p:cNvSpPr/>
          <p:nvPr/>
        </p:nvSpPr>
        <p:spPr>
          <a:xfrm>
            <a:off x="6035040" y="4892040"/>
            <a:ext cx="685800" cy="685800"/>
          </a:xfrm>
          <a:prstGeom prst="ellipse">
            <a:avLst/>
          </a:prstGeom>
          <a:solidFill>
            <a:schemeClr val="accent1"/>
          </a:solidFill>
          <a:ln/>
        </p:spPr>
      </p:sp>
      <p:pic>
        <p:nvPicPr>
          <p:cNvPr id="20" name="icon-140" descr="preencoded.png">    </p:cNvPr>
          <p:cNvPicPr>
            <a:picLocks noChangeAspect="1"/>
          </p:cNvPicPr>
          <p:nvPr/>
        </p:nvPicPr>
        <p:blipFill>
          <a:blip r:embed="rId4"/>
          <a:stretch>
            <a:fillRect/>
          </a:stretch>
        </p:blipFill>
        <p:spPr>
          <a:xfrm>
            <a:off x="6206490" y="5063490"/>
            <a:ext cx="342900" cy="342900"/>
          </a:xfrm>
          <a:prstGeom prst="rect">
            <a:avLst/>
          </a:prstGeom>
        </p:spPr>
      </p:pic>
      <p:sp>
        <p:nvSpPr>
          <p:cNvPr id="21" name="text-141"/>
          <p:cNvSpPr txBox="1"/>
          <p:nvPr/>
        </p:nvSpPr>
        <p:spPr>
          <a:xfrm>
            <a:off x="6949440" y="4773168"/>
            <a:ext cx="4480560" cy="365760"/>
          </a:xfrm>
          <a:prstGeom prst="rect">
            <a:avLst/>
          </a:prstGeom>
          <a:noFill/>
          <a:ln/>
        </p:spPr>
        <p:txBody>
          <a:bodyPr wrap="square" lIns="0" tIns="0" rIns="0" bIns="0" rtlCol="0" anchor="t"/>
          <a:lstStyle/>
          <a:p>
            <a:pPr indent="0" marL="0">
              <a:buNone/>
            </a:pPr>
            <a:r>
              <a:rPr lang="en-US" sz="1800" b="1" dirty="0">
                <a:solidFill>
                  <a:schemeClr val="tx1"/>
                </a:solidFill>
              </a:rPr>
              <a:t>Skills transfer</a:t>
            </a:r>
            <a:endParaRPr lang="en-US" sz="1800" dirty="0"/>
          </a:p>
        </p:txBody>
      </p:sp>
      <p:sp>
        <p:nvSpPr>
          <p:cNvPr id="22" name="text-142"/>
          <p:cNvSpPr txBox="1"/>
          <p:nvPr/>
        </p:nvSpPr>
        <p:spPr>
          <a:xfrm>
            <a:off x="6949440" y="5166360"/>
            <a:ext cx="4480560" cy="640080"/>
          </a:xfrm>
          <a:prstGeom prst="rect">
            <a:avLst/>
          </a:prstGeom>
          <a:noFill/>
          <a:ln/>
        </p:spPr>
        <p:txBody>
          <a:bodyPr wrap="square" lIns="0" tIns="0" rIns="0" bIns="0" rtlCol="0" anchor="t"/>
          <a:lstStyle/>
          <a:p>
            <a:pPr indent="0" marL="0">
              <a:buNone/>
            </a:pPr>
            <a:r>
              <a:rPr lang="en-US" sz="1500" dirty="0">
                <a:solidFill>
                  <a:schemeClr val="tx2"/>
                </a:solidFill>
              </a:rPr>
              <a:t>Perception, planning and control are the same problems full-size self-driving cars solve.</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From F1TENTH to RoboRacer</a:t>
            </a:r>
            <a:endParaRPr lang="en-US" sz="3600" dirty="0"/>
          </a:p>
        </p:txBody>
      </p:sp>
      <p:sp>
        <p:nvSpPr>
          <p:cNvPr id="3" name="line-143"/>
          <p:cNvSpPr/>
          <p:nvPr/>
        </p:nvSpPr>
        <p:spPr>
          <a:xfrm>
            <a:off x="1566367" y="2377440"/>
            <a:ext cx="9056218" cy="0"/>
          </a:xfrm>
          <a:prstGeom prst="line">
            <a:avLst/>
          </a:prstGeom>
          <a:noFill/>
          <a:ln w="25400">
            <a:solidFill>
              <a:srgbClr val="6C7A89"/>
            </a:solidFill>
            <a:prstDash val="solid"/>
          </a:ln>
        </p:spPr>
      </p:sp>
      <p:sp>
        <p:nvSpPr>
          <p:cNvPr id="4" name="text-144"/>
          <p:cNvSpPr txBox="1"/>
          <p:nvPr/>
        </p:nvSpPr>
        <p:spPr>
          <a:xfrm>
            <a:off x="548640" y="1508760"/>
            <a:ext cx="2035454" cy="502920"/>
          </a:xfrm>
          <a:prstGeom prst="rect">
            <a:avLst/>
          </a:prstGeom>
          <a:noFill/>
          <a:ln/>
        </p:spPr>
        <p:txBody>
          <a:bodyPr wrap="square" lIns="0" tIns="0" rIns="0" bIns="0" rtlCol="0" anchor="ctr"/>
          <a:lstStyle/>
          <a:p>
            <a:pPr algn="ctr" indent="0" marL="0">
              <a:buNone/>
            </a:pPr>
            <a:r>
              <a:rPr lang="en-US" sz="2400" b="1" dirty="0">
                <a:solidFill>
                  <a:schemeClr val="tx1"/>
                </a:solidFill>
                <a:latin typeface="Arial" pitchFamily="34" charset="0"/>
                <a:ea typeface="Arial" pitchFamily="34" charset="-122"/>
                <a:cs typeface="Arial" pitchFamily="34" charset="-120"/>
              </a:rPr>
              <a:t>2016</a:t>
            </a:r>
            <a:endParaRPr lang="en-US" sz="2400" dirty="0"/>
          </a:p>
        </p:txBody>
      </p:sp>
      <p:sp>
        <p:nvSpPr>
          <p:cNvPr id="5" name="dot-145"/>
          <p:cNvSpPr/>
          <p:nvPr/>
        </p:nvSpPr>
        <p:spPr>
          <a:xfrm>
            <a:off x="1420063" y="2231136"/>
            <a:ext cx="292608" cy="292608"/>
          </a:xfrm>
          <a:prstGeom prst="ellipse">
            <a:avLst/>
          </a:prstGeom>
          <a:solidFill>
            <a:schemeClr val="tx1"/>
          </a:solidFill>
          <a:ln/>
        </p:spPr>
      </p:sp>
      <p:sp>
        <p:nvSpPr>
          <p:cNvPr id="6" name="dot-146"/>
          <p:cNvSpPr/>
          <p:nvPr/>
        </p:nvSpPr>
        <p:spPr>
          <a:xfrm>
            <a:off x="1502359" y="2313432"/>
            <a:ext cx="128016" cy="128016"/>
          </a:xfrm>
          <a:prstGeom prst="ellipse">
            <a:avLst/>
          </a:prstGeom>
          <a:solidFill>
            <a:schemeClr val="bg1"/>
          </a:solidFill>
          <a:ln/>
        </p:spPr>
      </p:sp>
      <p:sp>
        <p:nvSpPr>
          <p:cNvPr id="7" name="card-147"/>
          <p:cNvSpPr/>
          <p:nvPr/>
        </p:nvSpPr>
        <p:spPr>
          <a:xfrm>
            <a:off x="548640" y="2788920"/>
            <a:ext cx="2035454" cy="3017520"/>
          </a:xfrm>
          <a:prstGeom prst="roundRect">
            <a:avLst>
              <a:gd name="adj" fmla="val 3594"/>
            </a:avLst>
          </a:prstGeom>
          <a:solidFill>
            <a:schemeClr val="bg1"/>
          </a:solidFill>
          <a:ln/>
          <a:effectLst>
            <a:outerShdw sx="100000" sy="100000" kx="0" ky="0" algn="bl" rotWithShape="0" blurRad="101600" dist="25400" dir="5400000">
              <a:srgbClr val="000000">
                <a:alpha val="12000"/>
              </a:srgbClr>
            </a:outerShdw>
          </a:effectLst>
        </p:spPr>
      </p:sp>
      <p:sp>
        <p:nvSpPr>
          <p:cNvPr id="8" name="text-148"/>
          <p:cNvSpPr txBox="1"/>
          <p:nvPr/>
        </p:nvSpPr>
        <p:spPr>
          <a:xfrm>
            <a:off x="777240" y="3017520"/>
            <a:ext cx="1578254" cy="685800"/>
          </a:xfrm>
          <a:prstGeom prst="rect">
            <a:avLst/>
          </a:prstGeom>
          <a:noFill/>
          <a:ln/>
        </p:spPr>
        <p:txBody>
          <a:bodyPr wrap="square" lIns="0" tIns="0" rIns="0" bIns="0" rtlCol="0" anchor="t"/>
          <a:lstStyle/>
          <a:p>
            <a:pPr indent="0" marL="0">
              <a:buNone/>
            </a:pPr>
            <a:r>
              <a:rPr lang="en-US" sz="1800" b="1" dirty="0">
                <a:solidFill>
                  <a:schemeClr val="tx1"/>
                </a:solidFill>
              </a:rPr>
              <a:t>Founded at Penn</a:t>
            </a:r>
            <a:endParaRPr lang="en-US" sz="1800" dirty="0"/>
          </a:p>
        </p:txBody>
      </p:sp>
      <p:sp>
        <p:nvSpPr>
          <p:cNvPr id="9" name="text-149"/>
          <p:cNvSpPr txBox="1"/>
          <p:nvPr/>
        </p:nvSpPr>
        <p:spPr>
          <a:xfrm>
            <a:off x="777240" y="3749040"/>
            <a:ext cx="1578254" cy="1920240"/>
          </a:xfrm>
          <a:prstGeom prst="rect">
            <a:avLst/>
          </a:prstGeom>
          <a:noFill/>
          <a:ln/>
        </p:spPr>
        <p:txBody>
          <a:bodyPr wrap="square" lIns="0" tIns="0" rIns="0" bIns="0" rtlCol="0" anchor="t"/>
          <a:lstStyle/>
          <a:p>
            <a:pPr indent="0" marL="0">
              <a:buNone/>
            </a:pPr>
            <a:r>
              <a:rPr lang="en-US" sz="1500" dirty="0">
                <a:solidFill>
                  <a:schemeClr val="tx2"/>
                </a:solidFill>
              </a:rPr>
              <a:t>Started at the University of Pennsylvania under the name F1TENTH.</a:t>
            </a:r>
            <a:endParaRPr lang="en-US" sz="1500" dirty="0"/>
          </a:p>
        </p:txBody>
      </p:sp>
      <p:sp>
        <p:nvSpPr>
          <p:cNvPr id="10" name="text-150"/>
          <p:cNvSpPr txBox="1"/>
          <p:nvPr/>
        </p:nvSpPr>
        <p:spPr>
          <a:xfrm>
            <a:off x="2812694" y="1508760"/>
            <a:ext cx="2035454" cy="502920"/>
          </a:xfrm>
          <a:prstGeom prst="rect">
            <a:avLst/>
          </a:prstGeom>
          <a:noFill/>
          <a:ln/>
        </p:spPr>
        <p:txBody>
          <a:bodyPr wrap="square" lIns="0" tIns="0" rIns="0" bIns="0" rtlCol="0" anchor="ctr"/>
          <a:lstStyle/>
          <a:p>
            <a:pPr algn="ctr" indent="0" marL="0">
              <a:buNone/>
            </a:pPr>
            <a:r>
              <a:rPr lang="en-US" sz="2400" b="1" dirty="0">
                <a:solidFill>
                  <a:schemeClr val="tx1"/>
                </a:solidFill>
                <a:latin typeface="Arial" pitchFamily="34" charset="0"/>
                <a:ea typeface="Arial" pitchFamily="34" charset="-122"/>
                <a:cs typeface="Arial" pitchFamily="34" charset="-120"/>
              </a:rPr>
              <a:t>Growing</a:t>
            </a:r>
            <a:endParaRPr lang="en-US" sz="2400" dirty="0"/>
          </a:p>
        </p:txBody>
      </p:sp>
      <p:sp>
        <p:nvSpPr>
          <p:cNvPr id="11" name="dot-151"/>
          <p:cNvSpPr/>
          <p:nvPr/>
        </p:nvSpPr>
        <p:spPr>
          <a:xfrm>
            <a:off x="3684118" y="2231136"/>
            <a:ext cx="292608" cy="292608"/>
          </a:xfrm>
          <a:prstGeom prst="ellipse">
            <a:avLst/>
          </a:prstGeom>
          <a:solidFill>
            <a:schemeClr val="tx1"/>
          </a:solidFill>
          <a:ln/>
        </p:spPr>
      </p:sp>
      <p:sp>
        <p:nvSpPr>
          <p:cNvPr id="12" name="dot-152"/>
          <p:cNvSpPr/>
          <p:nvPr/>
        </p:nvSpPr>
        <p:spPr>
          <a:xfrm>
            <a:off x="3766414" y="2313432"/>
            <a:ext cx="128016" cy="128016"/>
          </a:xfrm>
          <a:prstGeom prst="ellipse">
            <a:avLst/>
          </a:prstGeom>
          <a:solidFill>
            <a:schemeClr val="bg1"/>
          </a:solidFill>
          <a:ln/>
        </p:spPr>
      </p:sp>
      <p:sp>
        <p:nvSpPr>
          <p:cNvPr id="13" name="card-153"/>
          <p:cNvSpPr/>
          <p:nvPr/>
        </p:nvSpPr>
        <p:spPr>
          <a:xfrm>
            <a:off x="2812694" y="2788920"/>
            <a:ext cx="2035454" cy="3017520"/>
          </a:xfrm>
          <a:prstGeom prst="roundRect">
            <a:avLst>
              <a:gd name="adj" fmla="val 3594"/>
            </a:avLst>
          </a:prstGeom>
          <a:solidFill>
            <a:schemeClr val="bg1"/>
          </a:solidFill>
          <a:ln/>
          <a:effectLst>
            <a:outerShdw sx="100000" sy="100000" kx="0" ky="0" algn="bl" rotWithShape="0" blurRad="101600" dist="25400" dir="5400000">
              <a:srgbClr val="000000">
                <a:alpha val="12000"/>
              </a:srgbClr>
            </a:outerShdw>
          </a:effectLst>
        </p:spPr>
      </p:sp>
      <p:sp>
        <p:nvSpPr>
          <p:cNvPr id="14" name="text-154"/>
          <p:cNvSpPr txBox="1"/>
          <p:nvPr/>
        </p:nvSpPr>
        <p:spPr>
          <a:xfrm>
            <a:off x="3041294" y="3017520"/>
            <a:ext cx="1578254" cy="685800"/>
          </a:xfrm>
          <a:prstGeom prst="rect">
            <a:avLst/>
          </a:prstGeom>
          <a:noFill/>
          <a:ln/>
        </p:spPr>
        <p:txBody>
          <a:bodyPr wrap="square" lIns="0" tIns="0" rIns="0" bIns="0" rtlCol="0" anchor="t"/>
          <a:lstStyle/>
          <a:p>
            <a:pPr indent="0" marL="0">
              <a:buNone/>
            </a:pPr>
            <a:r>
              <a:rPr lang="en-US" sz="1800" b="1" dirty="0">
                <a:solidFill>
                  <a:schemeClr val="tx1"/>
                </a:solidFill>
              </a:rPr>
              <a:t>A global community</a:t>
            </a:r>
            <a:endParaRPr lang="en-US" sz="1800" dirty="0"/>
          </a:p>
        </p:txBody>
      </p:sp>
      <p:sp>
        <p:nvSpPr>
          <p:cNvPr id="15" name="text-155"/>
          <p:cNvSpPr txBox="1"/>
          <p:nvPr/>
        </p:nvSpPr>
        <p:spPr>
          <a:xfrm>
            <a:off x="3041294" y="3749040"/>
            <a:ext cx="1578254" cy="1920240"/>
          </a:xfrm>
          <a:prstGeom prst="rect">
            <a:avLst/>
          </a:prstGeom>
          <a:noFill/>
          <a:ln/>
        </p:spPr>
        <p:txBody>
          <a:bodyPr wrap="square" lIns="0" tIns="0" rIns="0" bIns="0" rtlCol="0" anchor="t"/>
          <a:lstStyle/>
          <a:p>
            <a:pPr indent="0" marL="0">
              <a:buNone/>
            </a:pPr>
            <a:r>
              <a:rPr lang="en-US" sz="1500" dirty="0">
                <a:solidFill>
                  <a:schemeClr val="tx2"/>
                </a:solidFill>
              </a:rPr>
              <a:t>Teaching modules used at 80+ universities; races at major robotics conferences.</a:t>
            </a:r>
            <a:endParaRPr lang="en-US" sz="1500" dirty="0"/>
          </a:p>
        </p:txBody>
      </p:sp>
      <p:sp>
        <p:nvSpPr>
          <p:cNvPr id="16" name="text-156"/>
          <p:cNvSpPr txBox="1"/>
          <p:nvPr/>
        </p:nvSpPr>
        <p:spPr>
          <a:xfrm>
            <a:off x="5076749" y="1508760"/>
            <a:ext cx="2035454" cy="502920"/>
          </a:xfrm>
          <a:prstGeom prst="rect">
            <a:avLst/>
          </a:prstGeom>
          <a:noFill/>
          <a:ln/>
        </p:spPr>
        <p:txBody>
          <a:bodyPr wrap="square" lIns="0" tIns="0" rIns="0" bIns="0" rtlCol="0" anchor="ctr"/>
          <a:lstStyle/>
          <a:p>
            <a:pPr algn="ctr" indent="0" marL="0">
              <a:buNone/>
            </a:pPr>
            <a:r>
              <a:rPr lang="en-US" sz="2400" b="1" dirty="0">
                <a:solidFill>
                  <a:schemeClr val="tx1"/>
                </a:solidFill>
                <a:latin typeface="Arial" pitchFamily="34" charset="0"/>
                <a:ea typeface="Arial" pitchFamily="34" charset="-122"/>
                <a:cs typeface="Arial" pitchFamily="34" charset="-120"/>
              </a:rPr>
              <a:t>2024</a:t>
            </a:r>
            <a:endParaRPr lang="en-US" sz="2400" dirty="0"/>
          </a:p>
        </p:txBody>
      </p:sp>
      <p:sp>
        <p:nvSpPr>
          <p:cNvPr id="17" name="dot-157"/>
          <p:cNvSpPr/>
          <p:nvPr/>
        </p:nvSpPr>
        <p:spPr>
          <a:xfrm>
            <a:off x="5948172" y="2231136"/>
            <a:ext cx="292608" cy="292608"/>
          </a:xfrm>
          <a:prstGeom prst="ellipse">
            <a:avLst/>
          </a:prstGeom>
          <a:solidFill>
            <a:schemeClr val="tx1"/>
          </a:solidFill>
          <a:ln/>
        </p:spPr>
      </p:sp>
      <p:sp>
        <p:nvSpPr>
          <p:cNvPr id="18" name="dot-158"/>
          <p:cNvSpPr/>
          <p:nvPr/>
        </p:nvSpPr>
        <p:spPr>
          <a:xfrm>
            <a:off x="6030468" y="2313432"/>
            <a:ext cx="128016" cy="128016"/>
          </a:xfrm>
          <a:prstGeom prst="ellipse">
            <a:avLst/>
          </a:prstGeom>
          <a:solidFill>
            <a:schemeClr val="bg1"/>
          </a:solidFill>
          <a:ln/>
        </p:spPr>
      </p:sp>
      <p:sp>
        <p:nvSpPr>
          <p:cNvPr id="19" name="card-159"/>
          <p:cNvSpPr/>
          <p:nvPr/>
        </p:nvSpPr>
        <p:spPr>
          <a:xfrm>
            <a:off x="5076749" y="2788920"/>
            <a:ext cx="2035454" cy="3017520"/>
          </a:xfrm>
          <a:prstGeom prst="roundRect">
            <a:avLst>
              <a:gd name="adj" fmla="val 3594"/>
            </a:avLst>
          </a:prstGeom>
          <a:solidFill>
            <a:schemeClr val="bg1"/>
          </a:solidFill>
          <a:ln/>
          <a:effectLst>
            <a:outerShdw sx="100000" sy="100000" kx="0" ky="0" algn="bl" rotWithShape="0" blurRad="101600" dist="25400" dir="5400000">
              <a:srgbClr val="000000">
                <a:alpha val="12000"/>
              </a:srgbClr>
            </a:outerShdw>
          </a:effectLst>
        </p:spPr>
      </p:sp>
      <p:sp>
        <p:nvSpPr>
          <p:cNvPr id="20" name="text-160"/>
          <p:cNvSpPr txBox="1"/>
          <p:nvPr/>
        </p:nvSpPr>
        <p:spPr>
          <a:xfrm>
            <a:off x="5305349" y="3017520"/>
            <a:ext cx="1578254" cy="685800"/>
          </a:xfrm>
          <a:prstGeom prst="rect">
            <a:avLst/>
          </a:prstGeom>
          <a:noFill/>
          <a:ln/>
        </p:spPr>
        <p:txBody>
          <a:bodyPr wrap="square" lIns="0" tIns="0" rIns="0" bIns="0" rtlCol="0" anchor="t"/>
          <a:lstStyle/>
          <a:p>
            <a:pPr indent="0" marL="0">
              <a:buNone/>
            </a:pPr>
            <a:r>
              <a:rPr lang="en-US" sz="1800" b="1" dirty="0">
                <a:solidFill>
                  <a:schemeClr val="tx1"/>
                </a:solidFill>
              </a:rPr>
              <a:t>Sim Racing League</a:t>
            </a:r>
            <a:endParaRPr lang="en-US" sz="1800" dirty="0"/>
          </a:p>
        </p:txBody>
      </p:sp>
      <p:sp>
        <p:nvSpPr>
          <p:cNvPr id="21" name="text-161"/>
          <p:cNvSpPr txBox="1"/>
          <p:nvPr/>
        </p:nvSpPr>
        <p:spPr>
          <a:xfrm>
            <a:off x="5305349" y="3749040"/>
            <a:ext cx="1578254" cy="1920240"/>
          </a:xfrm>
          <a:prstGeom prst="rect">
            <a:avLst/>
          </a:prstGeom>
          <a:noFill/>
          <a:ln/>
        </p:spPr>
        <p:txBody>
          <a:bodyPr wrap="square" lIns="0" tIns="0" rIns="0" bIns="0" rtlCol="0" anchor="t"/>
          <a:lstStyle/>
          <a:p>
            <a:pPr indent="0" marL="0">
              <a:buNone/>
            </a:pPr>
            <a:r>
              <a:rPr lang="en-US" sz="1500" dirty="0">
                <a:solidFill>
                  <a:schemeClr val="tx2"/>
                </a:solidFill>
              </a:rPr>
              <a:t>Virtual races on an AutoDRIVE digital twin debut at IROS 2024 and CDC 2024.</a:t>
            </a:r>
            <a:endParaRPr lang="en-US" sz="1500" dirty="0"/>
          </a:p>
        </p:txBody>
      </p:sp>
      <p:sp>
        <p:nvSpPr>
          <p:cNvPr id="22" name="text-162"/>
          <p:cNvSpPr txBox="1"/>
          <p:nvPr/>
        </p:nvSpPr>
        <p:spPr>
          <a:xfrm>
            <a:off x="7340803" y="1508760"/>
            <a:ext cx="2035454" cy="502920"/>
          </a:xfrm>
          <a:prstGeom prst="rect">
            <a:avLst/>
          </a:prstGeom>
          <a:noFill/>
          <a:ln/>
        </p:spPr>
        <p:txBody>
          <a:bodyPr wrap="square" lIns="0" tIns="0" rIns="0" bIns="0" rtlCol="0" anchor="ctr"/>
          <a:lstStyle/>
          <a:p>
            <a:pPr algn="ctr" indent="0" marL="0">
              <a:buNone/>
            </a:pPr>
            <a:r>
              <a:rPr lang="en-US" sz="2400" b="1" dirty="0">
                <a:solidFill>
                  <a:schemeClr val="tx1"/>
                </a:solidFill>
                <a:latin typeface="Arial" pitchFamily="34" charset="0"/>
                <a:ea typeface="Arial" pitchFamily="34" charset="-122"/>
                <a:cs typeface="Arial" pitchFamily="34" charset="-120"/>
              </a:rPr>
              <a:t>2025</a:t>
            </a:r>
            <a:endParaRPr lang="en-US" sz="2400" dirty="0"/>
          </a:p>
        </p:txBody>
      </p:sp>
      <p:sp>
        <p:nvSpPr>
          <p:cNvPr id="23" name="dot-163"/>
          <p:cNvSpPr/>
          <p:nvPr/>
        </p:nvSpPr>
        <p:spPr>
          <a:xfrm>
            <a:off x="8212226" y="2231136"/>
            <a:ext cx="292608" cy="292608"/>
          </a:xfrm>
          <a:prstGeom prst="ellipse">
            <a:avLst/>
          </a:prstGeom>
          <a:solidFill>
            <a:schemeClr val="tx1"/>
          </a:solidFill>
          <a:ln/>
        </p:spPr>
      </p:sp>
      <p:sp>
        <p:nvSpPr>
          <p:cNvPr id="24" name="dot-164"/>
          <p:cNvSpPr/>
          <p:nvPr/>
        </p:nvSpPr>
        <p:spPr>
          <a:xfrm>
            <a:off x="8294522" y="2313432"/>
            <a:ext cx="128016" cy="128016"/>
          </a:xfrm>
          <a:prstGeom prst="ellipse">
            <a:avLst/>
          </a:prstGeom>
          <a:solidFill>
            <a:schemeClr val="bg1"/>
          </a:solidFill>
          <a:ln/>
        </p:spPr>
      </p:sp>
      <p:sp>
        <p:nvSpPr>
          <p:cNvPr id="25" name="card-165"/>
          <p:cNvSpPr/>
          <p:nvPr/>
        </p:nvSpPr>
        <p:spPr>
          <a:xfrm>
            <a:off x="7340803" y="2788920"/>
            <a:ext cx="2035454" cy="3017520"/>
          </a:xfrm>
          <a:prstGeom prst="roundRect">
            <a:avLst>
              <a:gd name="adj" fmla="val 3594"/>
            </a:avLst>
          </a:prstGeom>
          <a:solidFill>
            <a:schemeClr val="bg1"/>
          </a:solidFill>
          <a:ln/>
          <a:effectLst>
            <a:outerShdw sx="100000" sy="100000" kx="0" ky="0" algn="bl" rotWithShape="0" blurRad="101600" dist="25400" dir="5400000">
              <a:srgbClr val="000000">
                <a:alpha val="12000"/>
              </a:srgbClr>
            </a:outerShdw>
          </a:effectLst>
        </p:spPr>
      </p:sp>
      <p:sp>
        <p:nvSpPr>
          <p:cNvPr id="26" name="text-166"/>
          <p:cNvSpPr txBox="1"/>
          <p:nvPr/>
        </p:nvSpPr>
        <p:spPr>
          <a:xfrm>
            <a:off x="7569403" y="3017520"/>
            <a:ext cx="1578254" cy="685800"/>
          </a:xfrm>
          <a:prstGeom prst="rect">
            <a:avLst/>
          </a:prstGeom>
          <a:noFill/>
          <a:ln/>
        </p:spPr>
        <p:txBody>
          <a:bodyPr wrap="square" lIns="0" tIns="0" rIns="0" bIns="0" rtlCol="0" anchor="t"/>
          <a:lstStyle/>
          <a:p>
            <a:pPr indent="0" marL="0">
              <a:buNone/>
            </a:pPr>
            <a:r>
              <a:rPr lang="en-US" sz="1800" b="1" dirty="0">
                <a:solidFill>
                  <a:schemeClr val="tx1"/>
                </a:solidFill>
              </a:rPr>
              <a:t>Sim racing grows</a:t>
            </a:r>
            <a:endParaRPr lang="en-US" sz="1800" dirty="0"/>
          </a:p>
        </p:txBody>
      </p:sp>
      <p:sp>
        <p:nvSpPr>
          <p:cNvPr id="27" name="text-167"/>
          <p:cNvSpPr txBox="1"/>
          <p:nvPr/>
        </p:nvSpPr>
        <p:spPr>
          <a:xfrm>
            <a:off x="7569403" y="3749040"/>
            <a:ext cx="1578254" cy="1920240"/>
          </a:xfrm>
          <a:prstGeom prst="rect">
            <a:avLst/>
          </a:prstGeom>
          <a:noFill/>
          <a:ln/>
        </p:spPr>
        <p:txBody>
          <a:bodyPr wrap="square" lIns="0" tIns="0" rIns="0" bIns="0" rtlCol="0" anchor="t"/>
          <a:lstStyle/>
          <a:p>
            <a:pPr indent="0" marL="0">
              <a:buNone/>
            </a:pPr>
            <a:r>
              <a:rPr lang="en-US" sz="1500" dirty="0">
                <a:solidFill>
                  <a:schemeClr val="tx2"/>
                </a:solidFill>
              </a:rPr>
              <a:t>The ICRA 2025 sim race drew 58 teams and more than 150 participants.</a:t>
            </a:r>
            <a:endParaRPr lang="en-US" sz="1500" dirty="0"/>
          </a:p>
        </p:txBody>
      </p:sp>
      <p:sp>
        <p:nvSpPr>
          <p:cNvPr id="28" name="text-168"/>
          <p:cNvSpPr txBox="1"/>
          <p:nvPr/>
        </p:nvSpPr>
        <p:spPr>
          <a:xfrm>
            <a:off x="9604858" y="1508760"/>
            <a:ext cx="2035454" cy="502920"/>
          </a:xfrm>
          <a:prstGeom prst="rect">
            <a:avLst/>
          </a:prstGeom>
          <a:noFill/>
          <a:ln/>
        </p:spPr>
        <p:txBody>
          <a:bodyPr wrap="square" lIns="0" tIns="0" rIns="0" bIns="0" rtlCol="0" anchor="ctr"/>
          <a:lstStyle/>
          <a:p>
            <a:pPr algn="ctr" indent="0" marL="0">
              <a:buNone/>
            </a:pPr>
            <a:r>
              <a:rPr lang="en-US" sz="2400" b="1" dirty="0">
                <a:solidFill>
                  <a:schemeClr val="accent1"/>
                </a:solidFill>
                <a:latin typeface="Arial" pitchFamily="34" charset="0"/>
                <a:ea typeface="Arial" pitchFamily="34" charset="-122"/>
                <a:cs typeface="Arial" pitchFamily="34" charset="-120"/>
              </a:rPr>
              <a:t>2026</a:t>
            </a:r>
            <a:endParaRPr lang="en-US" sz="2400" dirty="0"/>
          </a:p>
        </p:txBody>
      </p:sp>
      <p:sp>
        <p:nvSpPr>
          <p:cNvPr id="29" name="dot-169"/>
          <p:cNvSpPr/>
          <p:nvPr/>
        </p:nvSpPr>
        <p:spPr>
          <a:xfrm>
            <a:off x="10476281" y="2231136"/>
            <a:ext cx="292608" cy="292608"/>
          </a:xfrm>
          <a:prstGeom prst="ellipse">
            <a:avLst/>
          </a:prstGeom>
          <a:solidFill>
            <a:schemeClr val="accent1"/>
          </a:solidFill>
          <a:ln/>
        </p:spPr>
      </p:sp>
      <p:sp>
        <p:nvSpPr>
          <p:cNvPr id="30" name="dot-170"/>
          <p:cNvSpPr/>
          <p:nvPr/>
        </p:nvSpPr>
        <p:spPr>
          <a:xfrm>
            <a:off x="10558577" y="2313432"/>
            <a:ext cx="128016" cy="128016"/>
          </a:xfrm>
          <a:prstGeom prst="ellipse">
            <a:avLst/>
          </a:prstGeom>
          <a:solidFill>
            <a:schemeClr val="bg1"/>
          </a:solidFill>
          <a:ln/>
        </p:spPr>
      </p:sp>
      <p:sp>
        <p:nvSpPr>
          <p:cNvPr id="31" name="card-171"/>
          <p:cNvSpPr/>
          <p:nvPr/>
        </p:nvSpPr>
        <p:spPr>
          <a:xfrm>
            <a:off x="9604858" y="2788920"/>
            <a:ext cx="2035454" cy="3017520"/>
          </a:xfrm>
          <a:prstGeom prst="roundRect">
            <a:avLst>
              <a:gd name="adj" fmla="val 3594"/>
            </a:avLst>
          </a:prstGeom>
          <a:solidFill>
            <a:schemeClr val="bg1"/>
          </a:solidFill>
          <a:ln/>
          <a:effectLst>
            <a:outerShdw sx="100000" sy="100000" kx="0" ky="0" algn="bl" rotWithShape="0" blurRad="101600" dist="25400" dir="5400000">
              <a:srgbClr val="000000">
                <a:alpha val="12000"/>
              </a:srgbClr>
            </a:outerShdw>
          </a:effectLst>
        </p:spPr>
      </p:sp>
      <p:sp>
        <p:nvSpPr>
          <p:cNvPr id="32" name="text-172"/>
          <p:cNvSpPr txBox="1"/>
          <p:nvPr/>
        </p:nvSpPr>
        <p:spPr>
          <a:xfrm>
            <a:off x="9833458" y="3017520"/>
            <a:ext cx="1578254" cy="685800"/>
          </a:xfrm>
          <a:prstGeom prst="rect">
            <a:avLst/>
          </a:prstGeom>
          <a:noFill/>
          <a:ln/>
        </p:spPr>
        <p:txBody>
          <a:bodyPr wrap="square" lIns="0" tIns="0" rIns="0" bIns="0" rtlCol="0" anchor="t"/>
          <a:lstStyle/>
          <a:p>
            <a:pPr indent="0" marL="0">
              <a:buNone/>
            </a:pPr>
            <a:r>
              <a:rPr lang="en-US" sz="1800" b="1" dirty="0">
                <a:solidFill>
                  <a:schemeClr val="tx1"/>
                </a:solidFill>
              </a:rPr>
              <a:t>ICRA 2026, Vienna</a:t>
            </a:r>
            <a:endParaRPr lang="en-US" sz="1800" dirty="0"/>
          </a:p>
        </p:txBody>
      </p:sp>
      <p:sp>
        <p:nvSpPr>
          <p:cNvPr id="33" name="text-173"/>
          <p:cNvSpPr txBox="1"/>
          <p:nvPr/>
        </p:nvSpPr>
        <p:spPr>
          <a:xfrm>
            <a:off x="9833458" y="3749040"/>
            <a:ext cx="1578254" cy="1920240"/>
          </a:xfrm>
          <a:prstGeom prst="rect">
            <a:avLst/>
          </a:prstGeom>
          <a:noFill/>
          <a:ln/>
        </p:spPr>
        <p:txBody>
          <a:bodyPr wrap="square" lIns="0" tIns="0" rIns="0" bIns="0" rtlCol="0" anchor="t"/>
          <a:lstStyle/>
          <a:p>
            <a:pPr indent="0" marL="0">
              <a:buNone/>
            </a:pPr>
            <a:r>
              <a:rPr lang="en-US" sz="1500" dirty="0">
                <a:solidFill>
                  <a:schemeClr val="tx2"/>
                </a:solidFill>
              </a:rPr>
              <a:t>Physical race with time trials and head-to-heads. Our simulator comes from the 2026 release.</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Build · Learn · Race</a:t>
            </a:r>
            <a:endParaRPr lang="en-US" sz="3600" dirty="0"/>
          </a:p>
        </p:txBody>
      </p:sp>
      <p:sp>
        <p:nvSpPr>
          <p:cNvPr id="3" name="card-174"/>
          <p:cNvSpPr/>
          <p:nvPr/>
        </p:nvSpPr>
        <p:spPr>
          <a:xfrm>
            <a:off x="548640" y="1463040"/>
            <a:ext cx="3514344" cy="4526280"/>
          </a:xfrm>
          <a:prstGeom prst="roundRect">
            <a:avLst>
              <a:gd name="adj" fmla="val 2082"/>
            </a:avLst>
          </a:prstGeom>
          <a:solidFill>
            <a:schemeClr val="bg1"/>
          </a:solidFill>
          <a:ln/>
          <a:effectLst>
            <a:outerShdw sx="100000" sy="100000" kx="0" ky="0" algn="bl" rotWithShape="0" blurRad="101600" dist="25400" dir="5400000">
              <a:srgbClr val="000000">
                <a:alpha val="12000"/>
              </a:srgbClr>
            </a:outerShdw>
          </a:effectLst>
        </p:spPr>
      </p:sp>
      <p:sp>
        <p:nvSpPr>
          <p:cNvPr id="4" name="icon-circle-175"/>
          <p:cNvSpPr/>
          <p:nvPr/>
        </p:nvSpPr>
        <p:spPr>
          <a:xfrm>
            <a:off x="1711452" y="1737360"/>
            <a:ext cx="1188720" cy="1188720"/>
          </a:xfrm>
          <a:prstGeom prst="ellipse">
            <a:avLst/>
          </a:prstGeom>
          <a:solidFill>
            <a:schemeClr val="accent1"/>
          </a:solidFill>
          <a:ln/>
        </p:spPr>
      </p:sp>
      <p:pic>
        <p:nvPicPr>
          <p:cNvPr id="5" name="icon-176" descr="preencoded.png">    </p:cNvPr>
          <p:cNvPicPr>
            <a:picLocks noChangeAspect="1"/>
          </p:cNvPicPr>
          <p:nvPr/>
        </p:nvPicPr>
        <p:blipFill>
          <a:blip r:embed="rId1"/>
          <a:stretch>
            <a:fillRect/>
          </a:stretch>
        </p:blipFill>
        <p:spPr>
          <a:xfrm>
            <a:off x="2008632" y="2034540"/>
            <a:ext cx="594360" cy="594360"/>
          </a:xfrm>
          <a:prstGeom prst="rect">
            <a:avLst/>
          </a:prstGeom>
        </p:spPr>
      </p:pic>
      <p:sp>
        <p:nvSpPr>
          <p:cNvPr id="6" name="text-177"/>
          <p:cNvSpPr txBox="1"/>
          <p:nvPr/>
        </p:nvSpPr>
        <p:spPr>
          <a:xfrm>
            <a:off x="822960" y="3063240"/>
            <a:ext cx="2965704" cy="502920"/>
          </a:xfrm>
          <a:prstGeom prst="rect">
            <a:avLst/>
          </a:prstGeom>
          <a:noFill/>
          <a:ln/>
        </p:spPr>
        <p:txBody>
          <a:bodyPr wrap="square" lIns="0" tIns="0" rIns="0" bIns="0" rtlCol="0" anchor="t"/>
          <a:lstStyle/>
          <a:p>
            <a:pPr algn="ctr" indent="0" marL="0">
              <a:buNone/>
            </a:pPr>
            <a:r>
              <a:rPr lang="en-US" sz="2600" b="1" dirty="0">
                <a:solidFill>
                  <a:schemeClr val="tx1"/>
                </a:solidFill>
                <a:latin typeface="Arial" pitchFamily="34" charset="0"/>
                <a:ea typeface="Arial" pitchFamily="34" charset="-122"/>
                <a:cs typeface="Arial" pitchFamily="34" charset="-120"/>
              </a:rPr>
              <a:t>Build</a:t>
            </a:r>
            <a:endParaRPr lang="en-US" sz="2600" dirty="0"/>
          </a:p>
        </p:txBody>
      </p:sp>
      <p:sp>
        <p:nvSpPr>
          <p:cNvPr id="7" name="text-178"/>
          <p:cNvSpPr txBox="1"/>
          <p:nvPr/>
        </p:nvSpPr>
        <p:spPr>
          <a:xfrm>
            <a:off x="868680" y="3657600"/>
            <a:ext cx="2874264" cy="1143000"/>
          </a:xfrm>
          <a:prstGeom prst="rect">
            <a:avLst/>
          </a:prstGeom>
          <a:noFill/>
          <a:ln/>
        </p:spPr>
        <p:txBody>
          <a:bodyPr wrap="square" lIns="0" tIns="0" rIns="0" bIns="0" rtlCol="0" anchor="t"/>
          <a:lstStyle/>
          <a:p>
            <a:pPr indent="0" marL="0">
              <a:buNone/>
            </a:pPr>
            <a:r>
              <a:rPr lang="en-US" sz="1500" dirty="0">
                <a:solidFill>
                  <a:schemeClr val="tx2"/>
                </a:solidFill>
              </a:rPr>
              <a:t>An open-source 1/10-scale race car: parts list, build guide and a ROS 2 driver stack.</a:t>
            </a:r>
            <a:endParaRPr lang="en-US" sz="1500" dirty="0"/>
          </a:p>
        </p:txBody>
      </p:sp>
      <p:sp>
        <p:nvSpPr>
          <p:cNvPr id="8" name="today-box-179"/>
          <p:cNvSpPr/>
          <p:nvPr/>
        </p:nvSpPr>
        <p:spPr>
          <a:xfrm>
            <a:off x="822960" y="4937760"/>
            <a:ext cx="2965704" cy="777240"/>
          </a:xfrm>
          <a:prstGeom prst="roundRect">
            <a:avLst>
              <a:gd name="adj" fmla="val 9412"/>
            </a:avLst>
          </a:prstGeom>
          <a:solidFill>
            <a:schemeClr val="bg2"/>
          </a:solidFill>
          <a:ln/>
        </p:spPr>
      </p:sp>
      <p:sp>
        <p:nvSpPr>
          <p:cNvPr id="9" name="text-180"/>
          <p:cNvSpPr txBox="1"/>
          <p:nvPr/>
        </p:nvSpPr>
        <p:spPr>
          <a:xfrm>
            <a:off x="960120" y="4937760"/>
            <a:ext cx="2691384" cy="777240"/>
          </a:xfrm>
          <a:prstGeom prst="rect">
            <a:avLst/>
          </a:prstGeom>
          <a:noFill/>
          <a:ln/>
        </p:spPr>
        <p:txBody>
          <a:bodyPr wrap="square" lIns="0" tIns="0" rIns="0" bIns="0" rtlCol="0" anchor="ctr"/>
          <a:lstStyle/>
          <a:p>
            <a:pPr indent="0" marL="0">
              <a:buNone/>
            </a:pPr>
            <a:r>
              <a:rPr lang="en-US" sz="1400" b="1" dirty="0">
                <a:solidFill>
                  <a:schemeClr val="accent1"/>
                </a:solidFill>
              </a:rPr>
              <a:t>Today: </a:t>
            </a:r>
            <a:pPr indent="0" marL="0">
              <a:buNone/>
            </a:pPr>
            <a:r>
              <a:rPr lang="en-US" sz="1400" dirty="0">
                <a:solidFill>
                  <a:schemeClr val="tx1"/>
                </a:solidFill>
              </a:rPr>
              <a:t>We drive its digital twin in AutoDRIVE</a:t>
            </a:r>
            <a:endParaRPr lang="en-US" sz="1400" dirty="0"/>
          </a:p>
        </p:txBody>
      </p:sp>
      <p:sp>
        <p:nvSpPr>
          <p:cNvPr id="10" name="card-181"/>
          <p:cNvSpPr/>
          <p:nvPr/>
        </p:nvSpPr>
        <p:spPr>
          <a:xfrm>
            <a:off x="4337304" y="1463040"/>
            <a:ext cx="3514344" cy="4526280"/>
          </a:xfrm>
          <a:prstGeom prst="roundRect">
            <a:avLst>
              <a:gd name="adj" fmla="val 2082"/>
            </a:avLst>
          </a:prstGeom>
          <a:solidFill>
            <a:schemeClr val="bg1"/>
          </a:solidFill>
          <a:ln/>
          <a:effectLst>
            <a:outerShdw sx="100000" sy="100000" kx="0" ky="0" algn="bl" rotWithShape="0" blurRad="101600" dist="25400" dir="5400000">
              <a:srgbClr val="000000">
                <a:alpha val="12000"/>
              </a:srgbClr>
            </a:outerShdw>
          </a:effectLst>
        </p:spPr>
      </p:sp>
      <p:sp>
        <p:nvSpPr>
          <p:cNvPr id="11" name="icon-circle-182"/>
          <p:cNvSpPr/>
          <p:nvPr/>
        </p:nvSpPr>
        <p:spPr>
          <a:xfrm>
            <a:off x="5500116" y="1737360"/>
            <a:ext cx="1188720" cy="1188720"/>
          </a:xfrm>
          <a:prstGeom prst="ellipse">
            <a:avLst/>
          </a:prstGeom>
          <a:solidFill>
            <a:schemeClr val="accent1"/>
          </a:solidFill>
          <a:ln/>
        </p:spPr>
      </p:sp>
      <p:pic>
        <p:nvPicPr>
          <p:cNvPr id="12" name="icon-183" descr="preencoded.png">    </p:cNvPr>
          <p:cNvPicPr>
            <a:picLocks noChangeAspect="1"/>
          </p:cNvPicPr>
          <p:nvPr/>
        </p:nvPicPr>
        <p:blipFill>
          <a:blip r:embed="rId2"/>
          <a:stretch>
            <a:fillRect/>
          </a:stretch>
        </p:blipFill>
        <p:spPr>
          <a:xfrm>
            <a:off x="5797296" y="2034540"/>
            <a:ext cx="594360" cy="594360"/>
          </a:xfrm>
          <a:prstGeom prst="rect">
            <a:avLst/>
          </a:prstGeom>
        </p:spPr>
      </p:pic>
      <p:sp>
        <p:nvSpPr>
          <p:cNvPr id="13" name="text-184"/>
          <p:cNvSpPr txBox="1"/>
          <p:nvPr/>
        </p:nvSpPr>
        <p:spPr>
          <a:xfrm>
            <a:off x="4611624" y="3063240"/>
            <a:ext cx="2965704" cy="502920"/>
          </a:xfrm>
          <a:prstGeom prst="rect">
            <a:avLst/>
          </a:prstGeom>
          <a:noFill/>
          <a:ln/>
        </p:spPr>
        <p:txBody>
          <a:bodyPr wrap="square" lIns="0" tIns="0" rIns="0" bIns="0" rtlCol="0" anchor="t"/>
          <a:lstStyle/>
          <a:p>
            <a:pPr algn="ctr" indent="0" marL="0">
              <a:buNone/>
            </a:pPr>
            <a:r>
              <a:rPr lang="en-US" sz="2600" b="1" dirty="0">
                <a:solidFill>
                  <a:schemeClr val="tx1"/>
                </a:solidFill>
                <a:latin typeface="Arial" pitchFamily="34" charset="0"/>
                <a:ea typeface="Arial" pitchFamily="34" charset="-122"/>
                <a:cs typeface="Arial" pitchFamily="34" charset="-120"/>
              </a:rPr>
              <a:t>Learn</a:t>
            </a:r>
            <a:endParaRPr lang="en-US" sz="2600" dirty="0"/>
          </a:p>
        </p:txBody>
      </p:sp>
      <p:sp>
        <p:nvSpPr>
          <p:cNvPr id="14" name="text-185"/>
          <p:cNvSpPr txBox="1"/>
          <p:nvPr/>
        </p:nvSpPr>
        <p:spPr>
          <a:xfrm>
            <a:off x="4657344" y="3657600"/>
            <a:ext cx="2874264" cy="1143000"/>
          </a:xfrm>
          <a:prstGeom prst="rect">
            <a:avLst/>
          </a:prstGeom>
          <a:noFill/>
          <a:ln/>
        </p:spPr>
        <p:txBody>
          <a:bodyPr wrap="square" lIns="0" tIns="0" rIns="0" bIns="0" rtlCol="0" anchor="t"/>
          <a:lstStyle/>
          <a:p>
            <a:pPr indent="0" marL="0">
              <a:buNone/>
            </a:pPr>
            <a:r>
              <a:rPr lang="en-US" sz="1500" dirty="0">
                <a:solidFill>
                  <a:schemeClr val="tx2"/>
                </a:solidFill>
              </a:rPr>
              <a:t>A university course on perception, planning and control, in 4-, 10- and 15-week versions.</a:t>
            </a:r>
            <a:endParaRPr lang="en-US" sz="1500" dirty="0"/>
          </a:p>
        </p:txBody>
      </p:sp>
      <p:sp>
        <p:nvSpPr>
          <p:cNvPr id="15" name="today-box-186"/>
          <p:cNvSpPr/>
          <p:nvPr/>
        </p:nvSpPr>
        <p:spPr>
          <a:xfrm>
            <a:off x="4611624" y="4937760"/>
            <a:ext cx="2965704" cy="777240"/>
          </a:xfrm>
          <a:prstGeom prst="roundRect">
            <a:avLst>
              <a:gd name="adj" fmla="val 9412"/>
            </a:avLst>
          </a:prstGeom>
          <a:solidFill>
            <a:schemeClr val="bg2"/>
          </a:solidFill>
          <a:ln/>
        </p:spPr>
      </p:sp>
      <p:sp>
        <p:nvSpPr>
          <p:cNvPr id="16" name="text-187"/>
          <p:cNvSpPr txBox="1"/>
          <p:nvPr/>
        </p:nvSpPr>
        <p:spPr>
          <a:xfrm>
            <a:off x="4748784" y="4937760"/>
            <a:ext cx="2691384" cy="777240"/>
          </a:xfrm>
          <a:prstGeom prst="rect">
            <a:avLst/>
          </a:prstGeom>
          <a:noFill/>
          <a:ln/>
        </p:spPr>
        <p:txBody>
          <a:bodyPr wrap="square" lIns="0" tIns="0" rIns="0" bIns="0" rtlCol="0" anchor="ctr"/>
          <a:lstStyle/>
          <a:p>
            <a:pPr indent="0" marL="0">
              <a:buNone/>
            </a:pPr>
            <a:r>
              <a:rPr lang="en-US" sz="1400" b="1" dirty="0">
                <a:solidFill>
                  <a:schemeClr val="accent1"/>
                </a:solidFill>
              </a:rPr>
              <a:t>Today: </a:t>
            </a:r>
            <a:pPr indent="0" marL="0">
              <a:buNone/>
            </a:pPr>
            <a:r>
              <a:rPr lang="en-US" sz="1400" dirty="0">
                <a:solidFill>
                  <a:schemeClr val="tx1"/>
                </a:solidFill>
              </a:rPr>
              <a:t>A taste: reactive driving and Pure Pursuit</a:t>
            </a:r>
            <a:endParaRPr lang="en-US" sz="1400" dirty="0"/>
          </a:p>
        </p:txBody>
      </p:sp>
      <p:sp>
        <p:nvSpPr>
          <p:cNvPr id="17" name="card-188"/>
          <p:cNvSpPr/>
          <p:nvPr/>
        </p:nvSpPr>
        <p:spPr>
          <a:xfrm>
            <a:off x="8125968" y="1463040"/>
            <a:ext cx="3514344" cy="4526280"/>
          </a:xfrm>
          <a:prstGeom prst="roundRect">
            <a:avLst>
              <a:gd name="adj" fmla="val 2082"/>
            </a:avLst>
          </a:prstGeom>
          <a:solidFill>
            <a:schemeClr val="bg1"/>
          </a:solidFill>
          <a:ln/>
          <a:effectLst>
            <a:outerShdw sx="100000" sy="100000" kx="0" ky="0" algn="bl" rotWithShape="0" blurRad="101600" dist="25400" dir="5400000">
              <a:srgbClr val="000000">
                <a:alpha val="12000"/>
              </a:srgbClr>
            </a:outerShdw>
          </a:effectLst>
        </p:spPr>
      </p:sp>
      <p:sp>
        <p:nvSpPr>
          <p:cNvPr id="18" name="icon-circle-189"/>
          <p:cNvSpPr/>
          <p:nvPr/>
        </p:nvSpPr>
        <p:spPr>
          <a:xfrm>
            <a:off x="9288780" y="1737360"/>
            <a:ext cx="1188720" cy="1188720"/>
          </a:xfrm>
          <a:prstGeom prst="ellipse">
            <a:avLst/>
          </a:prstGeom>
          <a:solidFill>
            <a:schemeClr val="accent1"/>
          </a:solidFill>
          <a:ln/>
        </p:spPr>
      </p:sp>
      <p:pic>
        <p:nvPicPr>
          <p:cNvPr id="19" name="icon-190" descr="preencoded.png">    </p:cNvPr>
          <p:cNvPicPr>
            <a:picLocks noChangeAspect="1"/>
          </p:cNvPicPr>
          <p:nvPr/>
        </p:nvPicPr>
        <p:blipFill>
          <a:blip r:embed="rId3"/>
          <a:stretch>
            <a:fillRect/>
          </a:stretch>
        </p:blipFill>
        <p:spPr>
          <a:xfrm>
            <a:off x="9585960" y="2034540"/>
            <a:ext cx="594360" cy="594360"/>
          </a:xfrm>
          <a:prstGeom prst="rect">
            <a:avLst/>
          </a:prstGeom>
        </p:spPr>
      </p:pic>
      <p:sp>
        <p:nvSpPr>
          <p:cNvPr id="20" name="text-191"/>
          <p:cNvSpPr txBox="1"/>
          <p:nvPr/>
        </p:nvSpPr>
        <p:spPr>
          <a:xfrm>
            <a:off x="8400288" y="3063240"/>
            <a:ext cx="2965704" cy="502920"/>
          </a:xfrm>
          <a:prstGeom prst="rect">
            <a:avLst/>
          </a:prstGeom>
          <a:noFill/>
          <a:ln/>
        </p:spPr>
        <p:txBody>
          <a:bodyPr wrap="square" lIns="0" tIns="0" rIns="0" bIns="0" rtlCol="0" anchor="t"/>
          <a:lstStyle/>
          <a:p>
            <a:pPr algn="ctr" indent="0" marL="0">
              <a:buNone/>
            </a:pPr>
            <a:r>
              <a:rPr lang="en-US" sz="2600" b="1" dirty="0">
                <a:solidFill>
                  <a:schemeClr val="tx1"/>
                </a:solidFill>
                <a:latin typeface="Arial" pitchFamily="34" charset="0"/>
                <a:ea typeface="Arial" pitchFamily="34" charset="-122"/>
                <a:cs typeface="Arial" pitchFamily="34" charset="-120"/>
              </a:rPr>
              <a:t>Race</a:t>
            </a:r>
            <a:endParaRPr lang="en-US" sz="2600" dirty="0"/>
          </a:p>
        </p:txBody>
      </p:sp>
      <p:sp>
        <p:nvSpPr>
          <p:cNvPr id="21" name="text-192"/>
          <p:cNvSpPr txBox="1"/>
          <p:nvPr/>
        </p:nvSpPr>
        <p:spPr>
          <a:xfrm>
            <a:off x="8446008" y="3657600"/>
            <a:ext cx="2874264" cy="1143000"/>
          </a:xfrm>
          <a:prstGeom prst="rect">
            <a:avLst/>
          </a:prstGeom>
          <a:noFill/>
          <a:ln/>
        </p:spPr>
        <p:txBody>
          <a:bodyPr wrap="square" lIns="0" tIns="0" rIns="0" bIns="0" rtlCol="0" anchor="t"/>
          <a:lstStyle/>
          <a:p>
            <a:pPr indent="0" marL="0">
              <a:buNone/>
            </a:pPr>
            <a:r>
              <a:rPr lang="en-US" sz="1500" dirty="0">
                <a:solidFill>
                  <a:schemeClr val="tx2"/>
                </a:solidFill>
              </a:rPr>
              <a:t>Competitions at international robotics conferences, both physical and simulated.</a:t>
            </a:r>
            <a:endParaRPr lang="en-US" sz="1500" dirty="0"/>
          </a:p>
        </p:txBody>
      </p:sp>
      <p:sp>
        <p:nvSpPr>
          <p:cNvPr id="22" name="today-box-193"/>
          <p:cNvSpPr/>
          <p:nvPr/>
        </p:nvSpPr>
        <p:spPr>
          <a:xfrm>
            <a:off x="8400288" y="4937760"/>
            <a:ext cx="2965704" cy="777240"/>
          </a:xfrm>
          <a:prstGeom prst="roundRect">
            <a:avLst>
              <a:gd name="adj" fmla="val 9412"/>
            </a:avLst>
          </a:prstGeom>
          <a:solidFill>
            <a:schemeClr val="bg2"/>
          </a:solidFill>
          <a:ln/>
        </p:spPr>
      </p:sp>
      <p:sp>
        <p:nvSpPr>
          <p:cNvPr id="23" name="text-194"/>
          <p:cNvSpPr txBox="1"/>
          <p:nvPr/>
        </p:nvSpPr>
        <p:spPr>
          <a:xfrm>
            <a:off x="8537448" y="4937760"/>
            <a:ext cx="2691384" cy="777240"/>
          </a:xfrm>
          <a:prstGeom prst="rect">
            <a:avLst/>
          </a:prstGeom>
          <a:noFill/>
          <a:ln/>
        </p:spPr>
        <p:txBody>
          <a:bodyPr wrap="square" lIns="0" tIns="0" rIns="0" bIns="0" rtlCol="0" anchor="ctr"/>
          <a:lstStyle/>
          <a:p>
            <a:pPr indent="0" marL="0">
              <a:buNone/>
            </a:pPr>
            <a:r>
              <a:rPr lang="en-US" sz="1400" b="1" dirty="0">
                <a:solidFill>
                  <a:schemeClr val="accent1"/>
                </a:solidFill>
              </a:rPr>
              <a:t>Today: </a:t>
            </a:r>
            <a:pPr indent="0" marL="0">
              <a:buNone/>
            </a:pPr>
            <a:r>
              <a:rPr lang="en-US" sz="1400" dirty="0">
                <a:solidFill>
                  <a:schemeClr val="tx1"/>
                </a:solidFill>
              </a:rPr>
              <a:t>Race your own controller around the sim track</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Inside a RoboRacer car</a:t>
            </a:r>
            <a:endParaRPr lang="en-US" sz="3600" dirty="0"/>
          </a:p>
        </p:txBody>
      </p:sp>
      <p:sp>
        <p:nvSpPr>
          <p:cNvPr id="3" name="chassis"/>
          <p:cNvSpPr/>
          <p:nvPr/>
        </p:nvSpPr>
        <p:spPr>
          <a:xfrm>
            <a:off x="731520" y="4617720"/>
            <a:ext cx="4297680" cy="164592"/>
          </a:xfrm>
          <a:prstGeom prst="rect">
            <a:avLst/>
          </a:prstGeom>
          <a:solidFill>
            <a:schemeClr val="tx1"/>
          </a:solidFill>
          <a:ln/>
        </p:spPr>
      </p:sp>
      <p:sp>
        <p:nvSpPr>
          <p:cNvPr id="4" name="dot-195"/>
          <p:cNvSpPr/>
          <p:nvPr/>
        </p:nvSpPr>
        <p:spPr>
          <a:xfrm>
            <a:off x="754380" y="4777740"/>
            <a:ext cx="960120" cy="960120"/>
          </a:xfrm>
          <a:prstGeom prst="ellipse">
            <a:avLst/>
          </a:prstGeom>
          <a:solidFill>
            <a:schemeClr val="tx2"/>
          </a:solidFill>
          <a:ln/>
        </p:spPr>
      </p:sp>
      <p:sp>
        <p:nvSpPr>
          <p:cNvPr id="5" name="dot-196"/>
          <p:cNvSpPr/>
          <p:nvPr/>
        </p:nvSpPr>
        <p:spPr>
          <a:xfrm>
            <a:off x="1028700" y="5052060"/>
            <a:ext cx="411480" cy="411480"/>
          </a:xfrm>
          <a:prstGeom prst="ellipse">
            <a:avLst/>
          </a:prstGeom>
          <a:solidFill>
            <a:schemeClr val="accent4"/>
          </a:solidFill>
          <a:ln/>
        </p:spPr>
      </p:sp>
      <p:sp>
        <p:nvSpPr>
          <p:cNvPr id="6" name="dot-197"/>
          <p:cNvSpPr/>
          <p:nvPr/>
        </p:nvSpPr>
        <p:spPr>
          <a:xfrm>
            <a:off x="4046220" y="4777740"/>
            <a:ext cx="960120" cy="960120"/>
          </a:xfrm>
          <a:prstGeom prst="ellipse">
            <a:avLst/>
          </a:prstGeom>
          <a:solidFill>
            <a:schemeClr val="tx2"/>
          </a:solidFill>
          <a:ln/>
        </p:spPr>
      </p:sp>
      <p:sp>
        <p:nvSpPr>
          <p:cNvPr id="7" name="dot-198"/>
          <p:cNvSpPr/>
          <p:nvPr/>
        </p:nvSpPr>
        <p:spPr>
          <a:xfrm>
            <a:off x="4320540" y="5052060"/>
            <a:ext cx="411480" cy="411480"/>
          </a:xfrm>
          <a:prstGeom prst="ellipse">
            <a:avLst/>
          </a:prstGeom>
          <a:solidFill>
            <a:schemeClr val="accent4"/>
          </a:solidFill>
          <a:ln/>
        </p:spPr>
      </p:sp>
      <p:sp>
        <p:nvSpPr>
          <p:cNvPr id="8" name="battery"/>
          <p:cNvSpPr/>
          <p:nvPr/>
        </p:nvSpPr>
        <p:spPr>
          <a:xfrm>
            <a:off x="1234440" y="4069080"/>
            <a:ext cx="1325880" cy="502920"/>
          </a:xfrm>
          <a:prstGeom prst="roundRect">
            <a:avLst>
              <a:gd name="adj" fmla="val 9091"/>
            </a:avLst>
          </a:prstGeom>
          <a:solidFill>
            <a:schemeClr val="accent4"/>
          </a:solidFill>
          <a:ln/>
        </p:spPr>
      </p:sp>
      <p:sp>
        <p:nvSpPr>
          <p:cNvPr id="9" name="vesc"/>
          <p:cNvSpPr/>
          <p:nvPr/>
        </p:nvSpPr>
        <p:spPr>
          <a:xfrm>
            <a:off x="2697480" y="4069080"/>
            <a:ext cx="868680" cy="502920"/>
          </a:xfrm>
          <a:prstGeom prst="roundRect">
            <a:avLst>
              <a:gd name="adj" fmla="val 9091"/>
            </a:avLst>
          </a:prstGeom>
          <a:solidFill>
            <a:schemeClr val="accent4"/>
          </a:solidFill>
          <a:ln/>
        </p:spPr>
      </p:sp>
      <p:sp>
        <p:nvSpPr>
          <p:cNvPr id="10" name="servo"/>
          <p:cNvSpPr/>
          <p:nvPr/>
        </p:nvSpPr>
        <p:spPr>
          <a:xfrm>
            <a:off x="3749040" y="4160520"/>
            <a:ext cx="685800" cy="411480"/>
          </a:xfrm>
          <a:prstGeom prst="roundRect">
            <a:avLst>
              <a:gd name="adj" fmla="val 11111"/>
            </a:avLst>
          </a:prstGeom>
          <a:solidFill>
            <a:schemeClr val="accent4"/>
          </a:solidFill>
          <a:ln/>
        </p:spPr>
      </p:sp>
      <p:sp>
        <p:nvSpPr>
          <p:cNvPr id="11" name="standoff-199"/>
          <p:cNvSpPr/>
          <p:nvPr/>
        </p:nvSpPr>
        <p:spPr>
          <a:xfrm>
            <a:off x="1051560" y="3611880"/>
            <a:ext cx="73152" cy="1005840"/>
          </a:xfrm>
          <a:prstGeom prst="rect">
            <a:avLst/>
          </a:prstGeom>
          <a:solidFill>
            <a:schemeClr val="tx1"/>
          </a:solidFill>
          <a:ln/>
        </p:spPr>
      </p:sp>
      <p:sp>
        <p:nvSpPr>
          <p:cNvPr id="12" name="standoff-200"/>
          <p:cNvSpPr/>
          <p:nvPr/>
        </p:nvSpPr>
        <p:spPr>
          <a:xfrm>
            <a:off x="4709160" y="3611880"/>
            <a:ext cx="73152" cy="1005840"/>
          </a:xfrm>
          <a:prstGeom prst="rect">
            <a:avLst/>
          </a:prstGeom>
          <a:solidFill>
            <a:schemeClr val="tx1"/>
          </a:solidFill>
          <a:ln/>
        </p:spPr>
      </p:sp>
      <p:sp>
        <p:nvSpPr>
          <p:cNvPr id="13" name="deck"/>
          <p:cNvSpPr/>
          <p:nvPr/>
        </p:nvSpPr>
        <p:spPr>
          <a:xfrm>
            <a:off x="914400" y="3520440"/>
            <a:ext cx="4023360" cy="109728"/>
          </a:xfrm>
          <a:prstGeom prst="rect">
            <a:avLst/>
          </a:prstGeom>
          <a:solidFill>
            <a:schemeClr val="tx1"/>
          </a:solidFill>
          <a:ln/>
        </p:spPr>
      </p:sp>
      <p:sp>
        <p:nvSpPr>
          <p:cNvPr id="14" name="jetson"/>
          <p:cNvSpPr/>
          <p:nvPr/>
        </p:nvSpPr>
        <p:spPr>
          <a:xfrm>
            <a:off x="1325880" y="2926080"/>
            <a:ext cx="1737360" cy="566928"/>
          </a:xfrm>
          <a:prstGeom prst="roundRect">
            <a:avLst>
              <a:gd name="adj" fmla="val 8065"/>
            </a:avLst>
          </a:prstGeom>
          <a:solidFill>
            <a:schemeClr val="tx2"/>
          </a:solidFill>
          <a:ln/>
        </p:spPr>
      </p:sp>
      <p:sp>
        <p:nvSpPr>
          <p:cNvPr id="15" name="lidar"/>
          <p:cNvSpPr/>
          <p:nvPr/>
        </p:nvSpPr>
        <p:spPr>
          <a:xfrm>
            <a:off x="3794760" y="2788920"/>
            <a:ext cx="685800" cy="731520"/>
          </a:xfrm>
          <a:prstGeom prst="can">
            <a:avLst/>
          </a:prstGeom>
          <a:solidFill>
            <a:schemeClr val="accent1"/>
          </a:solidFill>
          <a:ln/>
        </p:spPr>
      </p:sp>
      <p:sp>
        <p:nvSpPr>
          <p:cNvPr id="16" name="badge-201"/>
          <p:cNvSpPr/>
          <p:nvPr/>
        </p:nvSpPr>
        <p:spPr>
          <a:xfrm>
            <a:off x="3950208" y="219456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7" name="badge-202"/>
          <p:cNvSpPr/>
          <p:nvPr/>
        </p:nvSpPr>
        <p:spPr>
          <a:xfrm>
            <a:off x="1984248" y="2331720"/>
            <a:ext cx="384048" cy="384048"/>
          </a:xfrm>
          <a:prstGeom prst="ellipse">
            <a:avLst/>
          </a:prstGeom>
          <a:solidFill>
            <a:schemeClr val="tx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8" name="badge-203"/>
          <p:cNvSpPr/>
          <p:nvPr/>
        </p:nvSpPr>
        <p:spPr>
          <a:xfrm>
            <a:off x="2926080" y="4133088"/>
            <a:ext cx="384048" cy="384048"/>
          </a:xfrm>
          <a:prstGeom prst="ellipse">
            <a:avLst/>
          </a:prstGeom>
          <a:solidFill>
            <a:schemeClr val="tx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9" name="badge-204"/>
          <p:cNvSpPr/>
          <p:nvPr/>
        </p:nvSpPr>
        <p:spPr>
          <a:xfrm>
            <a:off x="3886200" y="4160520"/>
            <a:ext cx="384048" cy="384048"/>
          </a:xfrm>
          <a:prstGeom prst="ellipse">
            <a:avLst/>
          </a:prstGeom>
          <a:solidFill>
            <a:schemeClr val="tx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0" name="badge-205"/>
          <p:cNvSpPr/>
          <p:nvPr/>
        </p:nvSpPr>
        <p:spPr>
          <a:xfrm>
            <a:off x="1691640" y="4133088"/>
            <a:ext cx="384048" cy="384048"/>
          </a:xfrm>
          <a:prstGeom prst="ellipse">
            <a:avLst/>
          </a:prstGeom>
          <a:solidFill>
            <a:schemeClr val="tx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1" name="badge-206"/>
          <p:cNvSpPr/>
          <p:nvPr/>
        </p:nvSpPr>
        <p:spPr>
          <a:xfrm>
            <a:off x="2697480" y="5669280"/>
            <a:ext cx="384048" cy="384048"/>
          </a:xfrm>
          <a:prstGeom prst="ellipse">
            <a:avLst/>
          </a:prstGeom>
          <a:solidFill>
            <a:schemeClr val="tx1"/>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2" name="line-207"/>
          <p:cNvSpPr/>
          <p:nvPr/>
        </p:nvSpPr>
        <p:spPr>
          <a:xfrm>
            <a:off x="4480560" y="3154680"/>
            <a:ext cx="342900" cy="593920"/>
          </a:xfrm>
          <a:prstGeom prst="line">
            <a:avLst/>
          </a:prstGeom>
          <a:noFill/>
          <a:ln w="12700">
            <a:solidFill>
              <a:srgbClr val="E63946">
                <a:alpha val="70000"/>
              </a:srgbClr>
            </a:solidFill>
            <a:prstDash val="solid"/>
          </a:ln>
        </p:spPr>
      </p:sp>
      <p:sp>
        <p:nvSpPr>
          <p:cNvPr id="23" name="line-208"/>
          <p:cNvSpPr/>
          <p:nvPr/>
        </p:nvSpPr>
        <p:spPr>
          <a:xfrm>
            <a:off x="4480560" y="3154680"/>
            <a:ext cx="525353" cy="440824"/>
          </a:xfrm>
          <a:prstGeom prst="line">
            <a:avLst/>
          </a:prstGeom>
          <a:noFill/>
          <a:ln w="12700">
            <a:solidFill>
              <a:srgbClr val="E63946">
                <a:alpha val="70000"/>
              </a:srgbClr>
            </a:solidFill>
            <a:prstDash val="solid"/>
          </a:ln>
        </p:spPr>
      </p:sp>
      <p:sp>
        <p:nvSpPr>
          <p:cNvPr id="24" name="line-209"/>
          <p:cNvSpPr/>
          <p:nvPr/>
        </p:nvSpPr>
        <p:spPr>
          <a:xfrm>
            <a:off x="4480560" y="3154680"/>
            <a:ext cx="644441" cy="234557"/>
          </a:xfrm>
          <a:prstGeom prst="line">
            <a:avLst/>
          </a:prstGeom>
          <a:noFill/>
          <a:ln w="12700">
            <a:solidFill>
              <a:srgbClr val="E63946">
                <a:alpha val="70000"/>
              </a:srgbClr>
            </a:solidFill>
            <a:prstDash val="solid"/>
          </a:ln>
        </p:spPr>
      </p:sp>
      <p:sp>
        <p:nvSpPr>
          <p:cNvPr id="25" name="line-210"/>
          <p:cNvSpPr/>
          <p:nvPr/>
        </p:nvSpPr>
        <p:spPr>
          <a:xfrm>
            <a:off x="4480560" y="3154680"/>
            <a:ext cx="685800" cy="0"/>
          </a:xfrm>
          <a:prstGeom prst="line">
            <a:avLst/>
          </a:prstGeom>
          <a:noFill/>
          <a:ln w="12700">
            <a:solidFill>
              <a:srgbClr val="E63946">
                <a:alpha val="70000"/>
              </a:srgbClr>
            </a:solidFill>
            <a:prstDash val="solid"/>
          </a:ln>
        </p:spPr>
      </p:sp>
      <p:sp>
        <p:nvSpPr>
          <p:cNvPr id="26" name="line-211"/>
          <p:cNvSpPr/>
          <p:nvPr/>
        </p:nvSpPr>
        <p:spPr>
          <a:xfrm flipV="1">
            <a:off x="4480560" y="2920123"/>
            <a:ext cx="644441" cy="234557"/>
          </a:xfrm>
          <a:prstGeom prst="line">
            <a:avLst/>
          </a:prstGeom>
          <a:noFill/>
          <a:ln w="12700">
            <a:solidFill>
              <a:srgbClr val="E63946">
                <a:alpha val="70000"/>
              </a:srgbClr>
            </a:solidFill>
            <a:prstDash val="solid"/>
          </a:ln>
        </p:spPr>
      </p:sp>
      <p:sp>
        <p:nvSpPr>
          <p:cNvPr id="27" name="line-212"/>
          <p:cNvSpPr/>
          <p:nvPr/>
        </p:nvSpPr>
        <p:spPr>
          <a:xfrm flipV="1">
            <a:off x="4480560" y="2713856"/>
            <a:ext cx="525353" cy="440824"/>
          </a:xfrm>
          <a:prstGeom prst="line">
            <a:avLst/>
          </a:prstGeom>
          <a:noFill/>
          <a:ln w="12700">
            <a:solidFill>
              <a:srgbClr val="E63946">
                <a:alpha val="70000"/>
              </a:srgbClr>
            </a:solidFill>
            <a:prstDash val="solid"/>
          </a:ln>
        </p:spPr>
      </p:sp>
      <p:sp>
        <p:nvSpPr>
          <p:cNvPr id="28" name="line-213"/>
          <p:cNvSpPr/>
          <p:nvPr/>
        </p:nvSpPr>
        <p:spPr>
          <a:xfrm flipV="1">
            <a:off x="4480560" y="2560760"/>
            <a:ext cx="342900" cy="593920"/>
          </a:xfrm>
          <a:prstGeom prst="line">
            <a:avLst/>
          </a:prstGeom>
          <a:noFill/>
          <a:ln w="12700">
            <a:solidFill>
              <a:srgbClr val="E63946">
                <a:alpha val="70000"/>
              </a:srgbClr>
            </a:solidFill>
            <a:prstDash val="solid"/>
          </a:ln>
        </p:spPr>
      </p:sp>
      <p:sp>
        <p:nvSpPr>
          <p:cNvPr id="29" name="card-214"/>
          <p:cNvSpPr/>
          <p:nvPr/>
        </p:nvSpPr>
        <p:spPr>
          <a:xfrm>
            <a:off x="5605272" y="1463040"/>
            <a:ext cx="3017520" cy="1371600"/>
          </a:xfrm>
          <a:prstGeom prst="roundRect">
            <a:avLst>
              <a:gd name="adj" fmla="val 5333"/>
            </a:avLst>
          </a:prstGeom>
          <a:solidFill>
            <a:schemeClr val="bg1"/>
          </a:solidFill>
          <a:ln/>
          <a:effectLst>
            <a:outerShdw sx="100000" sy="100000" kx="0" ky="0" algn="bl" rotWithShape="0" blurRad="101600" dist="25400" dir="5400000">
              <a:srgbClr val="000000">
                <a:alpha val="12000"/>
              </a:srgbClr>
            </a:outerShdw>
          </a:effectLst>
        </p:spPr>
      </p:sp>
      <p:sp>
        <p:nvSpPr>
          <p:cNvPr id="30" name="badge-215"/>
          <p:cNvSpPr/>
          <p:nvPr/>
        </p:nvSpPr>
        <p:spPr>
          <a:xfrm>
            <a:off x="5788152" y="164592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31" name="text-216"/>
          <p:cNvSpPr txBox="1"/>
          <p:nvPr/>
        </p:nvSpPr>
        <p:spPr>
          <a:xfrm>
            <a:off x="6291072" y="1645920"/>
            <a:ext cx="2194560" cy="384048"/>
          </a:xfrm>
          <a:prstGeom prst="rect">
            <a:avLst/>
          </a:prstGeom>
          <a:noFill/>
          <a:ln/>
        </p:spPr>
        <p:txBody>
          <a:bodyPr wrap="square" lIns="0" tIns="0" rIns="0" bIns="0" rtlCol="0" anchor="ctr"/>
          <a:lstStyle/>
          <a:p>
            <a:pPr indent="0" marL="0">
              <a:buNone/>
            </a:pPr>
            <a:r>
              <a:rPr lang="en-US" sz="1600" b="1" dirty="0">
                <a:solidFill>
                  <a:schemeClr val="tx1"/>
                </a:solidFill>
              </a:rPr>
              <a:t>2D LiDAR</a:t>
            </a:r>
            <a:endParaRPr lang="en-US" sz="1600" dirty="0"/>
          </a:p>
        </p:txBody>
      </p:sp>
      <p:sp>
        <p:nvSpPr>
          <p:cNvPr id="32" name="text-217"/>
          <p:cNvSpPr txBox="1"/>
          <p:nvPr/>
        </p:nvSpPr>
        <p:spPr>
          <a:xfrm>
            <a:off x="5788152" y="2121408"/>
            <a:ext cx="2651760" cy="640080"/>
          </a:xfrm>
          <a:prstGeom prst="rect">
            <a:avLst/>
          </a:prstGeom>
          <a:noFill/>
          <a:ln/>
        </p:spPr>
        <p:txBody>
          <a:bodyPr wrap="square" lIns="0" tIns="0" rIns="0" bIns="0" rtlCol="0" anchor="t"/>
          <a:lstStyle/>
          <a:p>
            <a:pPr indent="0" marL="0">
              <a:buNone/>
            </a:pPr>
            <a:r>
              <a:rPr lang="en-US" sz="1300" dirty="0">
                <a:solidFill>
                  <a:schemeClr val="tx2"/>
                </a:solidFill>
              </a:rPr>
              <a:t>Hokuyo UTM-30LX or 10LX: a 270° laser scan, about 40 times a second.</a:t>
            </a:r>
            <a:endParaRPr lang="en-US" sz="1300" dirty="0"/>
          </a:p>
        </p:txBody>
      </p:sp>
      <p:sp>
        <p:nvSpPr>
          <p:cNvPr id="33" name="card-218"/>
          <p:cNvSpPr/>
          <p:nvPr/>
        </p:nvSpPr>
        <p:spPr>
          <a:xfrm>
            <a:off x="8897112" y="1463040"/>
            <a:ext cx="3017520" cy="1371600"/>
          </a:xfrm>
          <a:prstGeom prst="roundRect">
            <a:avLst>
              <a:gd name="adj" fmla="val 5333"/>
            </a:avLst>
          </a:prstGeom>
          <a:solidFill>
            <a:schemeClr val="bg1"/>
          </a:solidFill>
          <a:ln/>
          <a:effectLst>
            <a:outerShdw sx="100000" sy="100000" kx="0" ky="0" algn="bl" rotWithShape="0" blurRad="101600" dist="25400" dir="5400000">
              <a:srgbClr val="000000">
                <a:alpha val="12000"/>
              </a:srgbClr>
            </a:outerShdw>
          </a:effectLst>
        </p:spPr>
      </p:sp>
      <p:sp>
        <p:nvSpPr>
          <p:cNvPr id="34" name="badge-219"/>
          <p:cNvSpPr/>
          <p:nvPr/>
        </p:nvSpPr>
        <p:spPr>
          <a:xfrm>
            <a:off x="9079992" y="1645920"/>
            <a:ext cx="384048" cy="384048"/>
          </a:xfrm>
          <a:prstGeom prst="ellipse">
            <a:avLst/>
          </a:prstGeom>
          <a:solidFill>
            <a:schemeClr val="tx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5" name="text-220"/>
          <p:cNvSpPr txBox="1"/>
          <p:nvPr/>
        </p:nvSpPr>
        <p:spPr>
          <a:xfrm>
            <a:off x="9582912" y="1645920"/>
            <a:ext cx="2194560" cy="384048"/>
          </a:xfrm>
          <a:prstGeom prst="rect">
            <a:avLst/>
          </a:prstGeom>
          <a:noFill/>
          <a:ln/>
        </p:spPr>
        <p:txBody>
          <a:bodyPr wrap="square" lIns="0" tIns="0" rIns="0" bIns="0" rtlCol="0" anchor="ctr"/>
          <a:lstStyle/>
          <a:p>
            <a:pPr indent="0" marL="0">
              <a:buNone/>
            </a:pPr>
            <a:r>
              <a:rPr lang="en-US" sz="1600" b="1" dirty="0">
                <a:solidFill>
                  <a:schemeClr val="tx1"/>
                </a:solidFill>
              </a:rPr>
              <a:t>Onboard computer</a:t>
            </a:r>
            <a:endParaRPr lang="en-US" sz="1600" dirty="0"/>
          </a:p>
        </p:txBody>
      </p:sp>
      <p:sp>
        <p:nvSpPr>
          <p:cNvPr id="36" name="text-221"/>
          <p:cNvSpPr txBox="1"/>
          <p:nvPr/>
        </p:nvSpPr>
        <p:spPr>
          <a:xfrm>
            <a:off x="9079992" y="2121408"/>
            <a:ext cx="2651760" cy="640080"/>
          </a:xfrm>
          <a:prstGeom prst="rect">
            <a:avLst/>
          </a:prstGeom>
          <a:noFill/>
          <a:ln/>
        </p:spPr>
        <p:txBody>
          <a:bodyPr wrap="square" lIns="0" tIns="0" rIns="0" bIns="0" rtlCol="0" anchor="t"/>
          <a:lstStyle/>
          <a:p>
            <a:pPr indent="0" marL="0">
              <a:buNone/>
            </a:pPr>
            <a:r>
              <a:rPr lang="en-US" sz="1300" dirty="0">
                <a:solidFill>
                  <a:schemeClr val="tx2"/>
                </a:solidFill>
              </a:rPr>
              <a:t>NVIDIA Jetson (Xavier NX in the official build) running ROS 2.</a:t>
            </a:r>
            <a:endParaRPr lang="en-US" sz="1300" dirty="0"/>
          </a:p>
        </p:txBody>
      </p:sp>
      <p:sp>
        <p:nvSpPr>
          <p:cNvPr id="37" name="card-222"/>
          <p:cNvSpPr/>
          <p:nvPr/>
        </p:nvSpPr>
        <p:spPr>
          <a:xfrm>
            <a:off x="5605272" y="3035808"/>
            <a:ext cx="3017520" cy="1371600"/>
          </a:xfrm>
          <a:prstGeom prst="roundRect">
            <a:avLst>
              <a:gd name="adj" fmla="val 5333"/>
            </a:avLst>
          </a:prstGeom>
          <a:solidFill>
            <a:schemeClr val="bg1"/>
          </a:solidFill>
          <a:ln/>
          <a:effectLst>
            <a:outerShdw sx="100000" sy="100000" kx="0" ky="0" algn="bl" rotWithShape="0" blurRad="101600" dist="25400" dir="5400000">
              <a:srgbClr val="000000">
                <a:alpha val="12000"/>
              </a:srgbClr>
            </a:outerShdw>
          </a:effectLst>
        </p:spPr>
      </p:sp>
      <p:sp>
        <p:nvSpPr>
          <p:cNvPr id="38" name="badge-223"/>
          <p:cNvSpPr/>
          <p:nvPr/>
        </p:nvSpPr>
        <p:spPr>
          <a:xfrm>
            <a:off x="5788152" y="3218688"/>
            <a:ext cx="384048" cy="384048"/>
          </a:xfrm>
          <a:prstGeom prst="ellipse">
            <a:avLst/>
          </a:prstGeom>
          <a:solidFill>
            <a:schemeClr val="tx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9" name="text-224"/>
          <p:cNvSpPr txBox="1"/>
          <p:nvPr/>
        </p:nvSpPr>
        <p:spPr>
          <a:xfrm>
            <a:off x="6291072" y="3218688"/>
            <a:ext cx="2194560" cy="384048"/>
          </a:xfrm>
          <a:prstGeom prst="rect">
            <a:avLst/>
          </a:prstGeom>
          <a:noFill/>
          <a:ln/>
        </p:spPr>
        <p:txBody>
          <a:bodyPr wrap="square" lIns="0" tIns="0" rIns="0" bIns="0" rtlCol="0" anchor="ctr"/>
          <a:lstStyle/>
          <a:p>
            <a:pPr indent="0" marL="0">
              <a:buNone/>
            </a:pPr>
            <a:r>
              <a:rPr lang="en-US" sz="1600" b="1" dirty="0">
                <a:solidFill>
                  <a:schemeClr val="tx1"/>
                </a:solidFill>
              </a:rPr>
              <a:t>VESC motor controller</a:t>
            </a:r>
            <a:endParaRPr lang="en-US" sz="1600" dirty="0"/>
          </a:p>
        </p:txBody>
      </p:sp>
      <p:sp>
        <p:nvSpPr>
          <p:cNvPr id="40" name="text-225"/>
          <p:cNvSpPr txBox="1"/>
          <p:nvPr/>
        </p:nvSpPr>
        <p:spPr>
          <a:xfrm>
            <a:off x="5788152" y="3694176"/>
            <a:ext cx="2651760" cy="640080"/>
          </a:xfrm>
          <a:prstGeom prst="rect">
            <a:avLst/>
          </a:prstGeom>
          <a:noFill/>
          <a:ln/>
        </p:spPr>
        <p:txBody>
          <a:bodyPr wrap="square" lIns="0" tIns="0" rIns="0" bIns="0" rtlCol="0" anchor="t"/>
          <a:lstStyle/>
          <a:p>
            <a:pPr indent="0" marL="0">
              <a:buNone/>
            </a:pPr>
            <a:r>
              <a:rPr lang="en-US" sz="1300" dirty="0">
                <a:solidFill>
                  <a:schemeClr val="tx2"/>
                </a:solidFill>
              </a:rPr>
              <a:t>Drives the motor and reports wheel speed for odometry.</a:t>
            </a:r>
            <a:endParaRPr lang="en-US" sz="1300" dirty="0"/>
          </a:p>
        </p:txBody>
      </p:sp>
      <p:sp>
        <p:nvSpPr>
          <p:cNvPr id="41" name="card-226"/>
          <p:cNvSpPr/>
          <p:nvPr/>
        </p:nvSpPr>
        <p:spPr>
          <a:xfrm>
            <a:off x="8897112" y="3035808"/>
            <a:ext cx="3017520" cy="1371600"/>
          </a:xfrm>
          <a:prstGeom prst="roundRect">
            <a:avLst>
              <a:gd name="adj" fmla="val 5333"/>
            </a:avLst>
          </a:prstGeom>
          <a:solidFill>
            <a:schemeClr val="bg1"/>
          </a:solidFill>
          <a:ln/>
          <a:effectLst>
            <a:outerShdw sx="100000" sy="100000" kx="0" ky="0" algn="bl" rotWithShape="0" blurRad="101600" dist="25400" dir="5400000">
              <a:srgbClr val="000000">
                <a:alpha val="12000"/>
              </a:srgbClr>
            </a:outerShdw>
          </a:effectLst>
        </p:spPr>
      </p:sp>
      <p:sp>
        <p:nvSpPr>
          <p:cNvPr id="42" name="badge-227"/>
          <p:cNvSpPr/>
          <p:nvPr/>
        </p:nvSpPr>
        <p:spPr>
          <a:xfrm>
            <a:off x="9079992" y="3218688"/>
            <a:ext cx="384048" cy="384048"/>
          </a:xfrm>
          <a:prstGeom prst="ellipse">
            <a:avLst/>
          </a:prstGeom>
          <a:solidFill>
            <a:schemeClr val="tx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43" name="text-228"/>
          <p:cNvSpPr txBox="1"/>
          <p:nvPr/>
        </p:nvSpPr>
        <p:spPr>
          <a:xfrm>
            <a:off x="9582912" y="3218688"/>
            <a:ext cx="2194560" cy="384048"/>
          </a:xfrm>
          <a:prstGeom prst="rect">
            <a:avLst/>
          </a:prstGeom>
          <a:noFill/>
          <a:ln/>
        </p:spPr>
        <p:txBody>
          <a:bodyPr wrap="square" lIns="0" tIns="0" rIns="0" bIns="0" rtlCol="0" anchor="ctr"/>
          <a:lstStyle/>
          <a:p>
            <a:pPr indent="0" marL="0">
              <a:buNone/>
            </a:pPr>
            <a:r>
              <a:rPr lang="en-US" sz="1600" b="1" dirty="0">
                <a:solidFill>
                  <a:schemeClr val="tx1"/>
                </a:solidFill>
              </a:rPr>
              <a:t>Steering servo</a:t>
            </a:r>
            <a:endParaRPr lang="en-US" sz="1600" dirty="0"/>
          </a:p>
        </p:txBody>
      </p:sp>
      <p:sp>
        <p:nvSpPr>
          <p:cNvPr id="44" name="text-229"/>
          <p:cNvSpPr txBox="1"/>
          <p:nvPr/>
        </p:nvSpPr>
        <p:spPr>
          <a:xfrm>
            <a:off x="9079992" y="3694176"/>
            <a:ext cx="2651760" cy="640080"/>
          </a:xfrm>
          <a:prstGeom prst="rect">
            <a:avLst/>
          </a:prstGeom>
          <a:noFill/>
          <a:ln/>
        </p:spPr>
        <p:txBody>
          <a:bodyPr wrap="square" lIns="0" tIns="0" rIns="0" bIns="0" rtlCol="0" anchor="t"/>
          <a:lstStyle/>
          <a:p>
            <a:pPr indent="0" marL="0">
              <a:buNone/>
            </a:pPr>
            <a:r>
              <a:rPr lang="en-US" sz="1300" dirty="0">
                <a:solidFill>
                  <a:schemeClr val="tx2"/>
                </a:solidFill>
              </a:rPr>
              <a:t>Turns the front wheels to the commanded angle.</a:t>
            </a:r>
            <a:endParaRPr lang="en-US" sz="1300" dirty="0"/>
          </a:p>
        </p:txBody>
      </p:sp>
      <p:sp>
        <p:nvSpPr>
          <p:cNvPr id="45" name="card-230"/>
          <p:cNvSpPr/>
          <p:nvPr/>
        </p:nvSpPr>
        <p:spPr>
          <a:xfrm>
            <a:off x="5605272" y="4608576"/>
            <a:ext cx="3017520" cy="1371600"/>
          </a:xfrm>
          <a:prstGeom prst="roundRect">
            <a:avLst>
              <a:gd name="adj" fmla="val 5333"/>
            </a:avLst>
          </a:prstGeom>
          <a:solidFill>
            <a:schemeClr val="bg1"/>
          </a:solidFill>
          <a:ln/>
          <a:effectLst>
            <a:outerShdw sx="100000" sy="100000" kx="0" ky="0" algn="bl" rotWithShape="0" blurRad="101600" dist="25400" dir="5400000">
              <a:srgbClr val="000000">
                <a:alpha val="12000"/>
              </a:srgbClr>
            </a:outerShdw>
          </a:effectLst>
        </p:spPr>
      </p:sp>
      <p:sp>
        <p:nvSpPr>
          <p:cNvPr id="46" name="badge-231"/>
          <p:cNvSpPr/>
          <p:nvPr/>
        </p:nvSpPr>
        <p:spPr>
          <a:xfrm>
            <a:off x="5788152" y="4791456"/>
            <a:ext cx="384048" cy="384048"/>
          </a:xfrm>
          <a:prstGeom prst="ellipse">
            <a:avLst/>
          </a:prstGeom>
          <a:solidFill>
            <a:schemeClr val="tx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7" name="text-232"/>
          <p:cNvSpPr txBox="1"/>
          <p:nvPr/>
        </p:nvSpPr>
        <p:spPr>
          <a:xfrm>
            <a:off x="6291072" y="4791456"/>
            <a:ext cx="2194560" cy="384048"/>
          </a:xfrm>
          <a:prstGeom prst="rect">
            <a:avLst/>
          </a:prstGeom>
          <a:noFill/>
          <a:ln/>
        </p:spPr>
        <p:txBody>
          <a:bodyPr wrap="square" lIns="0" tIns="0" rIns="0" bIns="0" rtlCol="0" anchor="ctr"/>
          <a:lstStyle/>
          <a:p>
            <a:pPr indent="0" marL="0">
              <a:buNone/>
            </a:pPr>
            <a:r>
              <a:rPr lang="en-US" sz="1600" b="1" dirty="0">
                <a:solidFill>
                  <a:schemeClr val="tx1"/>
                </a:solidFill>
              </a:rPr>
              <a:t>LiPo battery</a:t>
            </a:r>
            <a:endParaRPr lang="en-US" sz="1600" dirty="0"/>
          </a:p>
        </p:txBody>
      </p:sp>
      <p:sp>
        <p:nvSpPr>
          <p:cNvPr id="48" name="text-233"/>
          <p:cNvSpPr txBox="1"/>
          <p:nvPr/>
        </p:nvSpPr>
        <p:spPr>
          <a:xfrm>
            <a:off x="5788152" y="5266944"/>
            <a:ext cx="2651760" cy="640080"/>
          </a:xfrm>
          <a:prstGeom prst="rect">
            <a:avLst/>
          </a:prstGeom>
          <a:noFill/>
          <a:ln/>
        </p:spPr>
        <p:txBody>
          <a:bodyPr wrap="square" lIns="0" tIns="0" rIns="0" bIns="0" rtlCol="0" anchor="t"/>
          <a:lstStyle/>
          <a:p>
            <a:pPr indent="0" marL="0">
              <a:buNone/>
            </a:pPr>
            <a:r>
              <a:rPr lang="en-US" sz="1300" dirty="0">
                <a:solidFill>
                  <a:schemeClr val="tx2"/>
                </a:solidFill>
              </a:rPr>
              <a:t>Powers the motor, computer and sensors.</a:t>
            </a:r>
            <a:endParaRPr lang="en-US" sz="1300" dirty="0"/>
          </a:p>
        </p:txBody>
      </p:sp>
      <p:sp>
        <p:nvSpPr>
          <p:cNvPr id="49" name="card-234"/>
          <p:cNvSpPr/>
          <p:nvPr/>
        </p:nvSpPr>
        <p:spPr>
          <a:xfrm>
            <a:off x="8897112" y="4608576"/>
            <a:ext cx="3017520" cy="1371600"/>
          </a:xfrm>
          <a:prstGeom prst="roundRect">
            <a:avLst>
              <a:gd name="adj" fmla="val 5333"/>
            </a:avLst>
          </a:prstGeom>
          <a:solidFill>
            <a:schemeClr val="bg1"/>
          </a:solidFill>
          <a:ln/>
          <a:effectLst>
            <a:outerShdw sx="100000" sy="100000" kx="0" ky="0" algn="bl" rotWithShape="0" blurRad="101600" dist="25400" dir="5400000">
              <a:srgbClr val="000000">
                <a:alpha val="12000"/>
              </a:srgbClr>
            </a:outerShdw>
          </a:effectLst>
        </p:spPr>
      </p:sp>
      <p:sp>
        <p:nvSpPr>
          <p:cNvPr id="50" name="badge-235"/>
          <p:cNvSpPr/>
          <p:nvPr/>
        </p:nvSpPr>
        <p:spPr>
          <a:xfrm>
            <a:off x="9079992" y="4791456"/>
            <a:ext cx="384048" cy="384048"/>
          </a:xfrm>
          <a:prstGeom prst="ellipse">
            <a:avLst/>
          </a:prstGeom>
          <a:solidFill>
            <a:schemeClr val="tx1"/>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51" name="text-236"/>
          <p:cNvSpPr txBox="1"/>
          <p:nvPr/>
        </p:nvSpPr>
        <p:spPr>
          <a:xfrm>
            <a:off x="9582912" y="4791456"/>
            <a:ext cx="2194560" cy="384048"/>
          </a:xfrm>
          <a:prstGeom prst="rect">
            <a:avLst/>
          </a:prstGeom>
          <a:noFill/>
          <a:ln/>
        </p:spPr>
        <p:txBody>
          <a:bodyPr wrap="square" lIns="0" tIns="0" rIns="0" bIns="0" rtlCol="0" anchor="ctr"/>
          <a:lstStyle/>
          <a:p>
            <a:pPr indent="0" marL="0">
              <a:buNone/>
            </a:pPr>
            <a:r>
              <a:rPr lang="en-US" sz="1600" b="1" dirty="0">
                <a:solidFill>
                  <a:schemeClr val="tx1"/>
                </a:solidFill>
              </a:rPr>
              <a:t>Chassis</a:t>
            </a:r>
            <a:endParaRPr lang="en-US" sz="1600" dirty="0"/>
          </a:p>
        </p:txBody>
      </p:sp>
      <p:sp>
        <p:nvSpPr>
          <p:cNvPr id="52" name="text-237"/>
          <p:cNvSpPr txBox="1"/>
          <p:nvPr/>
        </p:nvSpPr>
        <p:spPr>
          <a:xfrm>
            <a:off x="9079992" y="5266944"/>
            <a:ext cx="2651760" cy="640080"/>
          </a:xfrm>
          <a:prstGeom prst="rect">
            <a:avLst/>
          </a:prstGeom>
          <a:noFill/>
          <a:ln/>
        </p:spPr>
        <p:txBody>
          <a:bodyPr wrap="square" lIns="0" tIns="0" rIns="0" bIns="0" rtlCol="0" anchor="t"/>
          <a:lstStyle/>
          <a:p>
            <a:pPr indent="0" marL="0">
              <a:buNone/>
            </a:pPr>
            <a:r>
              <a:rPr lang="en-US" sz="1300" dirty="0">
                <a:solidFill>
                  <a:schemeClr val="tx2"/>
                </a:solidFill>
              </a:rPr>
              <a:t>Traxxas Slash 4x4: a 1/10-scale RC truck as the base.</a:t>
            </a:r>
            <a:endParaRPr lang="en-US" sz="1300" dirty="0"/>
          </a:p>
        </p:txBody>
      </p:sp>
      <p:sp>
        <p:nvSpPr>
          <p:cNvPr id="53" name="text-238"/>
          <p:cNvSpPr txBox="1"/>
          <p:nvPr/>
        </p:nvSpPr>
        <p:spPr>
          <a:xfrm>
            <a:off x="548640" y="1508760"/>
            <a:ext cx="4754880" cy="320040"/>
          </a:xfrm>
          <a:prstGeom prst="rect">
            <a:avLst/>
          </a:prstGeom>
          <a:noFill/>
          <a:ln/>
        </p:spPr>
        <p:txBody>
          <a:bodyPr wrap="square" lIns="0" tIns="0" rIns="0" bIns="0" rtlCol="0" anchor="t"/>
          <a:lstStyle/>
          <a:p>
            <a:pPr indent="0" marL="0">
              <a:buNone/>
            </a:pPr>
            <a:r>
              <a:rPr lang="en-US" sz="1200" i="1" dirty="0">
                <a:solidFill>
                  <a:schemeClr val="accent4"/>
                </a:solidFill>
              </a:rPr>
              <a:t>Simplified side view, car facing right. Exact parts vary by build.</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How the races work</a:t>
            </a:r>
            <a:endParaRPr lang="en-US" sz="3600" dirty="0"/>
          </a:p>
        </p:txBody>
      </p:sp>
      <p:sp>
        <p:nvSpPr>
          <p:cNvPr id="3" name="card-239"/>
          <p:cNvSpPr/>
          <p:nvPr/>
        </p:nvSpPr>
        <p:spPr>
          <a:xfrm>
            <a:off x="548640" y="1463040"/>
            <a:ext cx="5408676" cy="3749040"/>
          </a:xfrm>
          <a:prstGeom prst="roundRect">
            <a:avLst>
              <a:gd name="adj" fmla="val 1951"/>
            </a:avLst>
          </a:prstGeom>
          <a:solidFill>
            <a:schemeClr val="bg1"/>
          </a:solidFill>
          <a:ln/>
          <a:effectLst>
            <a:outerShdw sx="100000" sy="100000" kx="0" ky="0" algn="bl" rotWithShape="0" blurRad="101600" dist="25400" dir="5400000">
              <a:srgbClr val="000000">
                <a:alpha val="12000"/>
              </a:srgbClr>
            </a:outerShdw>
          </a:effectLst>
        </p:spPr>
      </p:sp>
      <p:sp>
        <p:nvSpPr>
          <p:cNvPr id="4" name="icon-circle-240"/>
          <p:cNvSpPr/>
          <p:nvPr/>
        </p:nvSpPr>
        <p:spPr>
          <a:xfrm>
            <a:off x="868680" y="1691640"/>
            <a:ext cx="685800" cy="685800"/>
          </a:xfrm>
          <a:prstGeom prst="ellipse">
            <a:avLst/>
          </a:prstGeom>
          <a:solidFill>
            <a:schemeClr val="accent1"/>
          </a:solidFill>
          <a:ln/>
        </p:spPr>
      </p:sp>
      <p:pic>
        <p:nvPicPr>
          <p:cNvPr id="5" name="icon-241" descr="preencoded.png">    </p:cNvPr>
          <p:cNvPicPr>
            <a:picLocks noChangeAspect="1"/>
          </p:cNvPicPr>
          <p:nvPr/>
        </p:nvPicPr>
        <p:blipFill>
          <a:blip r:embed="rId1"/>
          <a:stretch>
            <a:fillRect/>
          </a:stretch>
        </p:blipFill>
        <p:spPr>
          <a:xfrm>
            <a:off x="1040130" y="1863090"/>
            <a:ext cx="342900" cy="342900"/>
          </a:xfrm>
          <a:prstGeom prst="rect">
            <a:avLst/>
          </a:prstGeom>
        </p:spPr>
      </p:pic>
      <p:sp>
        <p:nvSpPr>
          <p:cNvPr id="6" name="text-242"/>
          <p:cNvSpPr txBox="1"/>
          <p:nvPr/>
        </p:nvSpPr>
        <p:spPr>
          <a:xfrm>
            <a:off x="1737360" y="1691640"/>
            <a:ext cx="3945636" cy="41148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Physical races</a:t>
            </a:r>
            <a:endParaRPr lang="en-US" sz="2200" dirty="0"/>
          </a:p>
        </p:txBody>
      </p:sp>
      <p:sp>
        <p:nvSpPr>
          <p:cNvPr id="7" name="text-243"/>
          <p:cNvSpPr txBox="1"/>
          <p:nvPr/>
        </p:nvSpPr>
        <p:spPr>
          <a:xfrm>
            <a:off x="1737360" y="2103120"/>
            <a:ext cx="3945636" cy="320040"/>
          </a:xfrm>
          <a:prstGeom prst="rect">
            <a:avLst/>
          </a:prstGeom>
          <a:noFill/>
          <a:ln/>
        </p:spPr>
        <p:txBody>
          <a:bodyPr wrap="square" lIns="0" tIns="0" rIns="0" bIns="0" rtlCol="0" anchor="t"/>
          <a:lstStyle/>
          <a:p>
            <a:pPr indent="0" marL="0">
              <a:buNone/>
            </a:pPr>
            <a:r>
              <a:rPr lang="en-US" sz="1400" i="1" dirty="0">
                <a:solidFill>
                  <a:schemeClr val="accent4"/>
                </a:solidFill>
              </a:rPr>
              <a:t>e.g. ICRA 2026</a:t>
            </a:r>
            <a:endParaRPr lang="en-US" sz="1400" dirty="0"/>
          </a:p>
        </p:txBody>
      </p:sp>
      <p:sp>
        <p:nvSpPr>
          <p:cNvPr id="8" name="badge-244"/>
          <p:cNvSpPr/>
          <p:nvPr/>
        </p:nvSpPr>
        <p:spPr>
          <a:xfrm>
            <a:off x="960120" y="2788920"/>
            <a:ext cx="502920" cy="50292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9" name="text-245"/>
          <p:cNvSpPr txBox="1"/>
          <p:nvPr/>
        </p:nvSpPr>
        <p:spPr>
          <a:xfrm>
            <a:off x="1737360" y="2743200"/>
            <a:ext cx="3945636" cy="365760"/>
          </a:xfrm>
          <a:prstGeom prst="rect">
            <a:avLst/>
          </a:prstGeom>
          <a:noFill/>
          <a:ln/>
        </p:spPr>
        <p:txBody>
          <a:bodyPr wrap="square" lIns="0" tIns="0" rIns="0" bIns="0" rtlCol="0" anchor="t"/>
          <a:lstStyle/>
          <a:p>
            <a:pPr indent="0" marL="0">
              <a:buNone/>
            </a:pPr>
            <a:r>
              <a:rPr lang="en-US" sz="1800" b="1" dirty="0">
                <a:solidFill>
                  <a:schemeClr val="tx1"/>
                </a:solidFill>
              </a:rPr>
              <a:t>Time trial</a:t>
            </a:r>
            <a:endParaRPr lang="en-US" sz="1800" dirty="0"/>
          </a:p>
        </p:txBody>
      </p:sp>
      <p:sp>
        <p:nvSpPr>
          <p:cNvPr id="10" name="text-246"/>
          <p:cNvSpPr txBox="1"/>
          <p:nvPr/>
        </p:nvSpPr>
        <p:spPr>
          <a:xfrm>
            <a:off x="1737360" y="3127248"/>
            <a:ext cx="3945636" cy="594360"/>
          </a:xfrm>
          <a:prstGeom prst="rect">
            <a:avLst/>
          </a:prstGeom>
          <a:noFill/>
          <a:ln/>
        </p:spPr>
        <p:txBody>
          <a:bodyPr wrap="square" lIns="0" tIns="0" rIns="0" bIns="0" rtlCol="0" anchor="t"/>
          <a:lstStyle/>
          <a:p>
            <a:pPr indent="0" marL="0">
              <a:buNone/>
            </a:pPr>
            <a:r>
              <a:rPr lang="en-US" sz="1500" dirty="0">
                <a:solidFill>
                  <a:schemeClr val="tx2"/>
                </a:solidFill>
              </a:rPr>
              <a:t>Solo laps against the clock on the real track.</a:t>
            </a:r>
            <a:endParaRPr lang="en-US" sz="1500" dirty="0"/>
          </a:p>
        </p:txBody>
      </p:sp>
      <p:sp>
        <p:nvSpPr>
          <p:cNvPr id="11" name="badge-247"/>
          <p:cNvSpPr/>
          <p:nvPr/>
        </p:nvSpPr>
        <p:spPr>
          <a:xfrm>
            <a:off x="960120" y="3977640"/>
            <a:ext cx="502920" cy="50292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2" name="text-248"/>
          <p:cNvSpPr txBox="1"/>
          <p:nvPr/>
        </p:nvSpPr>
        <p:spPr>
          <a:xfrm>
            <a:off x="1737360" y="3931920"/>
            <a:ext cx="3945636" cy="365760"/>
          </a:xfrm>
          <a:prstGeom prst="rect">
            <a:avLst/>
          </a:prstGeom>
          <a:noFill/>
          <a:ln/>
        </p:spPr>
        <p:txBody>
          <a:bodyPr wrap="square" lIns="0" tIns="0" rIns="0" bIns="0" rtlCol="0" anchor="t"/>
          <a:lstStyle/>
          <a:p>
            <a:pPr indent="0" marL="0">
              <a:buNone/>
            </a:pPr>
            <a:r>
              <a:rPr lang="en-US" sz="1800" b="1" dirty="0">
                <a:solidFill>
                  <a:schemeClr val="tx1"/>
                </a:solidFill>
              </a:rPr>
              <a:t>Head-to-head</a:t>
            </a:r>
            <a:endParaRPr lang="en-US" sz="1800" dirty="0"/>
          </a:p>
        </p:txBody>
      </p:sp>
      <p:sp>
        <p:nvSpPr>
          <p:cNvPr id="13" name="text-249"/>
          <p:cNvSpPr txBox="1"/>
          <p:nvPr/>
        </p:nvSpPr>
        <p:spPr>
          <a:xfrm>
            <a:off x="1737360" y="4315968"/>
            <a:ext cx="3945636" cy="594360"/>
          </a:xfrm>
          <a:prstGeom prst="rect">
            <a:avLst/>
          </a:prstGeom>
          <a:noFill/>
          <a:ln/>
        </p:spPr>
        <p:txBody>
          <a:bodyPr wrap="square" lIns="0" tIns="0" rIns="0" bIns="0" rtlCol="0" anchor="t"/>
          <a:lstStyle/>
          <a:p>
            <a:pPr indent="0" marL="0">
              <a:buNone/>
            </a:pPr>
            <a:r>
              <a:rPr lang="en-US" sz="1500" dirty="0">
                <a:solidFill>
                  <a:schemeClr val="tx2"/>
                </a:solidFill>
              </a:rPr>
              <a:t>Two cars on track at once: overtake safely to advance.</a:t>
            </a:r>
            <a:endParaRPr lang="en-US" sz="1500" dirty="0"/>
          </a:p>
        </p:txBody>
      </p:sp>
      <p:sp>
        <p:nvSpPr>
          <p:cNvPr id="14" name="card-250"/>
          <p:cNvSpPr/>
          <p:nvPr/>
        </p:nvSpPr>
        <p:spPr>
          <a:xfrm>
            <a:off x="6231636" y="1463040"/>
            <a:ext cx="5408676" cy="3749040"/>
          </a:xfrm>
          <a:prstGeom prst="roundRect">
            <a:avLst>
              <a:gd name="adj" fmla="val 1951"/>
            </a:avLst>
          </a:prstGeom>
          <a:solidFill>
            <a:schemeClr val="tx1"/>
          </a:solidFill>
          <a:ln/>
          <a:effectLst>
            <a:outerShdw sx="100000" sy="100000" kx="0" ky="0" algn="bl" rotWithShape="0" blurRad="101600" dist="25400" dir="5400000">
              <a:srgbClr val="000000">
                <a:alpha val="12000"/>
              </a:srgbClr>
            </a:outerShdw>
          </a:effectLst>
        </p:spPr>
      </p:sp>
      <p:sp>
        <p:nvSpPr>
          <p:cNvPr id="15" name="icon-circle-251"/>
          <p:cNvSpPr/>
          <p:nvPr/>
        </p:nvSpPr>
        <p:spPr>
          <a:xfrm>
            <a:off x="6551676" y="1691640"/>
            <a:ext cx="685800" cy="685800"/>
          </a:xfrm>
          <a:prstGeom prst="ellipse">
            <a:avLst/>
          </a:prstGeom>
          <a:solidFill>
            <a:schemeClr val="accent1"/>
          </a:solidFill>
          <a:ln/>
        </p:spPr>
      </p:sp>
      <p:pic>
        <p:nvPicPr>
          <p:cNvPr id="16" name="icon-252" descr="preencoded.png">    </p:cNvPr>
          <p:cNvPicPr>
            <a:picLocks noChangeAspect="1"/>
          </p:cNvPicPr>
          <p:nvPr/>
        </p:nvPicPr>
        <p:blipFill>
          <a:blip r:embed="rId2"/>
          <a:stretch>
            <a:fillRect/>
          </a:stretch>
        </p:blipFill>
        <p:spPr>
          <a:xfrm>
            <a:off x="6723126" y="1863090"/>
            <a:ext cx="342900" cy="342900"/>
          </a:xfrm>
          <a:prstGeom prst="rect">
            <a:avLst/>
          </a:prstGeom>
        </p:spPr>
      </p:pic>
      <p:sp>
        <p:nvSpPr>
          <p:cNvPr id="17" name="text-253"/>
          <p:cNvSpPr txBox="1"/>
          <p:nvPr/>
        </p:nvSpPr>
        <p:spPr>
          <a:xfrm>
            <a:off x="7420356" y="1691640"/>
            <a:ext cx="3945636" cy="41148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Sim Racing League</a:t>
            </a:r>
            <a:endParaRPr lang="en-US" sz="2200" dirty="0"/>
          </a:p>
        </p:txBody>
      </p:sp>
      <p:sp>
        <p:nvSpPr>
          <p:cNvPr id="18" name="text-254"/>
          <p:cNvSpPr txBox="1"/>
          <p:nvPr/>
        </p:nvSpPr>
        <p:spPr>
          <a:xfrm>
            <a:off x="7420356" y="2103120"/>
            <a:ext cx="3945636" cy="320040"/>
          </a:xfrm>
          <a:prstGeom prst="rect">
            <a:avLst/>
          </a:prstGeom>
          <a:noFill/>
          <a:ln/>
        </p:spPr>
        <p:txBody>
          <a:bodyPr wrap="square" lIns="0" tIns="0" rIns="0" bIns="0" rtlCol="0" anchor="t"/>
          <a:lstStyle/>
          <a:p>
            <a:pPr indent="0" marL="0">
              <a:buNone/>
            </a:pPr>
            <a:r>
              <a:rPr lang="en-US" sz="1400" i="1" dirty="0">
                <a:solidFill>
                  <a:schemeClr val="accent6"/>
                </a:solidFill>
              </a:rPr>
              <a:t>AutoDRIVE digital twin</a:t>
            </a:r>
            <a:endParaRPr lang="en-US" sz="1400" dirty="0"/>
          </a:p>
        </p:txBody>
      </p:sp>
      <p:sp>
        <p:nvSpPr>
          <p:cNvPr id="19" name="badge-255"/>
          <p:cNvSpPr/>
          <p:nvPr/>
        </p:nvSpPr>
        <p:spPr>
          <a:xfrm>
            <a:off x="6643116" y="2788920"/>
            <a:ext cx="502920" cy="50292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20" name="text-256"/>
          <p:cNvSpPr txBox="1"/>
          <p:nvPr/>
        </p:nvSpPr>
        <p:spPr>
          <a:xfrm>
            <a:off x="7420356" y="2743200"/>
            <a:ext cx="3945636" cy="365760"/>
          </a:xfrm>
          <a:prstGeom prst="rect">
            <a:avLst/>
          </a:prstGeom>
          <a:noFill/>
          <a:ln/>
        </p:spPr>
        <p:txBody>
          <a:bodyPr wrap="square" lIns="0" tIns="0" rIns="0" bIns="0" rtlCol="0" anchor="t"/>
          <a:lstStyle/>
          <a:p>
            <a:pPr indent="0" marL="0">
              <a:buNone/>
            </a:pPr>
            <a:r>
              <a:rPr lang="en-US" sz="1800" b="1" dirty="0">
                <a:solidFill>
                  <a:schemeClr val="bg1"/>
                </a:solidFill>
              </a:rPr>
              <a:t>Qualification</a:t>
            </a:r>
            <a:endParaRPr lang="en-US" sz="1800" dirty="0"/>
          </a:p>
        </p:txBody>
      </p:sp>
      <p:sp>
        <p:nvSpPr>
          <p:cNvPr id="21" name="text-257"/>
          <p:cNvSpPr txBox="1"/>
          <p:nvPr/>
        </p:nvSpPr>
        <p:spPr>
          <a:xfrm>
            <a:off x="7420356" y="3127248"/>
            <a:ext cx="3945636" cy="594360"/>
          </a:xfrm>
          <a:prstGeom prst="rect">
            <a:avLst/>
          </a:prstGeom>
          <a:noFill/>
          <a:ln/>
        </p:spPr>
        <p:txBody>
          <a:bodyPr wrap="square" lIns="0" tIns="0" rIns="0" bIns="0" rtlCol="0" anchor="t"/>
          <a:lstStyle/>
          <a:p>
            <a:pPr indent="0" marL="0">
              <a:buNone/>
            </a:pPr>
            <a:r>
              <a:rPr lang="en-US" sz="1500" dirty="0">
                <a:solidFill>
                  <a:schemeClr val="bg2"/>
                </a:solidFill>
              </a:rPr>
              <a:t>Complete multiple laps on a practice track without hitting the bounds.</a:t>
            </a:r>
            <a:endParaRPr lang="en-US" sz="1500" dirty="0"/>
          </a:p>
        </p:txBody>
      </p:sp>
      <p:sp>
        <p:nvSpPr>
          <p:cNvPr id="22" name="badge-258"/>
          <p:cNvSpPr/>
          <p:nvPr/>
        </p:nvSpPr>
        <p:spPr>
          <a:xfrm>
            <a:off x="6643116" y="3977640"/>
            <a:ext cx="502920" cy="50292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23" name="text-259"/>
          <p:cNvSpPr txBox="1"/>
          <p:nvPr/>
        </p:nvSpPr>
        <p:spPr>
          <a:xfrm>
            <a:off x="7420356" y="3931920"/>
            <a:ext cx="3945636" cy="365760"/>
          </a:xfrm>
          <a:prstGeom prst="rect">
            <a:avLst/>
          </a:prstGeom>
          <a:noFill/>
          <a:ln/>
        </p:spPr>
        <p:txBody>
          <a:bodyPr wrap="square" lIns="0" tIns="0" rIns="0" bIns="0" rtlCol="0" anchor="t"/>
          <a:lstStyle/>
          <a:p>
            <a:pPr indent="0" marL="0">
              <a:buNone/>
            </a:pPr>
            <a:r>
              <a:rPr lang="en-US" sz="1800" b="1" dirty="0">
                <a:solidFill>
                  <a:schemeClr val="bg1"/>
                </a:solidFill>
              </a:rPr>
              <a:t>Time attack</a:t>
            </a:r>
            <a:endParaRPr lang="en-US" sz="1800" dirty="0"/>
          </a:p>
        </p:txBody>
      </p:sp>
      <p:sp>
        <p:nvSpPr>
          <p:cNvPr id="24" name="text-260"/>
          <p:cNvSpPr txBox="1"/>
          <p:nvPr/>
        </p:nvSpPr>
        <p:spPr>
          <a:xfrm>
            <a:off x="7420356" y="4315968"/>
            <a:ext cx="3945636" cy="594360"/>
          </a:xfrm>
          <a:prstGeom prst="rect">
            <a:avLst/>
          </a:prstGeom>
          <a:noFill/>
          <a:ln/>
        </p:spPr>
        <p:txBody>
          <a:bodyPr wrap="square" lIns="0" tIns="0" rIns="0" bIns="0" rtlCol="0" anchor="t"/>
          <a:lstStyle/>
          <a:p>
            <a:pPr indent="0" marL="0">
              <a:buNone/>
            </a:pPr>
            <a:r>
              <a:rPr lang="en-US" sz="1500" dirty="0">
                <a:solidFill>
                  <a:schemeClr val="bg2"/>
                </a:solidFill>
              </a:rPr>
              <a:t>Race the clock on a previously unseen track.</a:t>
            </a:r>
            <a:endParaRPr lang="en-US" sz="1500" dirty="0"/>
          </a:p>
        </p:txBody>
      </p:sp>
      <p:sp>
        <p:nvSpPr>
          <p:cNvPr id="25" name="rule-pill"/>
          <p:cNvSpPr/>
          <p:nvPr/>
        </p:nvSpPr>
        <p:spPr>
          <a:xfrm>
            <a:off x="548640" y="5440680"/>
            <a:ext cx="11091672" cy="594360"/>
          </a:xfrm>
          <a:prstGeom prst="roundRect">
            <a:avLst>
              <a:gd name="adj" fmla="val 12308"/>
            </a:avLst>
          </a:prstGeom>
          <a:solidFill>
            <a:schemeClr val="bg1"/>
          </a:solidFill>
          <a:ln/>
          <a:effectLst>
            <a:outerShdw sx="100000" sy="100000" kx="0" ky="0" algn="bl" rotWithShape="0" blurRad="101600" dist="25400" dir="5400000">
              <a:srgbClr val="000000">
                <a:alpha val="12000"/>
              </a:srgbClr>
            </a:outerShdw>
          </a:effectLst>
        </p:spPr>
      </p:sp>
      <p:pic>
        <p:nvPicPr>
          <p:cNvPr id="26" name="rule-icon" descr="preencoded.png">    </p:cNvPr>
          <p:cNvPicPr>
            <a:picLocks noChangeAspect="1"/>
          </p:cNvPicPr>
          <p:nvPr/>
        </p:nvPicPr>
        <p:blipFill>
          <a:blip r:embed="rId3"/>
          <a:stretch>
            <a:fillRect/>
          </a:stretch>
        </p:blipFill>
        <p:spPr>
          <a:xfrm>
            <a:off x="777240" y="5550408"/>
            <a:ext cx="384048" cy="384048"/>
          </a:xfrm>
          <a:prstGeom prst="rect">
            <a:avLst/>
          </a:prstGeom>
        </p:spPr>
      </p:pic>
      <p:sp>
        <p:nvSpPr>
          <p:cNvPr id="27" name="text-261"/>
          <p:cNvSpPr txBox="1"/>
          <p:nvPr/>
        </p:nvSpPr>
        <p:spPr>
          <a:xfrm>
            <a:off x="1325880" y="5440680"/>
            <a:ext cx="10149840" cy="594360"/>
          </a:xfrm>
          <a:prstGeom prst="rect">
            <a:avLst/>
          </a:prstGeom>
          <a:noFill/>
          <a:ln/>
        </p:spPr>
        <p:txBody>
          <a:bodyPr wrap="square" lIns="0" tIns="0" rIns="0" bIns="0" rtlCol="0" anchor="ctr"/>
          <a:lstStyle/>
          <a:p>
            <a:pPr indent="0" marL="0">
              <a:buNone/>
            </a:pPr>
            <a:r>
              <a:rPr lang="en-US" sz="1600" b="1" dirty="0">
                <a:solidFill>
                  <a:schemeClr val="tx1"/>
                </a:solidFill>
              </a:rPr>
              <a:t>Sim teams submit their code as a Docker container, the same way this workshop runs yours.</a:t>
            </a:r>
            <a:endParaRPr lang="en-US" sz="16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How an autonomous car thinks</a:t>
            </a:r>
            <a:endParaRPr lang="en-US" sz="3600" dirty="0"/>
          </a:p>
        </p:txBody>
      </p:sp>
      <p:sp>
        <p:nvSpPr>
          <p:cNvPr id="3" name="card-262"/>
          <p:cNvSpPr/>
          <p:nvPr/>
        </p:nvSpPr>
        <p:spPr>
          <a:xfrm>
            <a:off x="548640" y="1508760"/>
            <a:ext cx="3081528" cy="3291840"/>
          </a:xfrm>
          <a:prstGeom prst="roundRect">
            <a:avLst>
              <a:gd name="adj" fmla="val 2374"/>
            </a:avLst>
          </a:prstGeom>
          <a:solidFill>
            <a:schemeClr val="bg1"/>
          </a:solidFill>
          <a:ln/>
          <a:effectLst>
            <a:outerShdw sx="100000" sy="100000" kx="0" ky="0" algn="bl" rotWithShape="0" blurRad="101600" dist="25400" dir="5400000">
              <a:srgbClr val="000000">
                <a:alpha val="12000"/>
              </a:srgbClr>
            </a:outerShdw>
          </a:effectLst>
        </p:spPr>
      </p:sp>
      <p:sp>
        <p:nvSpPr>
          <p:cNvPr id="4" name="icon-circle-263"/>
          <p:cNvSpPr/>
          <p:nvPr/>
        </p:nvSpPr>
        <p:spPr>
          <a:xfrm>
            <a:off x="822960" y="1783080"/>
            <a:ext cx="731520" cy="731520"/>
          </a:xfrm>
          <a:prstGeom prst="ellipse">
            <a:avLst/>
          </a:prstGeom>
          <a:solidFill>
            <a:schemeClr val="tx1"/>
          </a:solidFill>
          <a:ln/>
        </p:spPr>
      </p:sp>
      <p:pic>
        <p:nvPicPr>
          <p:cNvPr id="5" name="icon-264" descr="preencoded.png">    </p:cNvPr>
          <p:cNvPicPr>
            <a:picLocks noChangeAspect="1"/>
          </p:cNvPicPr>
          <p:nvPr/>
        </p:nvPicPr>
        <p:blipFill>
          <a:blip r:embed="rId1"/>
          <a:stretch>
            <a:fillRect/>
          </a:stretch>
        </p:blipFill>
        <p:spPr>
          <a:xfrm>
            <a:off x="1005840" y="1965960"/>
            <a:ext cx="365760" cy="365760"/>
          </a:xfrm>
          <a:prstGeom prst="rect">
            <a:avLst/>
          </a:prstGeom>
        </p:spPr>
      </p:pic>
      <p:sp>
        <p:nvSpPr>
          <p:cNvPr id="6" name="text-265"/>
          <p:cNvSpPr txBox="1"/>
          <p:nvPr/>
        </p:nvSpPr>
        <p:spPr>
          <a:xfrm>
            <a:off x="1691640" y="1783080"/>
            <a:ext cx="1709928" cy="411480"/>
          </a:xfrm>
          <a:prstGeom prst="rect">
            <a:avLst/>
          </a:prstGeom>
          <a:noFill/>
          <a:ln/>
        </p:spPr>
        <p:txBody>
          <a:bodyPr wrap="square" lIns="0" tIns="0" rIns="0" bIns="0" rtlCol="0" anchor="t"/>
          <a:lstStyle/>
          <a:p>
            <a:pPr indent="0" marL="0">
              <a:buNone/>
            </a:pPr>
            <a:r>
              <a:rPr lang="en-US" sz="2200" b="1" spc="200" kern="0" dirty="0">
                <a:solidFill>
                  <a:schemeClr val="tx1"/>
                </a:solidFill>
                <a:latin typeface="Arial" pitchFamily="34" charset="0"/>
                <a:ea typeface="Arial" pitchFamily="34" charset="-122"/>
                <a:cs typeface="Arial" pitchFamily="34" charset="-120"/>
              </a:rPr>
              <a:t>SENSE</a:t>
            </a:r>
            <a:endParaRPr lang="en-US" sz="2200" dirty="0"/>
          </a:p>
        </p:txBody>
      </p:sp>
      <p:sp>
        <p:nvSpPr>
          <p:cNvPr id="7" name="text-266"/>
          <p:cNvSpPr txBox="1"/>
          <p:nvPr/>
        </p:nvSpPr>
        <p:spPr>
          <a:xfrm>
            <a:off x="1691640" y="2194560"/>
            <a:ext cx="1709928" cy="365760"/>
          </a:xfrm>
          <a:prstGeom prst="rect">
            <a:avLst/>
          </a:prstGeom>
          <a:noFill/>
          <a:ln/>
        </p:spPr>
        <p:txBody>
          <a:bodyPr wrap="square" lIns="0" tIns="0" rIns="0" bIns="0" rtlCol="0" anchor="t"/>
          <a:lstStyle/>
          <a:p>
            <a:pPr indent="0" marL="0">
              <a:buNone/>
            </a:pPr>
            <a:r>
              <a:rPr lang="en-US" sz="1400" i="1" dirty="0">
                <a:solidFill>
                  <a:schemeClr val="accent4"/>
                </a:solidFill>
              </a:rPr>
              <a:t>What is around me?</a:t>
            </a:r>
            <a:endParaRPr lang="en-US" sz="1400" dirty="0"/>
          </a:p>
        </p:txBody>
      </p:sp>
      <p:sp>
        <p:nvSpPr>
          <p:cNvPr id="8" name="text-267"/>
          <p:cNvSpPr txBox="1"/>
          <p:nvPr/>
        </p:nvSpPr>
        <p:spPr>
          <a:xfrm>
            <a:off x="822960" y="2834640"/>
            <a:ext cx="2532888" cy="18288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2"/>
                </a:solidFill>
              </a:rPr>
              <a:t>LiDAR: distance to walls all around the car</a:t>
            </a:r>
            <a:endParaRPr lang="en-US" sz="1800" dirty="0"/>
          </a:p>
          <a:p>
            <a:pPr marL="342900" indent="-342900">
              <a:spcAft>
                <a:spcPts val="1000"/>
              </a:spcAft>
              <a:buSzPct val="100000"/>
              <a:buChar char="•"/>
            </a:pPr>
            <a:r>
              <a:rPr lang="en-US" sz="1800" dirty="0">
                <a:solidFill>
                  <a:schemeClr val="tx2"/>
                </a:solidFill>
              </a:rPr>
              <a:t>Odometry: speed, position and heading</a:t>
            </a:r>
            <a:endParaRPr lang="en-US" sz="1800" dirty="0"/>
          </a:p>
        </p:txBody>
      </p:sp>
      <p:sp>
        <p:nvSpPr>
          <p:cNvPr id="9" name="arrow-268"/>
          <p:cNvSpPr/>
          <p:nvPr/>
        </p:nvSpPr>
        <p:spPr>
          <a:xfrm>
            <a:off x="3813048" y="2971800"/>
            <a:ext cx="557784" cy="502920"/>
          </a:xfrm>
          <a:prstGeom prst="rightArrow">
            <a:avLst/>
          </a:prstGeom>
          <a:solidFill>
            <a:schemeClr val="accent1"/>
          </a:solidFill>
          <a:ln/>
        </p:spPr>
      </p:sp>
      <p:sp>
        <p:nvSpPr>
          <p:cNvPr id="10" name="card-269"/>
          <p:cNvSpPr/>
          <p:nvPr/>
        </p:nvSpPr>
        <p:spPr>
          <a:xfrm>
            <a:off x="4553712" y="1508760"/>
            <a:ext cx="3081528" cy="3291840"/>
          </a:xfrm>
          <a:prstGeom prst="roundRect">
            <a:avLst>
              <a:gd name="adj" fmla="val 2374"/>
            </a:avLst>
          </a:prstGeom>
          <a:solidFill>
            <a:schemeClr val="bg1"/>
          </a:solidFill>
          <a:ln/>
          <a:effectLst>
            <a:outerShdw sx="100000" sy="100000" kx="0" ky="0" algn="bl" rotWithShape="0" blurRad="101600" dist="25400" dir="5400000">
              <a:srgbClr val="000000">
                <a:alpha val="12000"/>
              </a:srgbClr>
            </a:outerShdw>
          </a:effectLst>
        </p:spPr>
      </p:sp>
      <p:sp>
        <p:nvSpPr>
          <p:cNvPr id="11" name="icon-circle-270"/>
          <p:cNvSpPr/>
          <p:nvPr/>
        </p:nvSpPr>
        <p:spPr>
          <a:xfrm>
            <a:off x="4828032" y="1783080"/>
            <a:ext cx="731520" cy="731520"/>
          </a:xfrm>
          <a:prstGeom prst="ellipse">
            <a:avLst/>
          </a:prstGeom>
          <a:solidFill>
            <a:schemeClr val="accent1"/>
          </a:solidFill>
          <a:ln/>
        </p:spPr>
      </p:sp>
      <p:pic>
        <p:nvPicPr>
          <p:cNvPr id="12" name="icon-271" descr="preencoded.png">    </p:cNvPr>
          <p:cNvPicPr>
            <a:picLocks noChangeAspect="1"/>
          </p:cNvPicPr>
          <p:nvPr/>
        </p:nvPicPr>
        <p:blipFill>
          <a:blip r:embed="rId2"/>
          <a:stretch>
            <a:fillRect/>
          </a:stretch>
        </p:blipFill>
        <p:spPr>
          <a:xfrm>
            <a:off x="5010912" y="1965960"/>
            <a:ext cx="365760" cy="365760"/>
          </a:xfrm>
          <a:prstGeom prst="rect">
            <a:avLst/>
          </a:prstGeom>
        </p:spPr>
      </p:pic>
      <p:sp>
        <p:nvSpPr>
          <p:cNvPr id="13" name="text-272"/>
          <p:cNvSpPr txBox="1"/>
          <p:nvPr/>
        </p:nvSpPr>
        <p:spPr>
          <a:xfrm>
            <a:off x="5696712" y="1783080"/>
            <a:ext cx="1709928" cy="411480"/>
          </a:xfrm>
          <a:prstGeom prst="rect">
            <a:avLst/>
          </a:prstGeom>
          <a:noFill/>
          <a:ln/>
        </p:spPr>
        <p:txBody>
          <a:bodyPr wrap="square" lIns="0" tIns="0" rIns="0" bIns="0" rtlCol="0" anchor="t"/>
          <a:lstStyle/>
          <a:p>
            <a:pPr indent="0" marL="0">
              <a:buNone/>
            </a:pPr>
            <a:r>
              <a:rPr lang="en-US" sz="2200" b="1" spc="200" kern="0" dirty="0">
                <a:solidFill>
                  <a:schemeClr val="tx1"/>
                </a:solidFill>
                <a:latin typeface="Arial" pitchFamily="34" charset="0"/>
                <a:ea typeface="Arial" pitchFamily="34" charset="-122"/>
                <a:cs typeface="Arial" pitchFamily="34" charset="-120"/>
              </a:rPr>
              <a:t>PLAN</a:t>
            </a:r>
            <a:endParaRPr lang="en-US" sz="2200" dirty="0"/>
          </a:p>
        </p:txBody>
      </p:sp>
      <p:sp>
        <p:nvSpPr>
          <p:cNvPr id="14" name="text-273"/>
          <p:cNvSpPr txBox="1"/>
          <p:nvPr/>
        </p:nvSpPr>
        <p:spPr>
          <a:xfrm>
            <a:off x="5696712" y="2194560"/>
            <a:ext cx="1709928" cy="365760"/>
          </a:xfrm>
          <a:prstGeom prst="rect">
            <a:avLst/>
          </a:prstGeom>
          <a:noFill/>
          <a:ln/>
        </p:spPr>
        <p:txBody>
          <a:bodyPr wrap="square" lIns="0" tIns="0" rIns="0" bIns="0" rtlCol="0" anchor="t"/>
          <a:lstStyle/>
          <a:p>
            <a:pPr indent="0" marL="0">
              <a:buNone/>
            </a:pPr>
            <a:r>
              <a:rPr lang="en-US" sz="1400" i="1" dirty="0">
                <a:solidFill>
                  <a:schemeClr val="accent4"/>
                </a:solidFill>
              </a:rPr>
              <a:t>Where should I go?</a:t>
            </a:r>
            <a:endParaRPr lang="en-US" sz="1400" dirty="0"/>
          </a:p>
        </p:txBody>
      </p:sp>
      <p:sp>
        <p:nvSpPr>
          <p:cNvPr id="15" name="text-274"/>
          <p:cNvSpPr txBox="1"/>
          <p:nvPr/>
        </p:nvSpPr>
        <p:spPr>
          <a:xfrm>
            <a:off x="4828032" y="2834640"/>
            <a:ext cx="2532888" cy="18288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2"/>
                </a:solidFill>
              </a:rPr>
              <a:t>Your drive() function</a:t>
            </a:r>
            <a:endParaRPr lang="en-US" sz="1800" dirty="0"/>
          </a:p>
          <a:p>
            <a:pPr marL="342900" indent="-342900">
              <a:spcAft>
                <a:spcPts val="1000"/>
              </a:spcAft>
              <a:buSzPct val="100000"/>
              <a:buChar char="•"/>
            </a:pPr>
            <a:r>
              <a:rPr lang="en-US" sz="1800" dirty="0">
                <a:solidFill>
                  <a:schemeClr val="tx2"/>
                </a:solidFill>
              </a:rPr>
              <a:t>Find free space, pick a direction and a speed</a:t>
            </a:r>
            <a:endParaRPr lang="en-US" sz="1800" dirty="0"/>
          </a:p>
        </p:txBody>
      </p:sp>
      <p:sp>
        <p:nvSpPr>
          <p:cNvPr id="16" name="arrow-275"/>
          <p:cNvSpPr/>
          <p:nvPr/>
        </p:nvSpPr>
        <p:spPr>
          <a:xfrm>
            <a:off x="7818120" y="2971800"/>
            <a:ext cx="557784" cy="502920"/>
          </a:xfrm>
          <a:prstGeom prst="rightArrow">
            <a:avLst/>
          </a:prstGeom>
          <a:solidFill>
            <a:schemeClr val="accent1"/>
          </a:solidFill>
          <a:ln/>
        </p:spPr>
      </p:sp>
      <p:sp>
        <p:nvSpPr>
          <p:cNvPr id="17" name="card-276"/>
          <p:cNvSpPr/>
          <p:nvPr/>
        </p:nvSpPr>
        <p:spPr>
          <a:xfrm>
            <a:off x="8558784" y="1508760"/>
            <a:ext cx="3081528" cy="3291840"/>
          </a:xfrm>
          <a:prstGeom prst="roundRect">
            <a:avLst>
              <a:gd name="adj" fmla="val 2374"/>
            </a:avLst>
          </a:prstGeom>
          <a:solidFill>
            <a:schemeClr val="bg1"/>
          </a:solidFill>
          <a:ln/>
          <a:effectLst>
            <a:outerShdw sx="100000" sy="100000" kx="0" ky="0" algn="bl" rotWithShape="0" blurRad="101600" dist="25400" dir="5400000">
              <a:srgbClr val="000000">
                <a:alpha val="12000"/>
              </a:srgbClr>
            </a:outerShdw>
          </a:effectLst>
        </p:spPr>
      </p:sp>
      <p:sp>
        <p:nvSpPr>
          <p:cNvPr id="18" name="icon-circle-277"/>
          <p:cNvSpPr/>
          <p:nvPr/>
        </p:nvSpPr>
        <p:spPr>
          <a:xfrm>
            <a:off x="8833104" y="1783080"/>
            <a:ext cx="731520" cy="731520"/>
          </a:xfrm>
          <a:prstGeom prst="ellipse">
            <a:avLst/>
          </a:prstGeom>
          <a:solidFill>
            <a:schemeClr val="tx1"/>
          </a:solidFill>
          <a:ln/>
        </p:spPr>
      </p:sp>
      <p:pic>
        <p:nvPicPr>
          <p:cNvPr id="19" name="icon-278" descr="preencoded.png">    </p:cNvPr>
          <p:cNvPicPr>
            <a:picLocks noChangeAspect="1"/>
          </p:cNvPicPr>
          <p:nvPr/>
        </p:nvPicPr>
        <p:blipFill>
          <a:blip r:embed="rId3"/>
          <a:stretch>
            <a:fillRect/>
          </a:stretch>
        </p:blipFill>
        <p:spPr>
          <a:xfrm>
            <a:off x="9015984" y="1965960"/>
            <a:ext cx="365760" cy="365760"/>
          </a:xfrm>
          <a:prstGeom prst="rect">
            <a:avLst/>
          </a:prstGeom>
        </p:spPr>
      </p:pic>
      <p:sp>
        <p:nvSpPr>
          <p:cNvPr id="20" name="text-279"/>
          <p:cNvSpPr txBox="1"/>
          <p:nvPr/>
        </p:nvSpPr>
        <p:spPr>
          <a:xfrm>
            <a:off x="9701784" y="1783080"/>
            <a:ext cx="1709928" cy="411480"/>
          </a:xfrm>
          <a:prstGeom prst="rect">
            <a:avLst/>
          </a:prstGeom>
          <a:noFill/>
          <a:ln/>
        </p:spPr>
        <p:txBody>
          <a:bodyPr wrap="square" lIns="0" tIns="0" rIns="0" bIns="0" rtlCol="0" anchor="t"/>
          <a:lstStyle/>
          <a:p>
            <a:pPr indent="0" marL="0">
              <a:buNone/>
            </a:pPr>
            <a:r>
              <a:rPr lang="en-US" sz="2200" b="1" spc="200" kern="0" dirty="0">
                <a:solidFill>
                  <a:schemeClr val="tx1"/>
                </a:solidFill>
                <a:latin typeface="Arial" pitchFamily="34" charset="0"/>
                <a:ea typeface="Arial" pitchFamily="34" charset="-122"/>
                <a:cs typeface="Arial" pitchFamily="34" charset="-120"/>
              </a:rPr>
              <a:t>ACT</a:t>
            </a:r>
            <a:endParaRPr lang="en-US" sz="2200" dirty="0"/>
          </a:p>
        </p:txBody>
      </p:sp>
      <p:sp>
        <p:nvSpPr>
          <p:cNvPr id="21" name="text-280"/>
          <p:cNvSpPr txBox="1"/>
          <p:nvPr/>
        </p:nvSpPr>
        <p:spPr>
          <a:xfrm>
            <a:off x="9701784" y="2194560"/>
            <a:ext cx="1709928" cy="365760"/>
          </a:xfrm>
          <a:prstGeom prst="rect">
            <a:avLst/>
          </a:prstGeom>
          <a:noFill/>
          <a:ln/>
        </p:spPr>
        <p:txBody>
          <a:bodyPr wrap="square" lIns="0" tIns="0" rIns="0" bIns="0" rtlCol="0" anchor="t"/>
          <a:lstStyle/>
          <a:p>
            <a:pPr indent="0" marL="0">
              <a:buNone/>
            </a:pPr>
            <a:r>
              <a:rPr lang="en-US" sz="1400" i="1" dirty="0">
                <a:solidFill>
                  <a:schemeClr val="accent4"/>
                </a:solidFill>
              </a:rPr>
              <a:t>Make it happen</a:t>
            </a:r>
            <a:endParaRPr lang="en-US" sz="1400" dirty="0"/>
          </a:p>
        </p:txBody>
      </p:sp>
      <p:sp>
        <p:nvSpPr>
          <p:cNvPr id="22" name="text-281"/>
          <p:cNvSpPr txBox="1"/>
          <p:nvPr/>
        </p:nvSpPr>
        <p:spPr>
          <a:xfrm>
            <a:off x="8833104" y="2834640"/>
            <a:ext cx="2532888" cy="18288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2"/>
                </a:solidFill>
              </a:rPr>
              <a:t>Speed (m/s) becomes throttle</a:t>
            </a:r>
            <a:endParaRPr lang="en-US" sz="1800" dirty="0"/>
          </a:p>
          <a:p>
            <a:pPr marL="342900" indent="-342900">
              <a:spcAft>
                <a:spcPts val="1000"/>
              </a:spcAft>
              <a:buSzPct val="100000"/>
              <a:buChar char="•"/>
            </a:pPr>
            <a:r>
              <a:rPr lang="en-US" sz="1800" dirty="0">
                <a:solidFill>
                  <a:schemeClr val="tx2"/>
                </a:solidFill>
              </a:rPr>
              <a:t>Steering angle turns the front wheels</a:t>
            </a:r>
            <a:endParaRPr lang="en-US" sz="1800" dirty="0"/>
          </a:p>
        </p:txBody>
      </p:sp>
      <p:sp>
        <p:nvSpPr>
          <p:cNvPr id="23" name="loop-pill"/>
          <p:cNvSpPr/>
          <p:nvPr/>
        </p:nvSpPr>
        <p:spPr>
          <a:xfrm>
            <a:off x="2441448" y="5166360"/>
            <a:ext cx="7315200" cy="640080"/>
          </a:xfrm>
          <a:prstGeom prst="roundRect">
            <a:avLst>
              <a:gd name="adj" fmla="val 50000"/>
            </a:avLst>
          </a:prstGeom>
          <a:solidFill>
            <a:schemeClr val="tx1"/>
          </a:solidFill>
          <a:ln/>
        </p:spPr>
      </p:sp>
      <p:pic>
        <p:nvPicPr>
          <p:cNvPr id="24" name="loop-icon" descr="preencoded.png">    </p:cNvPr>
          <p:cNvPicPr>
            <a:picLocks noChangeAspect="1"/>
          </p:cNvPicPr>
          <p:nvPr/>
        </p:nvPicPr>
        <p:blipFill>
          <a:blip r:embed="rId4"/>
          <a:stretch>
            <a:fillRect/>
          </a:stretch>
        </p:blipFill>
        <p:spPr>
          <a:xfrm>
            <a:off x="2715768" y="5303520"/>
            <a:ext cx="365760" cy="365760"/>
          </a:xfrm>
          <a:prstGeom prst="rect">
            <a:avLst/>
          </a:prstGeom>
        </p:spPr>
      </p:pic>
      <p:sp>
        <p:nvSpPr>
          <p:cNvPr id="25" name="text-282"/>
          <p:cNvSpPr txBox="1"/>
          <p:nvPr/>
        </p:nvSpPr>
        <p:spPr>
          <a:xfrm>
            <a:off x="3246120" y="5166360"/>
            <a:ext cx="6400800" cy="640080"/>
          </a:xfrm>
          <a:prstGeom prst="rect">
            <a:avLst/>
          </a:prstGeom>
          <a:noFill/>
          <a:ln/>
        </p:spPr>
        <p:txBody>
          <a:bodyPr wrap="square" lIns="0" tIns="0" rIns="0" bIns="0" rtlCol="0" anchor="ctr"/>
          <a:lstStyle/>
          <a:p>
            <a:pPr indent="0" marL="0">
              <a:buNone/>
            </a:pPr>
            <a:r>
              <a:rPr lang="en-US" sz="1600" dirty="0">
                <a:solidFill>
                  <a:schemeClr val="bg1"/>
                </a:solidFill>
              </a:rPr>
              <a:t>Repeats about 20 times per second, so every call must return quickly</a:t>
            </a:r>
            <a:endParaRPr lang="en-US" sz="16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autonomy stack</a:t>
            </a:r>
            <a:endParaRPr lang="en-US" sz="3600" dirty="0"/>
          </a:p>
        </p:txBody>
      </p:sp>
      <p:sp>
        <p:nvSpPr>
          <p:cNvPr id="3" name="stage-283"/>
          <p:cNvSpPr/>
          <p:nvPr/>
        </p:nvSpPr>
        <p:spPr>
          <a:xfrm>
            <a:off x="548640" y="1600200"/>
            <a:ext cx="1775460" cy="914400"/>
          </a:xfrm>
          <a:prstGeom prst="homePlate">
            <a:avLst/>
          </a:prstGeom>
          <a:solidFill>
            <a:schemeClr val="tx2"/>
          </a:solidFill>
          <a:ln/>
        </p:spPr>
        <p:txBody>
          <a:bodyPr wrap="square" lIns="0" tIns="0" rIns="0" bIns="0" rtlCol="0" anchor="ctr"/>
          <a:lstStyle/>
          <a:p>
            <a:pPr algn="ctr" indent="0" marL="0">
              <a:buNone/>
            </a:pPr>
            <a:r>
              <a:rPr lang="en-US" sz="1600" b="1" dirty="0">
                <a:solidFill>
                  <a:schemeClr val="bg1"/>
                </a:solidFill>
              </a:rPr>
              <a:t>Sense</a:t>
            </a:r>
            <a:endParaRPr lang="en-US" sz="1600" dirty="0"/>
          </a:p>
        </p:txBody>
      </p:sp>
      <p:sp>
        <p:nvSpPr>
          <p:cNvPr id="4" name="card-284"/>
          <p:cNvSpPr/>
          <p:nvPr/>
        </p:nvSpPr>
        <p:spPr>
          <a:xfrm>
            <a:off x="594360" y="2788920"/>
            <a:ext cx="1546860" cy="2423160"/>
          </a:xfrm>
          <a:prstGeom prst="roundRect">
            <a:avLst>
              <a:gd name="adj" fmla="val 4729"/>
            </a:avLst>
          </a:prstGeom>
          <a:solidFill>
            <a:schemeClr val="bg1"/>
          </a:solidFill>
          <a:ln/>
          <a:effectLst>
            <a:outerShdw sx="100000" sy="100000" kx="0" ky="0" algn="bl" rotWithShape="0" blurRad="101600" dist="25400" dir="5400000">
              <a:srgbClr val="000000">
                <a:alpha val="12000"/>
              </a:srgbClr>
            </a:outerShdw>
          </a:effectLst>
        </p:spPr>
      </p:sp>
      <p:sp>
        <p:nvSpPr>
          <p:cNvPr id="5" name="text-285"/>
          <p:cNvSpPr txBox="1"/>
          <p:nvPr/>
        </p:nvSpPr>
        <p:spPr>
          <a:xfrm>
            <a:off x="777240" y="2971800"/>
            <a:ext cx="1181100" cy="1463040"/>
          </a:xfrm>
          <a:prstGeom prst="rect">
            <a:avLst/>
          </a:prstGeom>
          <a:noFill/>
          <a:ln/>
        </p:spPr>
        <p:txBody>
          <a:bodyPr wrap="square" lIns="0" tIns="0" rIns="0" bIns="0" rtlCol="0" anchor="t"/>
          <a:lstStyle/>
          <a:p>
            <a:pPr indent="0" marL="0">
              <a:buNone/>
            </a:pPr>
            <a:r>
              <a:rPr lang="en-US" sz="1500" dirty="0">
                <a:solidFill>
                  <a:schemeClr val="tx2"/>
                </a:solidFill>
              </a:rPr>
              <a:t>LiDAR scan, wheel odometry, IMU</a:t>
            </a:r>
            <a:endParaRPr lang="en-US" sz="1500" dirty="0"/>
          </a:p>
        </p:txBody>
      </p:sp>
      <p:sp>
        <p:nvSpPr>
          <p:cNvPr id="6" name="tag-286"/>
          <p:cNvSpPr/>
          <p:nvPr/>
        </p:nvSpPr>
        <p:spPr>
          <a:xfrm>
            <a:off x="777240" y="4617720"/>
            <a:ext cx="1181100" cy="365760"/>
          </a:xfrm>
          <a:prstGeom prst="roundRect">
            <a:avLst>
              <a:gd name="adj" fmla="val 37500"/>
            </a:avLst>
          </a:prstGeom>
          <a:solidFill>
            <a:schemeClr val="tx2"/>
          </a:solidFill>
          <a:ln/>
        </p:spPr>
        <p:txBody>
          <a:bodyPr wrap="square" lIns="0" tIns="0" rIns="0" bIns="0" rtlCol="0" anchor="ctr"/>
          <a:lstStyle/>
          <a:p>
            <a:pPr algn="ctr" indent="0" marL="0">
              <a:buNone/>
            </a:pPr>
            <a:r>
              <a:rPr lang="en-US" sz="1100" b="1" spc="100" kern="0" dirty="0">
                <a:solidFill>
                  <a:schemeClr val="bg1"/>
                </a:solidFill>
              </a:rPr>
              <a:t>RUNTIME</a:t>
            </a:r>
            <a:endParaRPr lang="en-US" sz="1100" dirty="0"/>
          </a:p>
        </p:txBody>
      </p:sp>
      <p:sp>
        <p:nvSpPr>
          <p:cNvPr id="7" name="stage-287"/>
          <p:cNvSpPr/>
          <p:nvPr/>
        </p:nvSpPr>
        <p:spPr>
          <a:xfrm>
            <a:off x="2397252" y="1600200"/>
            <a:ext cx="1775460" cy="914400"/>
          </a:xfrm>
          <a:prstGeom prst="chevron">
            <a:avLst/>
          </a:prstGeom>
          <a:solidFill>
            <a:schemeClr val="accent1"/>
          </a:solidFill>
          <a:ln/>
        </p:spPr>
        <p:txBody>
          <a:bodyPr wrap="square" lIns="0" tIns="0" rIns="0" bIns="0" rtlCol="0" anchor="ctr"/>
          <a:lstStyle/>
          <a:p>
            <a:pPr algn="ctr" indent="0" marL="0">
              <a:buNone/>
            </a:pPr>
            <a:r>
              <a:rPr lang="en-US" sz="1600" b="1" dirty="0">
                <a:solidFill>
                  <a:schemeClr val="bg1"/>
                </a:solidFill>
              </a:rPr>
              <a:t>Perceive</a:t>
            </a:r>
            <a:endParaRPr lang="en-US" sz="1600" dirty="0"/>
          </a:p>
        </p:txBody>
      </p:sp>
      <p:sp>
        <p:nvSpPr>
          <p:cNvPr id="8" name="card-288"/>
          <p:cNvSpPr/>
          <p:nvPr/>
        </p:nvSpPr>
        <p:spPr>
          <a:xfrm>
            <a:off x="2442972" y="2788920"/>
            <a:ext cx="1546860" cy="2423160"/>
          </a:xfrm>
          <a:prstGeom prst="roundRect">
            <a:avLst>
              <a:gd name="adj" fmla="val 4729"/>
            </a:avLst>
          </a:prstGeom>
          <a:solidFill>
            <a:schemeClr val="bg1"/>
          </a:solidFill>
          <a:ln/>
          <a:effectLst>
            <a:outerShdw sx="100000" sy="100000" kx="0" ky="0" algn="bl" rotWithShape="0" blurRad="101600" dist="25400" dir="5400000">
              <a:srgbClr val="000000">
                <a:alpha val="12000"/>
              </a:srgbClr>
            </a:outerShdw>
          </a:effectLst>
        </p:spPr>
      </p:sp>
      <p:sp>
        <p:nvSpPr>
          <p:cNvPr id="9" name="text-289"/>
          <p:cNvSpPr txBox="1"/>
          <p:nvPr/>
        </p:nvSpPr>
        <p:spPr>
          <a:xfrm>
            <a:off x="2625852" y="2971800"/>
            <a:ext cx="1181100" cy="1463040"/>
          </a:xfrm>
          <a:prstGeom prst="rect">
            <a:avLst/>
          </a:prstGeom>
          <a:noFill/>
          <a:ln/>
        </p:spPr>
        <p:txBody>
          <a:bodyPr wrap="square" lIns="0" tIns="0" rIns="0" bIns="0" rtlCol="0" anchor="t"/>
          <a:lstStyle/>
          <a:p>
            <a:pPr indent="0" marL="0">
              <a:buNone/>
            </a:pPr>
            <a:r>
              <a:rPr lang="en-US" sz="1500" dirty="0">
                <a:solidFill>
                  <a:schemeClr val="tx2"/>
                </a:solidFill>
              </a:rPr>
              <a:t>Clean the scan; find walls, gaps and opponents</a:t>
            </a:r>
            <a:endParaRPr lang="en-US" sz="1500" dirty="0"/>
          </a:p>
        </p:txBody>
      </p:sp>
      <p:sp>
        <p:nvSpPr>
          <p:cNvPr id="10" name="tag-290"/>
          <p:cNvSpPr/>
          <p:nvPr/>
        </p:nvSpPr>
        <p:spPr>
          <a:xfrm>
            <a:off x="2625852" y="4617720"/>
            <a:ext cx="1181100" cy="365760"/>
          </a:xfrm>
          <a:prstGeom prst="roundRect">
            <a:avLst>
              <a:gd name="adj" fmla="val 37500"/>
            </a:avLst>
          </a:prstGeom>
          <a:solidFill>
            <a:schemeClr val="accent1"/>
          </a:solidFill>
          <a:ln/>
        </p:spPr>
        <p:txBody>
          <a:bodyPr wrap="square" lIns="0" tIns="0" rIns="0" bIns="0" rtlCol="0" anchor="ctr"/>
          <a:lstStyle/>
          <a:p>
            <a:pPr algn="ctr" indent="0" marL="0">
              <a:buNone/>
            </a:pPr>
            <a:r>
              <a:rPr lang="en-US" sz="1100" b="1" spc="100" kern="0" dirty="0">
                <a:solidFill>
                  <a:schemeClr val="bg1"/>
                </a:solidFill>
              </a:rPr>
              <a:t>TODAY</a:t>
            </a:r>
            <a:endParaRPr lang="en-US" sz="1100" dirty="0"/>
          </a:p>
        </p:txBody>
      </p:sp>
      <p:sp>
        <p:nvSpPr>
          <p:cNvPr id="11" name="stage-291"/>
          <p:cNvSpPr/>
          <p:nvPr/>
        </p:nvSpPr>
        <p:spPr>
          <a:xfrm>
            <a:off x="4245864" y="1600200"/>
            <a:ext cx="1775460" cy="914400"/>
          </a:xfrm>
          <a:prstGeom prst="chevron">
            <a:avLst/>
          </a:prstGeom>
          <a:solidFill>
            <a:schemeClr val="accent4"/>
          </a:solidFill>
          <a:ln/>
        </p:spPr>
        <p:txBody>
          <a:bodyPr wrap="square" lIns="0" tIns="0" rIns="0" bIns="0" rtlCol="0" anchor="ctr"/>
          <a:lstStyle/>
          <a:p>
            <a:pPr algn="ctr" indent="0" marL="0">
              <a:buNone/>
            </a:pPr>
            <a:r>
              <a:rPr lang="en-US" sz="1600" b="1" dirty="0">
                <a:solidFill>
                  <a:schemeClr val="bg1"/>
                </a:solidFill>
              </a:rPr>
              <a:t>Localize</a:t>
            </a:r>
            <a:endParaRPr lang="en-US" sz="1600" dirty="0"/>
          </a:p>
        </p:txBody>
      </p:sp>
      <p:sp>
        <p:nvSpPr>
          <p:cNvPr id="12" name="card-292"/>
          <p:cNvSpPr/>
          <p:nvPr/>
        </p:nvSpPr>
        <p:spPr>
          <a:xfrm>
            <a:off x="4291584" y="2788920"/>
            <a:ext cx="1546860" cy="2423160"/>
          </a:xfrm>
          <a:prstGeom prst="roundRect">
            <a:avLst>
              <a:gd name="adj" fmla="val 4729"/>
            </a:avLst>
          </a:prstGeom>
          <a:solidFill>
            <a:schemeClr val="bg1"/>
          </a:solidFill>
          <a:ln/>
          <a:effectLst>
            <a:outerShdw sx="100000" sy="100000" kx="0" ky="0" algn="bl" rotWithShape="0" blurRad="101600" dist="25400" dir="5400000">
              <a:srgbClr val="000000">
                <a:alpha val="12000"/>
              </a:srgbClr>
            </a:outerShdw>
          </a:effectLst>
        </p:spPr>
      </p:sp>
      <p:sp>
        <p:nvSpPr>
          <p:cNvPr id="13" name="text-293"/>
          <p:cNvSpPr txBox="1"/>
          <p:nvPr/>
        </p:nvSpPr>
        <p:spPr>
          <a:xfrm>
            <a:off x="4474464" y="2971800"/>
            <a:ext cx="1181100" cy="1463040"/>
          </a:xfrm>
          <a:prstGeom prst="rect">
            <a:avLst/>
          </a:prstGeom>
          <a:noFill/>
          <a:ln/>
        </p:spPr>
        <p:txBody>
          <a:bodyPr wrap="square" lIns="0" tIns="0" rIns="0" bIns="0" rtlCol="0" anchor="t"/>
          <a:lstStyle/>
          <a:p>
            <a:pPr indent="0" marL="0">
              <a:buNone/>
            </a:pPr>
            <a:r>
              <a:rPr lang="en-US" sz="1500" dirty="0">
                <a:solidFill>
                  <a:schemeClr val="tx2"/>
                </a:solidFill>
              </a:rPr>
              <a:t>Build a map (SLAM) and track where the car is on it</a:t>
            </a:r>
            <a:endParaRPr lang="en-US" sz="1500" dirty="0"/>
          </a:p>
        </p:txBody>
      </p:sp>
      <p:sp>
        <p:nvSpPr>
          <p:cNvPr id="14" name="tag-294"/>
          <p:cNvSpPr/>
          <p:nvPr/>
        </p:nvSpPr>
        <p:spPr>
          <a:xfrm>
            <a:off x="4474464" y="4617720"/>
            <a:ext cx="1181100" cy="365760"/>
          </a:xfrm>
          <a:prstGeom prst="roundRect">
            <a:avLst>
              <a:gd name="adj" fmla="val 37500"/>
            </a:avLst>
          </a:prstGeom>
          <a:solidFill>
            <a:schemeClr val="accent4"/>
          </a:solidFill>
          <a:ln/>
        </p:spPr>
        <p:txBody>
          <a:bodyPr wrap="square" lIns="0" tIns="0" rIns="0" bIns="0" rtlCol="0" anchor="ctr"/>
          <a:lstStyle/>
          <a:p>
            <a:pPr algn="ctr" indent="0" marL="0">
              <a:buNone/>
            </a:pPr>
            <a:r>
              <a:rPr lang="en-US" sz="1100" b="1" spc="100" kern="0" dirty="0">
                <a:solidFill>
                  <a:schemeClr val="bg1"/>
                </a:solidFill>
              </a:rPr>
              <a:t>NEXT STEP</a:t>
            </a:r>
            <a:endParaRPr lang="en-US" sz="1100" dirty="0"/>
          </a:p>
        </p:txBody>
      </p:sp>
      <p:sp>
        <p:nvSpPr>
          <p:cNvPr id="15" name="stage-295"/>
          <p:cNvSpPr/>
          <p:nvPr/>
        </p:nvSpPr>
        <p:spPr>
          <a:xfrm>
            <a:off x="6094476" y="1600200"/>
            <a:ext cx="1775460" cy="914400"/>
          </a:xfrm>
          <a:prstGeom prst="chevron">
            <a:avLst/>
          </a:prstGeom>
          <a:solidFill>
            <a:schemeClr val="accent1"/>
          </a:solidFill>
          <a:ln/>
        </p:spPr>
        <p:txBody>
          <a:bodyPr wrap="square" lIns="0" tIns="0" rIns="0" bIns="0" rtlCol="0" anchor="ctr"/>
          <a:lstStyle/>
          <a:p>
            <a:pPr algn="ctr" indent="0" marL="0">
              <a:buNone/>
            </a:pPr>
            <a:r>
              <a:rPr lang="en-US" sz="1600" b="1" dirty="0">
                <a:solidFill>
                  <a:schemeClr val="bg1"/>
                </a:solidFill>
              </a:rPr>
              <a:t>Plan</a:t>
            </a:r>
            <a:endParaRPr lang="en-US" sz="1600" dirty="0"/>
          </a:p>
        </p:txBody>
      </p:sp>
      <p:sp>
        <p:nvSpPr>
          <p:cNvPr id="16" name="card-296"/>
          <p:cNvSpPr/>
          <p:nvPr/>
        </p:nvSpPr>
        <p:spPr>
          <a:xfrm>
            <a:off x="6140196" y="2788920"/>
            <a:ext cx="1546860" cy="2423160"/>
          </a:xfrm>
          <a:prstGeom prst="roundRect">
            <a:avLst>
              <a:gd name="adj" fmla="val 4729"/>
            </a:avLst>
          </a:prstGeom>
          <a:solidFill>
            <a:schemeClr val="bg1"/>
          </a:solidFill>
          <a:ln/>
          <a:effectLst>
            <a:outerShdw sx="100000" sy="100000" kx="0" ky="0" algn="bl" rotWithShape="0" blurRad="101600" dist="25400" dir="5400000">
              <a:srgbClr val="000000">
                <a:alpha val="12000"/>
              </a:srgbClr>
            </a:outerShdw>
          </a:effectLst>
        </p:spPr>
      </p:sp>
      <p:sp>
        <p:nvSpPr>
          <p:cNvPr id="17" name="text-297"/>
          <p:cNvSpPr txBox="1"/>
          <p:nvPr/>
        </p:nvSpPr>
        <p:spPr>
          <a:xfrm>
            <a:off x="6323076" y="2971800"/>
            <a:ext cx="1181100" cy="1463040"/>
          </a:xfrm>
          <a:prstGeom prst="rect">
            <a:avLst/>
          </a:prstGeom>
          <a:noFill/>
          <a:ln/>
        </p:spPr>
        <p:txBody>
          <a:bodyPr wrap="square" lIns="0" tIns="0" rIns="0" bIns="0" rtlCol="0" anchor="t"/>
          <a:lstStyle/>
          <a:p>
            <a:pPr indent="0" marL="0">
              <a:buNone/>
            </a:pPr>
            <a:r>
              <a:rPr lang="en-US" sz="1500" dirty="0">
                <a:solidFill>
                  <a:schemeClr val="tx2"/>
                </a:solidFill>
              </a:rPr>
              <a:t>Choose a path: a gap, a wall offset or a raceline</a:t>
            </a:r>
            <a:endParaRPr lang="en-US" sz="1500" dirty="0"/>
          </a:p>
        </p:txBody>
      </p:sp>
      <p:sp>
        <p:nvSpPr>
          <p:cNvPr id="18" name="tag-298"/>
          <p:cNvSpPr/>
          <p:nvPr/>
        </p:nvSpPr>
        <p:spPr>
          <a:xfrm>
            <a:off x="6323076" y="4617720"/>
            <a:ext cx="1181100" cy="365760"/>
          </a:xfrm>
          <a:prstGeom prst="roundRect">
            <a:avLst>
              <a:gd name="adj" fmla="val 37500"/>
            </a:avLst>
          </a:prstGeom>
          <a:solidFill>
            <a:schemeClr val="accent1"/>
          </a:solidFill>
          <a:ln/>
        </p:spPr>
        <p:txBody>
          <a:bodyPr wrap="square" lIns="0" tIns="0" rIns="0" bIns="0" rtlCol="0" anchor="ctr"/>
          <a:lstStyle/>
          <a:p>
            <a:pPr algn="ctr" indent="0" marL="0">
              <a:buNone/>
            </a:pPr>
            <a:r>
              <a:rPr lang="en-US" sz="1100" b="1" spc="100" kern="0" dirty="0">
                <a:solidFill>
                  <a:schemeClr val="bg1"/>
                </a:solidFill>
              </a:rPr>
              <a:t>TODAY</a:t>
            </a:r>
            <a:endParaRPr lang="en-US" sz="1100" dirty="0"/>
          </a:p>
        </p:txBody>
      </p:sp>
      <p:sp>
        <p:nvSpPr>
          <p:cNvPr id="19" name="stage-299"/>
          <p:cNvSpPr/>
          <p:nvPr/>
        </p:nvSpPr>
        <p:spPr>
          <a:xfrm>
            <a:off x="7943088" y="1600200"/>
            <a:ext cx="1775460" cy="914400"/>
          </a:xfrm>
          <a:prstGeom prst="chevron">
            <a:avLst/>
          </a:prstGeom>
          <a:solidFill>
            <a:schemeClr val="accent1"/>
          </a:solidFill>
          <a:ln/>
        </p:spPr>
        <p:txBody>
          <a:bodyPr wrap="square" lIns="0" tIns="0" rIns="0" bIns="0" rtlCol="0" anchor="ctr"/>
          <a:lstStyle/>
          <a:p>
            <a:pPr algn="ctr" indent="0" marL="0">
              <a:buNone/>
            </a:pPr>
            <a:r>
              <a:rPr lang="en-US" sz="1600" b="1" dirty="0">
                <a:solidFill>
                  <a:schemeClr val="bg1"/>
                </a:solidFill>
              </a:rPr>
              <a:t>Control</a:t>
            </a:r>
            <a:endParaRPr lang="en-US" sz="1600" dirty="0"/>
          </a:p>
        </p:txBody>
      </p:sp>
      <p:sp>
        <p:nvSpPr>
          <p:cNvPr id="20" name="card-300"/>
          <p:cNvSpPr/>
          <p:nvPr/>
        </p:nvSpPr>
        <p:spPr>
          <a:xfrm>
            <a:off x="7988808" y="2788920"/>
            <a:ext cx="1546860" cy="2423160"/>
          </a:xfrm>
          <a:prstGeom prst="roundRect">
            <a:avLst>
              <a:gd name="adj" fmla="val 4729"/>
            </a:avLst>
          </a:prstGeom>
          <a:solidFill>
            <a:schemeClr val="bg1"/>
          </a:solidFill>
          <a:ln/>
          <a:effectLst>
            <a:outerShdw sx="100000" sy="100000" kx="0" ky="0" algn="bl" rotWithShape="0" blurRad="101600" dist="25400" dir="5400000">
              <a:srgbClr val="000000">
                <a:alpha val="12000"/>
              </a:srgbClr>
            </a:outerShdw>
          </a:effectLst>
        </p:spPr>
      </p:sp>
      <p:sp>
        <p:nvSpPr>
          <p:cNvPr id="21" name="text-301"/>
          <p:cNvSpPr txBox="1"/>
          <p:nvPr/>
        </p:nvSpPr>
        <p:spPr>
          <a:xfrm>
            <a:off x="8171688" y="2971800"/>
            <a:ext cx="1181100" cy="1463040"/>
          </a:xfrm>
          <a:prstGeom prst="rect">
            <a:avLst/>
          </a:prstGeom>
          <a:noFill/>
          <a:ln/>
        </p:spPr>
        <p:txBody>
          <a:bodyPr wrap="square" lIns="0" tIns="0" rIns="0" bIns="0" rtlCol="0" anchor="t"/>
          <a:lstStyle/>
          <a:p>
            <a:pPr indent="0" marL="0">
              <a:buNone/>
            </a:pPr>
            <a:r>
              <a:rPr lang="en-US" sz="1500" dirty="0">
                <a:solidFill>
                  <a:schemeClr val="tx2"/>
                </a:solidFill>
              </a:rPr>
              <a:t>Turn the path into steering and speed</a:t>
            </a:r>
            <a:endParaRPr lang="en-US" sz="1500" dirty="0"/>
          </a:p>
        </p:txBody>
      </p:sp>
      <p:sp>
        <p:nvSpPr>
          <p:cNvPr id="22" name="tag-302"/>
          <p:cNvSpPr/>
          <p:nvPr/>
        </p:nvSpPr>
        <p:spPr>
          <a:xfrm>
            <a:off x="8171688" y="4617720"/>
            <a:ext cx="1181100" cy="365760"/>
          </a:xfrm>
          <a:prstGeom prst="roundRect">
            <a:avLst>
              <a:gd name="adj" fmla="val 37500"/>
            </a:avLst>
          </a:prstGeom>
          <a:solidFill>
            <a:schemeClr val="accent1"/>
          </a:solidFill>
          <a:ln/>
        </p:spPr>
        <p:txBody>
          <a:bodyPr wrap="square" lIns="0" tIns="0" rIns="0" bIns="0" rtlCol="0" anchor="ctr"/>
          <a:lstStyle/>
          <a:p>
            <a:pPr algn="ctr" indent="0" marL="0">
              <a:buNone/>
            </a:pPr>
            <a:r>
              <a:rPr lang="en-US" sz="1100" b="1" spc="100" kern="0" dirty="0">
                <a:solidFill>
                  <a:schemeClr val="bg1"/>
                </a:solidFill>
              </a:rPr>
              <a:t>TODAY</a:t>
            </a:r>
            <a:endParaRPr lang="en-US" sz="1100" dirty="0"/>
          </a:p>
        </p:txBody>
      </p:sp>
      <p:sp>
        <p:nvSpPr>
          <p:cNvPr id="23" name="stage-303"/>
          <p:cNvSpPr/>
          <p:nvPr/>
        </p:nvSpPr>
        <p:spPr>
          <a:xfrm>
            <a:off x="9791700" y="1600200"/>
            <a:ext cx="1775460" cy="914400"/>
          </a:xfrm>
          <a:prstGeom prst="chevron">
            <a:avLst/>
          </a:prstGeom>
          <a:solidFill>
            <a:schemeClr val="tx2"/>
          </a:solidFill>
          <a:ln/>
        </p:spPr>
        <p:txBody>
          <a:bodyPr wrap="square" lIns="0" tIns="0" rIns="0" bIns="0" rtlCol="0" anchor="ctr"/>
          <a:lstStyle/>
          <a:p>
            <a:pPr algn="ctr" indent="0" marL="0">
              <a:buNone/>
            </a:pPr>
            <a:r>
              <a:rPr lang="en-US" sz="1600" b="1" dirty="0">
                <a:solidFill>
                  <a:schemeClr val="bg1"/>
                </a:solidFill>
              </a:rPr>
              <a:t>Act</a:t>
            </a:r>
            <a:endParaRPr lang="en-US" sz="1600" dirty="0"/>
          </a:p>
        </p:txBody>
      </p:sp>
      <p:sp>
        <p:nvSpPr>
          <p:cNvPr id="24" name="card-304"/>
          <p:cNvSpPr/>
          <p:nvPr/>
        </p:nvSpPr>
        <p:spPr>
          <a:xfrm>
            <a:off x="9837420" y="2788920"/>
            <a:ext cx="1546860" cy="2423160"/>
          </a:xfrm>
          <a:prstGeom prst="roundRect">
            <a:avLst>
              <a:gd name="adj" fmla="val 4729"/>
            </a:avLst>
          </a:prstGeom>
          <a:solidFill>
            <a:schemeClr val="bg1"/>
          </a:solidFill>
          <a:ln/>
          <a:effectLst>
            <a:outerShdw sx="100000" sy="100000" kx="0" ky="0" algn="bl" rotWithShape="0" blurRad="101600" dist="25400" dir="5400000">
              <a:srgbClr val="000000">
                <a:alpha val="12000"/>
              </a:srgbClr>
            </a:outerShdw>
          </a:effectLst>
        </p:spPr>
      </p:sp>
      <p:sp>
        <p:nvSpPr>
          <p:cNvPr id="25" name="text-305"/>
          <p:cNvSpPr txBox="1"/>
          <p:nvPr/>
        </p:nvSpPr>
        <p:spPr>
          <a:xfrm>
            <a:off x="10020300" y="2971800"/>
            <a:ext cx="1181100" cy="1463040"/>
          </a:xfrm>
          <a:prstGeom prst="rect">
            <a:avLst/>
          </a:prstGeom>
          <a:noFill/>
          <a:ln/>
        </p:spPr>
        <p:txBody>
          <a:bodyPr wrap="square" lIns="0" tIns="0" rIns="0" bIns="0" rtlCol="0" anchor="t"/>
          <a:lstStyle/>
          <a:p>
            <a:pPr indent="0" marL="0">
              <a:buNone/>
            </a:pPr>
            <a:r>
              <a:rPr lang="en-US" sz="1500" dirty="0">
                <a:solidFill>
                  <a:schemeClr val="tx2"/>
                </a:solidFill>
              </a:rPr>
              <a:t>Motor controller and steering servo</a:t>
            </a:r>
            <a:endParaRPr lang="en-US" sz="1500" dirty="0"/>
          </a:p>
        </p:txBody>
      </p:sp>
      <p:sp>
        <p:nvSpPr>
          <p:cNvPr id="26" name="tag-306"/>
          <p:cNvSpPr/>
          <p:nvPr/>
        </p:nvSpPr>
        <p:spPr>
          <a:xfrm>
            <a:off x="10020300" y="4617720"/>
            <a:ext cx="1181100" cy="365760"/>
          </a:xfrm>
          <a:prstGeom prst="roundRect">
            <a:avLst>
              <a:gd name="adj" fmla="val 37500"/>
            </a:avLst>
          </a:prstGeom>
          <a:solidFill>
            <a:schemeClr val="tx2"/>
          </a:solidFill>
          <a:ln/>
        </p:spPr>
        <p:txBody>
          <a:bodyPr wrap="square" lIns="0" tIns="0" rIns="0" bIns="0" rtlCol="0" anchor="ctr"/>
          <a:lstStyle/>
          <a:p>
            <a:pPr algn="ctr" indent="0" marL="0">
              <a:buNone/>
            </a:pPr>
            <a:r>
              <a:rPr lang="en-US" sz="1100" b="1" spc="100" kern="0" dirty="0">
                <a:solidFill>
                  <a:schemeClr val="bg1"/>
                </a:solidFill>
              </a:rPr>
              <a:t>RUNTIME</a:t>
            </a:r>
            <a:endParaRPr lang="en-US" sz="1100" dirty="0"/>
          </a:p>
        </p:txBody>
      </p:sp>
      <p:sp>
        <p:nvSpPr>
          <p:cNvPr id="27" name="text-307"/>
          <p:cNvSpPr txBox="1"/>
          <p:nvPr/>
        </p:nvSpPr>
        <p:spPr>
          <a:xfrm>
            <a:off x="548640" y="5440680"/>
            <a:ext cx="11091672" cy="548640"/>
          </a:xfrm>
          <a:prstGeom prst="rect">
            <a:avLst/>
          </a:prstGeom>
          <a:noFill/>
          <a:ln/>
        </p:spPr>
        <p:txBody>
          <a:bodyPr wrap="square" lIns="0" tIns="0" rIns="0" bIns="0" rtlCol="0" anchor="ctr"/>
          <a:lstStyle/>
          <a:p>
            <a:pPr indent="0" marL="0">
              <a:buNone/>
            </a:pPr>
            <a:r>
              <a:rPr lang="en-US" sz="1600" b="1" dirty="0">
                <a:solidFill>
                  <a:schemeClr val="tx1"/>
                </a:solidFill>
              </a:rPr>
              <a:t>Today you build the red stages </a:t>
            </a:r>
            <a:pPr indent="0" marL="0">
              <a:buNone/>
            </a:pPr>
            <a:r>
              <a:rPr lang="en-US" sz="1600" dirty="0">
                <a:solidFill>
                  <a:schemeClr val="tx2"/>
                </a:solidFill>
              </a:rPr>
              <a:t>without a map: that is reactive driving. Map-based racing adds localization and an optimised raceline.</a:t>
            </a:r>
            <a:endParaRPr lang="en-US" sz="16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Two ways to drive a race</a:t>
            </a:r>
            <a:endParaRPr lang="en-US" sz="3600" dirty="0"/>
          </a:p>
        </p:txBody>
      </p:sp>
      <p:sp>
        <p:nvSpPr>
          <p:cNvPr id="3" name="card-308"/>
          <p:cNvSpPr/>
          <p:nvPr/>
        </p:nvSpPr>
        <p:spPr>
          <a:xfrm>
            <a:off x="548640" y="1463040"/>
            <a:ext cx="5408676" cy="4572000"/>
          </a:xfrm>
          <a:prstGeom prst="roundRect">
            <a:avLst>
              <a:gd name="adj" fmla="val 1600"/>
            </a:avLst>
          </a:prstGeom>
          <a:solidFill>
            <a:schemeClr val="bg1"/>
          </a:solidFill>
          <a:ln/>
          <a:effectLst>
            <a:outerShdw sx="100000" sy="100000" kx="0" ky="0" algn="bl" rotWithShape="0" blurRad="101600" dist="25400" dir="5400000">
              <a:srgbClr val="000000">
                <a:alpha val="12000"/>
              </a:srgbClr>
            </a:outerShdw>
          </a:effectLst>
        </p:spPr>
      </p:sp>
      <p:sp>
        <p:nvSpPr>
          <p:cNvPr id="4" name="icon-circle-309"/>
          <p:cNvSpPr/>
          <p:nvPr/>
        </p:nvSpPr>
        <p:spPr>
          <a:xfrm>
            <a:off x="868680" y="1645920"/>
            <a:ext cx="640080" cy="640080"/>
          </a:xfrm>
          <a:prstGeom prst="ellipse">
            <a:avLst/>
          </a:prstGeom>
          <a:solidFill>
            <a:schemeClr val="accent1"/>
          </a:solidFill>
          <a:ln/>
        </p:spPr>
      </p:sp>
      <p:pic>
        <p:nvPicPr>
          <p:cNvPr id="5" name="icon-310" descr="preencoded.png">    </p:cNvPr>
          <p:cNvPicPr>
            <a:picLocks noChangeAspect="1"/>
          </p:cNvPicPr>
          <p:nvPr/>
        </p:nvPicPr>
        <p:blipFill>
          <a:blip r:embed="rId1"/>
          <a:stretch>
            <a:fillRect/>
          </a:stretch>
        </p:blipFill>
        <p:spPr>
          <a:xfrm>
            <a:off x="1028700" y="1805940"/>
            <a:ext cx="320040" cy="320040"/>
          </a:xfrm>
          <a:prstGeom prst="rect">
            <a:avLst/>
          </a:prstGeom>
        </p:spPr>
      </p:pic>
      <p:sp>
        <p:nvSpPr>
          <p:cNvPr id="6" name="text-311"/>
          <p:cNvSpPr txBox="1"/>
          <p:nvPr/>
        </p:nvSpPr>
        <p:spPr>
          <a:xfrm>
            <a:off x="1691640" y="1645920"/>
            <a:ext cx="2377440" cy="640080"/>
          </a:xfrm>
          <a:prstGeom prst="rect">
            <a:avLst/>
          </a:prstGeom>
          <a:noFill/>
          <a:ln/>
        </p:spPr>
        <p:txBody>
          <a:bodyPr wrap="square" lIns="0" tIns="0" rIns="0" bIns="0" rtlCol="0" anchor="ctr"/>
          <a:lstStyle/>
          <a:p>
            <a:pPr indent="0" marL="0">
              <a:buNone/>
            </a:pPr>
            <a:r>
              <a:rPr lang="en-US" sz="2400" b="1" dirty="0">
                <a:solidFill>
                  <a:schemeClr val="tx1"/>
                </a:solidFill>
                <a:latin typeface="Arial" pitchFamily="34" charset="0"/>
                <a:ea typeface="Arial" pitchFamily="34" charset="-122"/>
                <a:cs typeface="Arial" pitchFamily="34" charset="-120"/>
              </a:rPr>
              <a:t>Reactive</a:t>
            </a:r>
            <a:endParaRPr lang="en-US" sz="2400" dirty="0"/>
          </a:p>
        </p:txBody>
      </p:sp>
      <p:sp>
        <p:nvSpPr>
          <p:cNvPr id="7" name="today-tag-312"/>
          <p:cNvSpPr/>
          <p:nvPr/>
        </p:nvSpPr>
        <p:spPr>
          <a:xfrm>
            <a:off x="4631436" y="1783080"/>
            <a:ext cx="1005840" cy="365760"/>
          </a:xfrm>
          <a:prstGeom prst="roundRect">
            <a:avLst>
              <a:gd name="adj" fmla="val 37500"/>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TODAY</a:t>
            </a:r>
            <a:endParaRPr lang="en-US" sz="1200" dirty="0"/>
          </a:p>
        </p:txBody>
      </p:sp>
      <p:sp>
        <p:nvSpPr>
          <p:cNvPr id="8" name="text-313"/>
          <p:cNvSpPr txBox="1"/>
          <p:nvPr/>
        </p:nvSpPr>
        <p:spPr>
          <a:xfrm>
            <a:off x="868680" y="2514600"/>
            <a:ext cx="4768596"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HOW IT WORKS</a:t>
            </a:r>
            <a:endParaRPr lang="en-US" sz="1200" dirty="0"/>
          </a:p>
        </p:txBody>
      </p:sp>
      <p:sp>
        <p:nvSpPr>
          <p:cNvPr id="9" name="text-314"/>
          <p:cNvSpPr txBox="1"/>
          <p:nvPr/>
        </p:nvSpPr>
        <p:spPr>
          <a:xfrm>
            <a:off x="868680" y="2788920"/>
            <a:ext cx="4768596" cy="502920"/>
          </a:xfrm>
          <a:prstGeom prst="rect">
            <a:avLst/>
          </a:prstGeom>
          <a:noFill/>
          <a:ln/>
        </p:spPr>
        <p:txBody>
          <a:bodyPr wrap="square" lIns="0" tIns="0" rIns="0" bIns="0" rtlCol="0" anchor="t"/>
          <a:lstStyle/>
          <a:p>
            <a:pPr indent="0" marL="0">
              <a:buNone/>
            </a:pPr>
            <a:r>
              <a:rPr lang="en-US" sz="1600" dirty="0">
                <a:solidFill>
                  <a:schemeClr val="tx1"/>
                </a:solidFill>
              </a:rPr>
              <a:t>React to the latest LiDAR scan only. No map.</a:t>
            </a:r>
            <a:endParaRPr lang="en-US" sz="1600" dirty="0"/>
          </a:p>
        </p:txBody>
      </p:sp>
      <p:sp>
        <p:nvSpPr>
          <p:cNvPr id="10" name="text-315"/>
          <p:cNvSpPr txBox="1"/>
          <p:nvPr/>
        </p:nvSpPr>
        <p:spPr>
          <a:xfrm>
            <a:off x="868680" y="3383280"/>
            <a:ext cx="4768596"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ALGORITHMS</a:t>
            </a:r>
            <a:endParaRPr lang="en-US" sz="1200" dirty="0"/>
          </a:p>
        </p:txBody>
      </p:sp>
      <p:sp>
        <p:nvSpPr>
          <p:cNvPr id="11" name="text-316"/>
          <p:cNvSpPr txBox="1"/>
          <p:nvPr/>
        </p:nvSpPr>
        <p:spPr>
          <a:xfrm>
            <a:off x="868680" y="3657600"/>
            <a:ext cx="4768596" cy="502920"/>
          </a:xfrm>
          <a:prstGeom prst="rect">
            <a:avLst/>
          </a:prstGeom>
          <a:noFill/>
          <a:ln/>
        </p:spPr>
        <p:txBody>
          <a:bodyPr wrap="square" lIns="0" tIns="0" rIns="0" bIns="0" rtlCol="0" anchor="t"/>
          <a:lstStyle/>
          <a:p>
            <a:pPr indent="0" marL="0">
              <a:buNone/>
            </a:pPr>
            <a:r>
              <a:rPr lang="en-US" sz="1600" dirty="0">
                <a:solidFill>
                  <a:schemeClr val="tx1"/>
                </a:solidFill>
              </a:rPr>
              <a:t>Wall following, Follow the Gap, emergency braking</a:t>
            </a:r>
            <a:endParaRPr lang="en-US" sz="1600" dirty="0"/>
          </a:p>
        </p:txBody>
      </p:sp>
      <p:sp>
        <p:nvSpPr>
          <p:cNvPr id="12" name="text-317"/>
          <p:cNvSpPr txBox="1"/>
          <p:nvPr/>
        </p:nvSpPr>
        <p:spPr>
          <a:xfrm>
            <a:off x="868680" y="4251960"/>
            <a:ext cx="4768596"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STRENGTH</a:t>
            </a:r>
            <a:endParaRPr lang="en-US" sz="1200" dirty="0"/>
          </a:p>
        </p:txBody>
      </p:sp>
      <p:sp>
        <p:nvSpPr>
          <p:cNvPr id="13" name="text-318"/>
          <p:cNvSpPr txBox="1"/>
          <p:nvPr/>
        </p:nvSpPr>
        <p:spPr>
          <a:xfrm>
            <a:off x="868680" y="4526280"/>
            <a:ext cx="4768596" cy="502920"/>
          </a:xfrm>
          <a:prstGeom prst="rect">
            <a:avLst/>
          </a:prstGeom>
          <a:noFill/>
          <a:ln/>
        </p:spPr>
        <p:txBody>
          <a:bodyPr wrap="square" lIns="0" tIns="0" rIns="0" bIns="0" rtlCol="0" anchor="t"/>
          <a:lstStyle/>
          <a:p>
            <a:pPr indent="0" marL="0">
              <a:buNone/>
            </a:pPr>
            <a:r>
              <a:rPr lang="en-US" sz="1600" dirty="0">
                <a:solidFill>
                  <a:schemeClr val="tx1"/>
                </a:solidFill>
              </a:rPr>
              <a:t>Simple, and works on any track immediately</a:t>
            </a:r>
            <a:endParaRPr lang="en-US" sz="1600" dirty="0"/>
          </a:p>
        </p:txBody>
      </p:sp>
      <p:sp>
        <p:nvSpPr>
          <p:cNvPr id="14" name="text-319"/>
          <p:cNvSpPr txBox="1"/>
          <p:nvPr/>
        </p:nvSpPr>
        <p:spPr>
          <a:xfrm>
            <a:off x="868680" y="5120640"/>
            <a:ext cx="4768596"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WATCH OUT</a:t>
            </a:r>
            <a:endParaRPr lang="en-US" sz="1200" dirty="0"/>
          </a:p>
        </p:txBody>
      </p:sp>
      <p:sp>
        <p:nvSpPr>
          <p:cNvPr id="15" name="text-320"/>
          <p:cNvSpPr txBox="1"/>
          <p:nvPr/>
        </p:nvSpPr>
        <p:spPr>
          <a:xfrm>
            <a:off x="868680" y="5394960"/>
            <a:ext cx="4768596" cy="502920"/>
          </a:xfrm>
          <a:prstGeom prst="rect">
            <a:avLst/>
          </a:prstGeom>
          <a:noFill/>
          <a:ln/>
        </p:spPr>
        <p:txBody>
          <a:bodyPr wrap="square" lIns="0" tIns="0" rIns="0" bIns="0" rtlCol="0" anchor="t"/>
          <a:lstStyle/>
          <a:p>
            <a:pPr indent="0" marL="0">
              <a:buNone/>
            </a:pPr>
            <a:r>
              <a:rPr lang="en-US" sz="1600" dirty="0">
                <a:solidFill>
                  <a:schemeClr val="tx1"/>
                </a:solidFill>
              </a:rPr>
              <a:t>Short-sighted: it can't plan a fast line through corners</a:t>
            </a:r>
            <a:endParaRPr lang="en-US" sz="1600" dirty="0"/>
          </a:p>
        </p:txBody>
      </p:sp>
      <p:sp>
        <p:nvSpPr>
          <p:cNvPr id="16" name="card-321"/>
          <p:cNvSpPr/>
          <p:nvPr/>
        </p:nvSpPr>
        <p:spPr>
          <a:xfrm>
            <a:off x="6231636" y="1463040"/>
            <a:ext cx="5408676" cy="4572000"/>
          </a:xfrm>
          <a:prstGeom prst="roundRect">
            <a:avLst>
              <a:gd name="adj" fmla="val 1600"/>
            </a:avLst>
          </a:prstGeom>
          <a:solidFill>
            <a:schemeClr val="bg1"/>
          </a:solidFill>
          <a:ln/>
          <a:effectLst>
            <a:outerShdw sx="100000" sy="100000" kx="0" ky="0" algn="bl" rotWithShape="0" blurRad="101600" dist="25400" dir="5400000">
              <a:srgbClr val="000000">
                <a:alpha val="12000"/>
              </a:srgbClr>
            </a:outerShdw>
          </a:effectLst>
        </p:spPr>
      </p:sp>
      <p:sp>
        <p:nvSpPr>
          <p:cNvPr id="17" name="icon-circle-322"/>
          <p:cNvSpPr/>
          <p:nvPr/>
        </p:nvSpPr>
        <p:spPr>
          <a:xfrm>
            <a:off x="6551676" y="1645920"/>
            <a:ext cx="640080" cy="640080"/>
          </a:xfrm>
          <a:prstGeom prst="ellipse">
            <a:avLst/>
          </a:prstGeom>
          <a:solidFill>
            <a:schemeClr val="tx1"/>
          </a:solidFill>
          <a:ln/>
        </p:spPr>
      </p:sp>
      <p:pic>
        <p:nvPicPr>
          <p:cNvPr id="18" name="icon-323" descr="preencoded.png">    </p:cNvPr>
          <p:cNvPicPr>
            <a:picLocks noChangeAspect="1"/>
          </p:cNvPicPr>
          <p:nvPr/>
        </p:nvPicPr>
        <p:blipFill>
          <a:blip r:embed="rId2"/>
          <a:stretch>
            <a:fillRect/>
          </a:stretch>
        </p:blipFill>
        <p:spPr>
          <a:xfrm>
            <a:off x="6711696" y="1805940"/>
            <a:ext cx="320040" cy="320040"/>
          </a:xfrm>
          <a:prstGeom prst="rect">
            <a:avLst/>
          </a:prstGeom>
        </p:spPr>
      </p:pic>
      <p:sp>
        <p:nvSpPr>
          <p:cNvPr id="19" name="text-324"/>
          <p:cNvSpPr txBox="1"/>
          <p:nvPr/>
        </p:nvSpPr>
        <p:spPr>
          <a:xfrm>
            <a:off x="7374636" y="1645920"/>
            <a:ext cx="2377440" cy="640080"/>
          </a:xfrm>
          <a:prstGeom prst="rect">
            <a:avLst/>
          </a:prstGeom>
          <a:noFill/>
          <a:ln/>
        </p:spPr>
        <p:txBody>
          <a:bodyPr wrap="square" lIns="0" tIns="0" rIns="0" bIns="0" rtlCol="0" anchor="ctr"/>
          <a:lstStyle/>
          <a:p>
            <a:pPr indent="0" marL="0">
              <a:buNone/>
            </a:pPr>
            <a:r>
              <a:rPr lang="en-US" sz="2400" b="1" dirty="0">
                <a:solidFill>
                  <a:schemeClr val="tx1"/>
                </a:solidFill>
                <a:latin typeface="Arial" pitchFamily="34" charset="0"/>
                <a:ea typeface="Arial" pitchFamily="34" charset="-122"/>
                <a:cs typeface="Arial" pitchFamily="34" charset="-120"/>
              </a:rPr>
              <a:t>Map-based</a:t>
            </a:r>
            <a:endParaRPr lang="en-US" sz="2400" dirty="0"/>
          </a:p>
        </p:txBody>
      </p:sp>
      <p:sp>
        <p:nvSpPr>
          <p:cNvPr id="20" name="next-tag-325"/>
          <p:cNvSpPr/>
          <p:nvPr/>
        </p:nvSpPr>
        <p:spPr>
          <a:xfrm>
            <a:off x="10177272" y="1783080"/>
            <a:ext cx="1143000" cy="365760"/>
          </a:xfrm>
          <a:prstGeom prst="roundRect">
            <a:avLst>
              <a:gd name="adj" fmla="val 37500"/>
            </a:avLst>
          </a:prstGeom>
          <a:solidFill>
            <a:schemeClr val="accent4"/>
          </a:solidFill>
          <a:ln/>
        </p:spPr>
        <p:txBody>
          <a:bodyPr wrap="square" lIns="0" tIns="0" rIns="0" bIns="0" rtlCol="0" anchor="ctr"/>
          <a:lstStyle/>
          <a:p>
            <a:pPr algn="ctr" indent="0" marL="0">
              <a:buNone/>
            </a:pPr>
            <a:r>
              <a:rPr lang="en-US" sz="1200" b="1" spc="100" kern="0" dirty="0">
                <a:solidFill>
                  <a:schemeClr val="bg1"/>
                </a:solidFill>
              </a:rPr>
              <a:t>NEXT STEP</a:t>
            </a:r>
            <a:endParaRPr lang="en-US" sz="1200" dirty="0"/>
          </a:p>
        </p:txBody>
      </p:sp>
      <p:sp>
        <p:nvSpPr>
          <p:cNvPr id="21" name="text-326"/>
          <p:cNvSpPr txBox="1"/>
          <p:nvPr/>
        </p:nvSpPr>
        <p:spPr>
          <a:xfrm>
            <a:off x="6551676" y="2514600"/>
            <a:ext cx="4768596" cy="274320"/>
          </a:xfrm>
          <a:prstGeom prst="rect">
            <a:avLst/>
          </a:prstGeom>
          <a:noFill/>
          <a:ln/>
        </p:spPr>
        <p:txBody>
          <a:bodyPr wrap="square" lIns="0" tIns="0" rIns="0" bIns="0" rtlCol="0" anchor="t"/>
          <a:lstStyle/>
          <a:p>
            <a:pPr indent="0" marL="0">
              <a:buNone/>
            </a:pPr>
            <a:r>
              <a:rPr lang="en-US" sz="1200" b="1" spc="100" kern="0" dirty="0">
                <a:solidFill>
                  <a:schemeClr val="accent4"/>
                </a:solidFill>
              </a:rPr>
              <a:t>HOW IT WORKS</a:t>
            </a:r>
            <a:endParaRPr lang="en-US" sz="1200" dirty="0"/>
          </a:p>
        </p:txBody>
      </p:sp>
      <p:sp>
        <p:nvSpPr>
          <p:cNvPr id="22" name="text-327"/>
          <p:cNvSpPr txBox="1"/>
          <p:nvPr/>
        </p:nvSpPr>
        <p:spPr>
          <a:xfrm>
            <a:off x="6551676" y="2788920"/>
            <a:ext cx="4768596" cy="502920"/>
          </a:xfrm>
          <a:prstGeom prst="rect">
            <a:avLst/>
          </a:prstGeom>
          <a:noFill/>
          <a:ln/>
        </p:spPr>
        <p:txBody>
          <a:bodyPr wrap="square" lIns="0" tIns="0" rIns="0" bIns="0" rtlCol="0" anchor="t"/>
          <a:lstStyle/>
          <a:p>
            <a:pPr indent="0" marL="0">
              <a:buNone/>
            </a:pPr>
            <a:r>
              <a:rPr lang="en-US" sz="1600" dirty="0">
                <a:solidFill>
                  <a:schemeClr val="tx1"/>
                </a:solidFill>
              </a:rPr>
              <a:t>Map the track first, then localize on it every scan.</a:t>
            </a:r>
            <a:endParaRPr lang="en-US" sz="1600" dirty="0"/>
          </a:p>
        </p:txBody>
      </p:sp>
      <p:sp>
        <p:nvSpPr>
          <p:cNvPr id="23" name="text-328"/>
          <p:cNvSpPr txBox="1"/>
          <p:nvPr/>
        </p:nvSpPr>
        <p:spPr>
          <a:xfrm>
            <a:off x="6551676" y="3383280"/>
            <a:ext cx="4768596" cy="274320"/>
          </a:xfrm>
          <a:prstGeom prst="rect">
            <a:avLst/>
          </a:prstGeom>
          <a:noFill/>
          <a:ln/>
        </p:spPr>
        <p:txBody>
          <a:bodyPr wrap="square" lIns="0" tIns="0" rIns="0" bIns="0" rtlCol="0" anchor="t"/>
          <a:lstStyle/>
          <a:p>
            <a:pPr indent="0" marL="0">
              <a:buNone/>
            </a:pPr>
            <a:r>
              <a:rPr lang="en-US" sz="1200" b="1" spc="100" kern="0" dirty="0">
                <a:solidFill>
                  <a:schemeClr val="accent4"/>
                </a:solidFill>
              </a:rPr>
              <a:t>ALGORITHMS</a:t>
            </a:r>
            <a:endParaRPr lang="en-US" sz="1200" dirty="0"/>
          </a:p>
        </p:txBody>
      </p:sp>
      <p:sp>
        <p:nvSpPr>
          <p:cNvPr id="24" name="text-329"/>
          <p:cNvSpPr txBox="1"/>
          <p:nvPr/>
        </p:nvSpPr>
        <p:spPr>
          <a:xfrm>
            <a:off x="6551676" y="3657600"/>
            <a:ext cx="4768596" cy="502920"/>
          </a:xfrm>
          <a:prstGeom prst="rect">
            <a:avLst/>
          </a:prstGeom>
          <a:noFill/>
          <a:ln/>
        </p:spPr>
        <p:txBody>
          <a:bodyPr wrap="square" lIns="0" tIns="0" rIns="0" bIns="0" rtlCol="0" anchor="t"/>
          <a:lstStyle/>
          <a:p>
            <a:pPr indent="0" marL="0">
              <a:buNone/>
            </a:pPr>
            <a:r>
              <a:rPr lang="en-US" sz="1600" dirty="0">
                <a:solidFill>
                  <a:schemeClr val="tx1"/>
                </a:solidFill>
              </a:rPr>
              <a:t>SLAM, particle filter, raceline optimisation, Pure Pursuit or MPC</a:t>
            </a:r>
            <a:endParaRPr lang="en-US" sz="1600" dirty="0"/>
          </a:p>
        </p:txBody>
      </p:sp>
      <p:sp>
        <p:nvSpPr>
          <p:cNvPr id="25" name="text-330"/>
          <p:cNvSpPr txBox="1"/>
          <p:nvPr/>
        </p:nvSpPr>
        <p:spPr>
          <a:xfrm>
            <a:off x="6551676" y="4251960"/>
            <a:ext cx="4768596" cy="274320"/>
          </a:xfrm>
          <a:prstGeom prst="rect">
            <a:avLst/>
          </a:prstGeom>
          <a:noFill/>
          <a:ln/>
        </p:spPr>
        <p:txBody>
          <a:bodyPr wrap="square" lIns="0" tIns="0" rIns="0" bIns="0" rtlCol="0" anchor="t"/>
          <a:lstStyle/>
          <a:p>
            <a:pPr indent="0" marL="0">
              <a:buNone/>
            </a:pPr>
            <a:r>
              <a:rPr lang="en-US" sz="1200" b="1" spc="100" kern="0" dirty="0">
                <a:solidFill>
                  <a:schemeClr val="accent4"/>
                </a:solidFill>
              </a:rPr>
              <a:t>STRENGTH</a:t>
            </a:r>
            <a:endParaRPr lang="en-US" sz="1200" dirty="0"/>
          </a:p>
        </p:txBody>
      </p:sp>
      <p:sp>
        <p:nvSpPr>
          <p:cNvPr id="26" name="text-331"/>
          <p:cNvSpPr txBox="1"/>
          <p:nvPr/>
        </p:nvSpPr>
        <p:spPr>
          <a:xfrm>
            <a:off x="6551676" y="4526280"/>
            <a:ext cx="4768596" cy="502920"/>
          </a:xfrm>
          <a:prstGeom prst="rect">
            <a:avLst/>
          </a:prstGeom>
          <a:noFill/>
          <a:ln/>
        </p:spPr>
        <p:txBody>
          <a:bodyPr wrap="square" lIns="0" tIns="0" rIns="0" bIns="0" rtlCol="0" anchor="t"/>
          <a:lstStyle/>
          <a:p>
            <a:pPr indent="0" marL="0">
              <a:buNone/>
            </a:pPr>
            <a:r>
              <a:rPr lang="en-US" sz="1600" dirty="0">
                <a:solidFill>
                  <a:schemeClr val="tx1"/>
                </a:solidFill>
              </a:rPr>
              <a:t>Fastest laps: it plans the whole lap in advance</a:t>
            </a:r>
            <a:endParaRPr lang="en-US" sz="1600" dirty="0"/>
          </a:p>
        </p:txBody>
      </p:sp>
      <p:sp>
        <p:nvSpPr>
          <p:cNvPr id="27" name="text-332"/>
          <p:cNvSpPr txBox="1"/>
          <p:nvPr/>
        </p:nvSpPr>
        <p:spPr>
          <a:xfrm>
            <a:off x="6551676" y="5120640"/>
            <a:ext cx="4768596" cy="274320"/>
          </a:xfrm>
          <a:prstGeom prst="rect">
            <a:avLst/>
          </a:prstGeom>
          <a:noFill/>
          <a:ln/>
        </p:spPr>
        <p:txBody>
          <a:bodyPr wrap="square" lIns="0" tIns="0" rIns="0" bIns="0" rtlCol="0" anchor="t"/>
          <a:lstStyle/>
          <a:p>
            <a:pPr indent="0" marL="0">
              <a:buNone/>
            </a:pPr>
            <a:r>
              <a:rPr lang="en-US" sz="1200" b="1" spc="100" kern="0" dirty="0">
                <a:solidFill>
                  <a:schemeClr val="accent4"/>
                </a:solidFill>
              </a:rPr>
              <a:t>WATCH OUT</a:t>
            </a:r>
            <a:endParaRPr lang="en-US" sz="1200" dirty="0"/>
          </a:p>
        </p:txBody>
      </p:sp>
      <p:sp>
        <p:nvSpPr>
          <p:cNvPr id="28" name="text-333"/>
          <p:cNvSpPr txBox="1"/>
          <p:nvPr/>
        </p:nvSpPr>
        <p:spPr>
          <a:xfrm>
            <a:off x="6551676" y="5394960"/>
            <a:ext cx="4768596" cy="502920"/>
          </a:xfrm>
          <a:prstGeom prst="rect">
            <a:avLst/>
          </a:prstGeom>
          <a:noFill/>
          <a:ln/>
        </p:spPr>
        <p:txBody>
          <a:bodyPr wrap="square" lIns="0" tIns="0" rIns="0" bIns="0" rtlCol="0" anchor="t"/>
          <a:lstStyle/>
          <a:p>
            <a:pPr indent="0" marL="0">
              <a:buNone/>
            </a:pPr>
            <a:r>
              <a:rPr lang="en-US" sz="1600" dirty="0">
                <a:solidFill>
                  <a:schemeClr val="tx1"/>
                </a:solidFill>
              </a:rPr>
              <a:t>More parts to tune; a localization error can cause a crash</a:t>
            </a:r>
            <a:endParaRPr lang="en-US" sz="16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Simulate first, then go real</a:t>
            </a:r>
            <a:endParaRPr lang="en-US" sz="3600" dirty="0"/>
          </a:p>
        </p:txBody>
      </p:sp>
      <p:sp>
        <p:nvSpPr>
          <p:cNvPr id="3" name="card-334"/>
          <p:cNvSpPr/>
          <p:nvPr/>
        </p:nvSpPr>
        <p:spPr>
          <a:xfrm>
            <a:off x="548640" y="1463040"/>
            <a:ext cx="3514344" cy="1920240"/>
          </a:xfrm>
          <a:prstGeom prst="roundRect">
            <a:avLst>
              <a:gd name="adj" fmla="val 3810"/>
            </a:avLst>
          </a:prstGeom>
          <a:solidFill>
            <a:schemeClr val="bg1"/>
          </a:solidFill>
          <a:ln/>
          <a:effectLst>
            <a:outerShdw sx="100000" sy="100000" kx="0" ky="0" algn="bl" rotWithShape="0" blurRad="101600" dist="25400" dir="5400000">
              <a:srgbClr val="000000">
                <a:alpha val="12000"/>
              </a:srgbClr>
            </a:outerShdw>
          </a:effectLst>
        </p:spPr>
      </p:sp>
      <p:sp>
        <p:nvSpPr>
          <p:cNvPr id="4" name="icon-circle-335"/>
          <p:cNvSpPr/>
          <p:nvPr/>
        </p:nvSpPr>
        <p:spPr>
          <a:xfrm>
            <a:off x="822960" y="1691640"/>
            <a:ext cx="640080" cy="640080"/>
          </a:xfrm>
          <a:prstGeom prst="ellipse">
            <a:avLst/>
          </a:prstGeom>
          <a:solidFill>
            <a:schemeClr val="accent1"/>
          </a:solidFill>
          <a:ln/>
        </p:spPr>
      </p:sp>
      <p:pic>
        <p:nvPicPr>
          <p:cNvPr id="5" name="icon-336" descr="preencoded.png">    </p:cNvPr>
          <p:cNvPicPr>
            <a:picLocks noChangeAspect="1"/>
          </p:cNvPicPr>
          <p:nvPr/>
        </p:nvPicPr>
        <p:blipFill>
          <a:blip r:embed="rId1"/>
          <a:stretch>
            <a:fillRect/>
          </a:stretch>
        </p:blipFill>
        <p:spPr>
          <a:xfrm>
            <a:off x="982980" y="1851660"/>
            <a:ext cx="320040" cy="320040"/>
          </a:xfrm>
          <a:prstGeom prst="rect">
            <a:avLst/>
          </a:prstGeom>
        </p:spPr>
      </p:pic>
      <p:sp>
        <p:nvSpPr>
          <p:cNvPr id="6" name="text-337"/>
          <p:cNvSpPr txBox="1"/>
          <p:nvPr/>
        </p:nvSpPr>
        <p:spPr>
          <a:xfrm>
            <a:off x="1645920" y="1691640"/>
            <a:ext cx="2142744" cy="64008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Safe</a:t>
            </a:r>
            <a:endParaRPr lang="en-US" sz="2200" dirty="0"/>
          </a:p>
        </p:txBody>
      </p:sp>
      <p:sp>
        <p:nvSpPr>
          <p:cNvPr id="7" name="text-338"/>
          <p:cNvSpPr txBox="1"/>
          <p:nvPr/>
        </p:nvSpPr>
        <p:spPr>
          <a:xfrm>
            <a:off x="822960" y="2514600"/>
            <a:ext cx="2965704" cy="731520"/>
          </a:xfrm>
          <a:prstGeom prst="rect">
            <a:avLst/>
          </a:prstGeom>
          <a:noFill/>
          <a:ln/>
        </p:spPr>
        <p:txBody>
          <a:bodyPr wrap="square" lIns="0" tIns="0" rIns="0" bIns="0" rtlCol="0" anchor="t"/>
          <a:lstStyle/>
          <a:p>
            <a:pPr indent="0" marL="0">
              <a:buNone/>
            </a:pPr>
            <a:r>
              <a:rPr lang="en-US" sz="1500" dirty="0">
                <a:solidFill>
                  <a:schemeClr val="tx2"/>
                </a:solidFill>
              </a:rPr>
              <a:t>Crashes cost nothing: reset the car and try again.</a:t>
            </a:r>
            <a:endParaRPr lang="en-US" sz="1500" dirty="0"/>
          </a:p>
        </p:txBody>
      </p:sp>
      <p:sp>
        <p:nvSpPr>
          <p:cNvPr id="8" name="card-339"/>
          <p:cNvSpPr/>
          <p:nvPr/>
        </p:nvSpPr>
        <p:spPr>
          <a:xfrm>
            <a:off x="4337304" y="1463040"/>
            <a:ext cx="3514344" cy="1920240"/>
          </a:xfrm>
          <a:prstGeom prst="roundRect">
            <a:avLst>
              <a:gd name="adj" fmla="val 3810"/>
            </a:avLst>
          </a:prstGeom>
          <a:solidFill>
            <a:schemeClr val="bg1"/>
          </a:solidFill>
          <a:ln/>
          <a:effectLst>
            <a:outerShdw sx="100000" sy="100000" kx="0" ky="0" algn="bl" rotWithShape="0" blurRad="101600" dist="25400" dir="5400000">
              <a:srgbClr val="000000">
                <a:alpha val="12000"/>
              </a:srgbClr>
            </a:outerShdw>
          </a:effectLst>
        </p:spPr>
      </p:sp>
      <p:sp>
        <p:nvSpPr>
          <p:cNvPr id="9" name="icon-circle-340"/>
          <p:cNvSpPr/>
          <p:nvPr/>
        </p:nvSpPr>
        <p:spPr>
          <a:xfrm>
            <a:off x="4611624" y="1691640"/>
            <a:ext cx="640080" cy="640080"/>
          </a:xfrm>
          <a:prstGeom prst="ellipse">
            <a:avLst/>
          </a:prstGeom>
          <a:solidFill>
            <a:schemeClr val="accent1"/>
          </a:solidFill>
          <a:ln/>
        </p:spPr>
      </p:sp>
      <p:pic>
        <p:nvPicPr>
          <p:cNvPr id="10" name="icon-341" descr="preencoded.png">    </p:cNvPr>
          <p:cNvPicPr>
            <a:picLocks noChangeAspect="1"/>
          </p:cNvPicPr>
          <p:nvPr/>
        </p:nvPicPr>
        <p:blipFill>
          <a:blip r:embed="rId2"/>
          <a:stretch>
            <a:fillRect/>
          </a:stretch>
        </p:blipFill>
        <p:spPr>
          <a:xfrm>
            <a:off x="4771644" y="1851660"/>
            <a:ext cx="320040" cy="320040"/>
          </a:xfrm>
          <a:prstGeom prst="rect">
            <a:avLst/>
          </a:prstGeom>
        </p:spPr>
      </p:pic>
      <p:sp>
        <p:nvSpPr>
          <p:cNvPr id="11" name="text-342"/>
          <p:cNvSpPr txBox="1"/>
          <p:nvPr/>
        </p:nvSpPr>
        <p:spPr>
          <a:xfrm>
            <a:off x="5434584" y="1691640"/>
            <a:ext cx="2142744" cy="64008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Fast</a:t>
            </a:r>
            <a:endParaRPr lang="en-US" sz="2200" dirty="0"/>
          </a:p>
        </p:txBody>
      </p:sp>
      <p:sp>
        <p:nvSpPr>
          <p:cNvPr id="12" name="text-343"/>
          <p:cNvSpPr txBox="1"/>
          <p:nvPr/>
        </p:nvSpPr>
        <p:spPr>
          <a:xfrm>
            <a:off x="4611624" y="2514600"/>
            <a:ext cx="2965704" cy="731520"/>
          </a:xfrm>
          <a:prstGeom prst="rect">
            <a:avLst/>
          </a:prstGeom>
          <a:noFill/>
          <a:ln/>
        </p:spPr>
        <p:txBody>
          <a:bodyPr wrap="square" lIns="0" tIns="0" rIns="0" bIns="0" rtlCol="0" anchor="t"/>
          <a:lstStyle/>
          <a:p>
            <a:pPr indent="0" marL="0">
              <a:buNone/>
            </a:pPr>
            <a:r>
              <a:rPr lang="en-US" sz="1500" dirty="0">
                <a:solidFill>
                  <a:schemeClr val="tx2"/>
                </a:solidFill>
              </a:rPr>
              <a:t>Edit, restart and test a change in seconds.</a:t>
            </a:r>
            <a:endParaRPr lang="en-US" sz="1500" dirty="0"/>
          </a:p>
        </p:txBody>
      </p:sp>
      <p:sp>
        <p:nvSpPr>
          <p:cNvPr id="13" name="card-344"/>
          <p:cNvSpPr/>
          <p:nvPr/>
        </p:nvSpPr>
        <p:spPr>
          <a:xfrm>
            <a:off x="8125968" y="1463040"/>
            <a:ext cx="3514344" cy="1920240"/>
          </a:xfrm>
          <a:prstGeom prst="roundRect">
            <a:avLst>
              <a:gd name="adj" fmla="val 3810"/>
            </a:avLst>
          </a:prstGeom>
          <a:solidFill>
            <a:schemeClr val="bg1"/>
          </a:solidFill>
          <a:ln/>
          <a:effectLst>
            <a:outerShdw sx="100000" sy="100000" kx="0" ky="0" algn="bl" rotWithShape="0" blurRad="101600" dist="25400" dir="5400000">
              <a:srgbClr val="000000">
                <a:alpha val="12000"/>
              </a:srgbClr>
            </a:outerShdw>
          </a:effectLst>
        </p:spPr>
      </p:sp>
      <p:sp>
        <p:nvSpPr>
          <p:cNvPr id="14" name="icon-circle-345"/>
          <p:cNvSpPr/>
          <p:nvPr/>
        </p:nvSpPr>
        <p:spPr>
          <a:xfrm>
            <a:off x="8400288" y="1691640"/>
            <a:ext cx="640080" cy="640080"/>
          </a:xfrm>
          <a:prstGeom prst="ellipse">
            <a:avLst/>
          </a:prstGeom>
          <a:solidFill>
            <a:schemeClr val="accent1"/>
          </a:solidFill>
          <a:ln/>
        </p:spPr>
      </p:sp>
      <p:pic>
        <p:nvPicPr>
          <p:cNvPr id="15" name="icon-346" descr="preencoded.png">    </p:cNvPr>
          <p:cNvPicPr>
            <a:picLocks noChangeAspect="1"/>
          </p:cNvPicPr>
          <p:nvPr/>
        </p:nvPicPr>
        <p:blipFill>
          <a:blip r:embed="rId3"/>
          <a:stretch>
            <a:fillRect/>
          </a:stretch>
        </p:blipFill>
        <p:spPr>
          <a:xfrm>
            <a:off x="8560308" y="1851660"/>
            <a:ext cx="320040" cy="320040"/>
          </a:xfrm>
          <a:prstGeom prst="rect">
            <a:avLst/>
          </a:prstGeom>
        </p:spPr>
      </p:pic>
      <p:sp>
        <p:nvSpPr>
          <p:cNvPr id="16" name="text-347"/>
          <p:cNvSpPr txBox="1"/>
          <p:nvPr/>
        </p:nvSpPr>
        <p:spPr>
          <a:xfrm>
            <a:off x="9223248" y="1691640"/>
            <a:ext cx="2142744" cy="64008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Reproducible</a:t>
            </a:r>
            <a:endParaRPr lang="en-US" sz="2200" dirty="0"/>
          </a:p>
        </p:txBody>
      </p:sp>
      <p:sp>
        <p:nvSpPr>
          <p:cNvPr id="17" name="text-348"/>
          <p:cNvSpPr txBox="1"/>
          <p:nvPr/>
        </p:nvSpPr>
        <p:spPr>
          <a:xfrm>
            <a:off x="8400288" y="2514600"/>
            <a:ext cx="2965704" cy="731520"/>
          </a:xfrm>
          <a:prstGeom prst="rect">
            <a:avLst/>
          </a:prstGeom>
          <a:noFill/>
          <a:ln/>
        </p:spPr>
        <p:txBody>
          <a:bodyPr wrap="square" lIns="0" tIns="0" rIns="0" bIns="0" rtlCol="0" anchor="t"/>
          <a:lstStyle/>
          <a:p>
            <a:pPr indent="0" marL="0">
              <a:buNone/>
            </a:pPr>
            <a:r>
              <a:rPr lang="en-US" sz="1500" dirty="0">
                <a:solidFill>
                  <a:schemeClr val="tx2"/>
                </a:solidFill>
              </a:rPr>
              <a:t>Same track, same car, same conditions for everyone.</a:t>
            </a:r>
            <a:endParaRPr lang="en-US" sz="1500" dirty="0"/>
          </a:p>
        </p:txBody>
      </p:sp>
      <p:sp>
        <p:nvSpPr>
          <p:cNvPr id="18" name="gap-band"/>
          <p:cNvSpPr/>
          <p:nvPr/>
        </p:nvSpPr>
        <p:spPr>
          <a:xfrm>
            <a:off x="548640" y="3657600"/>
            <a:ext cx="11091672" cy="2377440"/>
          </a:xfrm>
          <a:prstGeom prst="roundRect">
            <a:avLst>
              <a:gd name="adj" fmla="val 3077"/>
            </a:avLst>
          </a:prstGeom>
          <a:solidFill>
            <a:schemeClr val="tx1"/>
          </a:solidFill>
          <a:ln/>
          <a:effectLst>
            <a:outerShdw sx="100000" sy="100000" kx="0" ky="0" algn="bl" rotWithShape="0" blurRad="101600" dist="25400" dir="5400000">
              <a:srgbClr val="000000">
                <a:alpha val="12000"/>
              </a:srgbClr>
            </a:outerShdw>
          </a:effectLst>
        </p:spPr>
      </p:sp>
      <p:sp>
        <p:nvSpPr>
          <p:cNvPr id="19" name="text-349"/>
          <p:cNvSpPr txBox="1"/>
          <p:nvPr/>
        </p:nvSpPr>
        <p:spPr>
          <a:xfrm>
            <a:off x="822960" y="3840480"/>
            <a:ext cx="10515600" cy="41148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The sim-to-real gap: what changes on a real car</a:t>
            </a:r>
            <a:endParaRPr lang="en-US" sz="2000" dirty="0"/>
          </a:p>
        </p:txBody>
      </p:sp>
      <p:sp>
        <p:nvSpPr>
          <p:cNvPr id="20" name="icon-circle-350"/>
          <p:cNvSpPr/>
          <p:nvPr/>
        </p:nvSpPr>
        <p:spPr>
          <a:xfrm>
            <a:off x="822960" y="4434840"/>
            <a:ext cx="502920" cy="502920"/>
          </a:xfrm>
          <a:prstGeom prst="ellipse">
            <a:avLst/>
          </a:prstGeom>
          <a:solidFill>
            <a:schemeClr val="accent1"/>
          </a:solidFill>
          <a:ln/>
        </p:spPr>
      </p:sp>
      <p:pic>
        <p:nvPicPr>
          <p:cNvPr id="21" name="icon-351" descr="preencoded.png">    </p:cNvPr>
          <p:cNvPicPr>
            <a:picLocks noChangeAspect="1"/>
          </p:cNvPicPr>
          <p:nvPr/>
        </p:nvPicPr>
        <p:blipFill>
          <a:blip r:embed="rId4"/>
          <a:stretch>
            <a:fillRect/>
          </a:stretch>
        </p:blipFill>
        <p:spPr>
          <a:xfrm>
            <a:off x="948690" y="4560570"/>
            <a:ext cx="251460" cy="251460"/>
          </a:xfrm>
          <a:prstGeom prst="rect">
            <a:avLst/>
          </a:prstGeom>
        </p:spPr>
      </p:pic>
      <p:sp>
        <p:nvSpPr>
          <p:cNvPr id="22" name="text-352"/>
          <p:cNvSpPr txBox="1"/>
          <p:nvPr/>
        </p:nvSpPr>
        <p:spPr>
          <a:xfrm>
            <a:off x="1463040" y="4434840"/>
            <a:ext cx="1789938" cy="502920"/>
          </a:xfrm>
          <a:prstGeom prst="rect">
            <a:avLst/>
          </a:prstGeom>
          <a:noFill/>
          <a:ln/>
        </p:spPr>
        <p:txBody>
          <a:bodyPr wrap="square" lIns="0" tIns="0" rIns="0" bIns="0" rtlCol="0" anchor="ctr"/>
          <a:lstStyle/>
          <a:p>
            <a:pPr indent="0" marL="0">
              <a:buNone/>
            </a:pPr>
            <a:r>
              <a:rPr lang="en-US" sz="1600" b="1" dirty="0">
                <a:solidFill>
                  <a:schemeClr val="bg1"/>
                </a:solidFill>
              </a:rPr>
              <a:t>Sensor noise</a:t>
            </a:r>
            <a:endParaRPr lang="en-US" sz="1600" dirty="0"/>
          </a:p>
        </p:txBody>
      </p:sp>
      <p:sp>
        <p:nvSpPr>
          <p:cNvPr id="23" name="text-353"/>
          <p:cNvSpPr txBox="1"/>
          <p:nvPr/>
        </p:nvSpPr>
        <p:spPr>
          <a:xfrm>
            <a:off x="822960" y="5029200"/>
            <a:ext cx="2430018" cy="868680"/>
          </a:xfrm>
          <a:prstGeom prst="rect">
            <a:avLst/>
          </a:prstGeom>
          <a:noFill/>
          <a:ln/>
        </p:spPr>
        <p:txBody>
          <a:bodyPr wrap="square" lIns="0" tIns="0" rIns="0" bIns="0" rtlCol="0" anchor="t"/>
          <a:lstStyle/>
          <a:p>
            <a:pPr indent="0" marL="0">
              <a:buNone/>
            </a:pPr>
            <a:r>
              <a:rPr lang="en-US" sz="1400" dirty="0">
                <a:solidFill>
                  <a:schemeClr val="bg2"/>
                </a:solidFill>
              </a:rPr>
              <a:t>Reflections, glass and black surfaces give odd LiDAR readings.</a:t>
            </a:r>
            <a:endParaRPr lang="en-US" sz="1400" dirty="0"/>
          </a:p>
        </p:txBody>
      </p:sp>
      <p:sp>
        <p:nvSpPr>
          <p:cNvPr id="24" name="icon-circle-354"/>
          <p:cNvSpPr/>
          <p:nvPr/>
        </p:nvSpPr>
        <p:spPr>
          <a:xfrm>
            <a:off x="3527298" y="4434840"/>
            <a:ext cx="502920" cy="502920"/>
          </a:xfrm>
          <a:prstGeom prst="ellipse">
            <a:avLst/>
          </a:prstGeom>
          <a:solidFill>
            <a:schemeClr val="accent1"/>
          </a:solidFill>
          <a:ln/>
        </p:spPr>
      </p:sp>
      <p:pic>
        <p:nvPicPr>
          <p:cNvPr id="25" name="icon-355" descr="preencoded.png">    </p:cNvPr>
          <p:cNvPicPr>
            <a:picLocks noChangeAspect="1"/>
          </p:cNvPicPr>
          <p:nvPr/>
        </p:nvPicPr>
        <p:blipFill>
          <a:blip r:embed="rId5"/>
          <a:stretch>
            <a:fillRect/>
          </a:stretch>
        </p:blipFill>
        <p:spPr>
          <a:xfrm>
            <a:off x="3653028" y="4560570"/>
            <a:ext cx="251460" cy="251460"/>
          </a:xfrm>
          <a:prstGeom prst="rect">
            <a:avLst/>
          </a:prstGeom>
        </p:spPr>
      </p:pic>
      <p:sp>
        <p:nvSpPr>
          <p:cNvPr id="26" name="text-356"/>
          <p:cNvSpPr txBox="1"/>
          <p:nvPr/>
        </p:nvSpPr>
        <p:spPr>
          <a:xfrm>
            <a:off x="4167378" y="4434840"/>
            <a:ext cx="1789938" cy="502920"/>
          </a:xfrm>
          <a:prstGeom prst="rect">
            <a:avLst/>
          </a:prstGeom>
          <a:noFill/>
          <a:ln/>
        </p:spPr>
        <p:txBody>
          <a:bodyPr wrap="square" lIns="0" tIns="0" rIns="0" bIns="0" rtlCol="0" anchor="ctr"/>
          <a:lstStyle/>
          <a:p>
            <a:pPr indent="0" marL="0">
              <a:buNone/>
            </a:pPr>
            <a:r>
              <a:rPr lang="en-US" sz="1600" b="1" dirty="0">
                <a:solidFill>
                  <a:schemeClr val="bg1"/>
                </a:solidFill>
              </a:rPr>
              <a:t>Tyre grip</a:t>
            </a:r>
            <a:endParaRPr lang="en-US" sz="1600" dirty="0"/>
          </a:p>
        </p:txBody>
      </p:sp>
      <p:sp>
        <p:nvSpPr>
          <p:cNvPr id="27" name="text-357"/>
          <p:cNvSpPr txBox="1"/>
          <p:nvPr/>
        </p:nvSpPr>
        <p:spPr>
          <a:xfrm>
            <a:off x="3527298" y="5029200"/>
            <a:ext cx="2430018" cy="868680"/>
          </a:xfrm>
          <a:prstGeom prst="rect">
            <a:avLst/>
          </a:prstGeom>
          <a:noFill/>
          <a:ln/>
        </p:spPr>
        <p:txBody>
          <a:bodyPr wrap="square" lIns="0" tIns="0" rIns="0" bIns="0" rtlCol="0" anchor="t"/>
          <a:lstStyle/>
          <a:p>
            <a:pPr indent="0" marL="0">
              <a:buNone/>
            </a:pPr>
            <a:r>
              <a:rPr lang="en-US" sz="1400" dirty="0">
                <a:solidFill>
                  <a:schemeClr val="bg2"/>
                </a:solidFill>
              </a:rPr>
              <a:t>Tyres slip, so the car doesn't turn exactly as commanded.</a:t>
            </a:r>
            <a:endParaRPr lang="en-US" sz="1400" dirty="0"/>
          </a:p>
        </p:txBody>
      </p:sp>
      <p:sp>
        <p:nvSpPr>
          <p:cNvPr id="28" name="icon-circle-358"/>
          <p:cNvSpPr/>
          <p:nvPr/>
        </p:nvSpPr>
        <p:spPr>
          <a:xfrm>
            <a:off x="6231636" y="4434840"/>
            <a:ext cx="502920" cy="502920"/>
          </a:xfrm>
          <a:prstGeom prst="ellipse">
            <a:avLst/>
          </a:prstGeom>
          <a:solidFill>
            <a:schemeClr val="accent1"/>
          </a:solidFill>
          <a:ln/>
        </p:spPr>
      </p:sp>
      <p:pic>
        <p:nvPicPr>
          <p:cNvPr id="29" name="icon-359" descr="preencoded.png">    </p:cNvPr>
          <p:cNvPicPr>
            <a:picLocks noChangeAspect="1"/>
          </p:cNvPicPr>
          <p:nvPr/>
        </p:nvPicPr>
        <p:blipFill>
          <a:blip r:embed="rId6"/>
          <a:stretch>
            <a:fillRect/>
          </a:stretch>
        </p:blipFill>
        <p:spPr>
          <a:xfrm>
            <a:off x="6357366" y="4560570"/>
            <a:ext cx="251460" cy="251460"/>
          </a:xfrm>
          <a:prstGeom prst="rect">
            <a:avLst/>
          </a:prstGeom>
        </p:spPr>
      </p:pic>
      <p:sp>
        <p:nvSpPr>
          <p:cNvPr id="30" name="text-360"/>
          <p:cNvSpPr txBox="1"/>
          <p:nvPr/>
        </p:nvSpPr>
        <p:spPr>
          <a:xfrm>
            <a:off x="6871716" y="4434840"/>
            <a:ext cx="1789938" cy="502920"/>
          </a:xfrm>
          <a:prstGeom prst="rect">
            <a:avLst/>
          </a:prstGeom>
          <a:noFill/>
          <a:ln/>
        </p:spPr>
        <p:txBody>
          <a:bodyPr wrap="square" lIns="0" tIns="0" rIns="0" bIns="0" rtlCol="0" anchor="ctr"/>
          <a:lstStyle/>
          <a:p>
            <a:pPr indent="0" marL="0">
              <a:buNone/>
            </a:pPr>
            <a:r>
              <a:rPr lang="en-US" sz="1600" b="1" dirty="0">
                <a:solidFill>
                  <a:schemeClr val="bg1"/>
                </a:solidFill>
              </a:rPr>
              <a:t>Latency</a:t>
            </a:r>
            <a:endParaRPr lang="en-US" sz="1600" dirty="0"/>
          </a:p>
        </p:txBody>
      </p:sp>
      <p:sp>
        <p:nvSpPr>
          <p:cNvPr id="31" name="text-361"/>
          <p:cNvSpPr txBox="1"/>
          <p:nvPr/>
        </p:nvSpPr>
        <p:spPr>
          <a:xfrm>
            <a:off x="6231636" y="5029200"/>
            <a:ext cx="2430018" cy="868680"/>
          </a:xfrm>
          <a:prstGeom prst="rect">
            <a:avLst/>
          </a:prstGeom>
          <a:noFill/>
          <a:ln/>
        </p:spPr>
        <p:txBody>
          <a:bodyPr wrap="square" lIns="0" tIns="0" rIns="0" bIns="0" rtlCol="0" anchor="t"/>
          <a:lstStyle/>
          <a:p>
            <a:pPr indent="0" marL="0">
              <a:buNone/>
            </a:pPr>
            <a:r>
              <a:rPr lang="en-US" sz="1400" dirty="0">
                <a:solidFill>
                  <a:schemeClr val="bg2"/>
                </a:solidFill>
              </a:rPr>
              <a:t>Real compute and messages add delay between sensing and acting.</a:t>
            </a:r>
            <a:endParaRPr lang="en-US" sz="1400" dirty="0"/>
          </a:p>
        </p:txBody>
      </p:sp>
      <p:sp>
        <p:nvSpPr>
          <p:cNvPr id="32" name="icon-circle-362"/>
          <p:cNvSpPr/>
          <p:nvPr/>
        </p:nvSpPr>
        <p:spPr>
          <a:xfrm>
            <a:off x="8935974" y="4434840"/>
            <a:ext cx="502920" cy="502920"/>
          </a:xfrm>
          <a:prstGeom prst="ellipse">
            <a:avLst/>
          </a:prstGeom>
          <a:solidFill>
            <a:schemeClr val="accent1"/>
          </a:solidFill>
          <a:ln/>
        </p:spPr>
      </p:sp>
      <p:pic>
        <p:nvPicPr>
          <p:cNvPr id="33" name="icon-363" descr="preencoded.png">    </p:cNvPr>
          <p:cNvPicPr>
            <a:picLocks noChangeAspect="1"/>
          </p:cNvPicPr>
          <p:nvPr/>
        </p:nvPicPr>
        <p:blipFill>
          <a:blip r:embed="rId7"/>
          <a:stretch>
            <a:fillRect/>
          </a:stretch>
        </p:blipFill>
        <p:spPr>
          <a:xfrm>
            <a:off x="9061704" y="4560570"/>
            <a:ext cx="251460" cy="251460"/>
          </a:xfrm>
          <a:prstGeom prst="rect">
            <a:avLst/>
          </a:prstGeom>
        </p:spPr>
      </p:pic>
      <p:sp>
        <p:nvSpPr>
          <p:cNvPr id="34" name="text-364"/>
          <p:cNvSpPr txBox="1"/>
          <p:nvPr/>
        </p:nvSpPr>
        <p:spPr>
          <a:xfrm>
            <a:off x="9576054" y="4434840"/>
            <a:ext cx="1789938" cy="502920"/>
          </a:xfrm>
          <a:prstGeom prst="rect">
            <a:avLst/>
          </a:prstGeom>
          <a:noFill/>
          <a:ln/>
        </p:spPr>
        <p:txBody>
          <a:bodyPr wrap="square" lIns="0" tIns="0" rIns="0" bIns="0" rtlCol="0" anchor="ctr"/>
          <a:lstStyle/>
          <a:p>
            <a:pPr indent="0" marL="0">
              <a:buNone/>
            </a:pPr>
            <a:r>
              <a:rPr lang="en-US" sz="1600" b="1" dirty="0">
                <a:solidFill>
                  <a:schemeClr val="bg1"/>
                </a:solidFill>
              </a:rPr>
              <a:t>Battery</a:t>
            </a:r>
            <a:endParaRPr lang="en-US" sz="1600" dirty="0"/>
          </a:p>
        </p:txBody>
      </p:sp>
      <p:sp>
        <p:nvSpPr>
          <p:cNvPr id="35" name="text-365"/>
          <p:cNvSpPr txBox="1"/>
          <p:nvPr/>
        </p:nvSpPr>
        <p:spPr>
          <a:xfrm>
            <a:off x="8935974" y="5029200"/>
            <a:ext cx="2430018" cy="868680"/>
          </a:xfrm>
          <a:prstGeom prst="rect">
            <a:avLst/>
          </a:prstGeom>
          <a:noFill/>
          <a:ln/>
        </p:spPr>
        <p:txBody>
          <a:bodyPr wrap="square" lIns="0" tIns="0" rIns="0" bIns="0" rtlCol="0" anchor="t"/>
          <a:lstStyle/>
          <a:p>
            <a:pPr indent="0" marL="0">
              <a:buNone/>
            </a:pPr>
            <a:r>
              <a:rPr lang="en-US" sz="1400" dirty="0">
                <a:solidFill>
                  <a:schemeClr val="bg2"/>
                </a:solidFill>
              </a:rPr>
              <a:t>Voltage drops as it drains, so the same throttle gives less speed.</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Words you'll hear today</a:t>
            </a:r>
            <a:endParaRPr lang="en-US" sz="3600" dirty="0"/>
          </a:p>
        </p:txBody>
      </p:sp>
      <p:sp>
        <p:nvSpPr>
          <p:cNvPr id="3" name="card-366"/>
          <p:cNvSpPr/>
          <p:nvPr/>
        </p:nvSpPr>
        <p:spPr>
          <a:xfrm>
            <a:off x="548640" y="1463040"/>
            <a:ext cx="2567178" cy="2194560"/>
          </a:xfrm>
          <a:prstGeom prst="roundRect">
            <a:avLst>
              <a:gd name="adj" fmla="val 3333"/>
            </a:avLst>
          </a:prstGeom>
          <a:solidFill>
            <a:schemeClr val="bg1"/>
          </a:solidFill>
          <a:ln/>
          <a:effectLst>
            <a:outerShdw sx="100000" sy="100000" kx="0" ky="0" algn="bl" rotWithShape="0" blurRad="101600" dist="25400" dir="5400000">
              <a:srgbClr val="000000">
                <a:alpha val="12000"/>
              </a:srgbClr>
            </a:outerShdw>
          </a:effectLst>
        </p:spPr>
      </p:sp>
      <p:sp>
        <p:nvSpPr>
          <p:cNvPr id="4" name="icon-circle-367"/>
          <p:cNvSpPr/>
          <p:nvPr/>
        </p:nvSpPr>
        <p:spPr>
          <a:xfrm>
            <a:off x="777240" y="1691640"/>
            <a:ext cx="502920" cy="502920"/>
          </a:xfrm>
          <a:prstGeom prst="ellipse">
            <a:avLst/>
          </a:prstGeom>
          <a:solidFill>
            <a:schemeClr val="accent1"/>
          </a:solidFill>
          <a:ln/>
        </p:spPr>
      </p:sp>
      <p:pic>
        <p:nvPicPr>
          <p:cNvPr id="5" name="icon-368" descr="preencoded.png">    </p:cNvPr>
          <p:cNvPicPr>
            <a:picLocks noChangeAspect="1"/>
          </p:cNvPicPr>
          <p:nvPr/>
        </p:nvPicPr>
        <p:blipFill>
          <a:blip r:embed="rId1"/>
          <a:stretch>
            <a:fillRect/>
          </a:stretch>
        </p:blipFill>
        <p:spPr>
          <a:xfrm>
            <a:off x="902970" y="1817370"/>
            <a:ext cx="251460" cy="251460"/>
          </a:xfrm>
          <a:prstGeom prst="rect">
            <a:avLst/>
          </a:prstGeom>
        </p:spPr>
      </p:pic>
      <p:sp>
        <p:nvSpPr>
          <p:cNvPr id="6" name="text-369"/>
          <p:cNvSpPr txBox="1"/>
          <p:nvPr/>
        </p:nvSpPr>
        <p:spPr>
          <a:xfrm>
            <a:off x="1417320" y="1691640"/>
            <a:ext cx="1561338" cy="502920"/>
          </a:xfrm>
          <a:prstGeom prst="rect">
            <a:avLst/>
          </a:prstGeom>
          <a:noFill/>
          <a:ln/>
        </p:spPr>
        <p:txBody>
          <a:bodyPr wrap="square" lIns="0" tIns="0" rIns="0" bIns="0" rtlCol="0" anchor="ctr"/>
          <a:lstStyle/>
          <a:p>
            <a:pPr indent="0" marL="0">
              <a:buNone/>
            </a:pPr>
            <a:r>
              <a:rPr lang="en-US" sz="1800" b="1" dirty="0">
                <a:solidFill>
                  <a:schemeClr val="tx1"/>
                </a:solidFill>
              </a:rPr>
              <a:t>LiDAR</a:t>
            </a:r>
            <a:endParaRPr lang="en-US" sz="1800" dirty="0"/>
          </a:p>
        </p:txBody>
      </p:sp>
      <p:sp>
        <p:nvSpPr>
          <p:cNvPr id="7" name="text-370"/>
          <p:cNvSpPr txBox="1"/>
          <p:nvPr/>
        </p:nvSpPr>
        <p:spPr>
          <a:xfrm>
            <a:off x="777240" y="2331720"/>
            <a:ext cx="2109978" cy="1234440"/>
          </a:xfrm>
          <a:prstGeom prst="rect">
            <a:avLst/>
          </a:prstGeom>
          <a:noFill/>
          <a:ln/>
        </p:spPr>
        <p:txBody>
          <a:bodyPr wrap="square" lIns="0" tIns="0" rIns="0" bIns="0" rtlCol="0" anchor="t"/>
          <a:lstStyle/>
          <a:p>
            <a:pPr indent="0" marL="0">
              <a:buNone/>
            </a:pPr>
            <a:r>
              <a:rPr lang="en-US" sz="1400" dirty="0">
                <a:solidFill>
                  <a:schemeClr val="tx2"/>
                </a:solidFill>
              </a:rPr>
              <a:t>A laser scanner that measures the distance to surfaces around the car, ray by ray.</a:t>
            </a:r>
            <a:endParaRPr lang="en-US" sz="1400" dirty="0"/>
          </a:p>
        </p:txBody>
      </p:sp>
      <p:sp>
        <p:nvSpPr>
          <p:cNvPr id="8" name="card-371"/>
          <p:cNvSpPr/>
          <p:nvPr/>
        </p:nvSpPr>
        <p:spPr>
          <a:xfrm>
            <a:off x="3390138" y="1463040"/>
            <a:ext cx="2567178" cy="2194560"/>
          </a:xfrm>
          <a:prstGeom prst="roundRect">
            <a:avLst>
              <a:gd name="adj" fmla="val 3333"/>
            </a:avLst>
          </a:prstGeom>
          <a:solidFill>
            <a:schemeClr val="bg1"/>
          </a:solidFill>
          <a:ln/>
          <a:effectLst>
            <a:outerShdw sx="100000" sy="100000" kx="0" ky="0" algn="bl" rotWithShape="0" blurRad="101600" dist="25400" dir="5400000">
              <a:srgbClr val="000000">
                <a:alpha val="12000"/>
              </a:srgbClr>
            </a:outerShdw>
          </a:effectLst>
        </p:spPr>
      </p:sp>
      <p:sp>
        <p:nvSpPr>
          <p:cNvPr id="9" name="icon-circle-372"/>
          <p:cNvSpPr/>
          <p:nvPr/>
        </p:nvSpPr>
        <p:spPr>
          <a:xfrm>
            <a:off x="3618738" y="1691640"/>
            <a:ext cx="502920" cy="502920"/>
          </a:xfrm>
          <a:prstGeom prst="ellipse">
            <a:avLst/>
          </a:prstGeom>
          <a:solidFill>
            <a:schemeClr val="tx1"/>
          </a:solidFill>
          <a:ln/>
        </p:spPr>
      </p:sp>
      <p:pic>
        <p:nvPicPr>
          <p:cNvPr id="10" name="icon-373" descr="preencoded.png">    </p:cNvPr>
          <p:cNvPicPr>
            <a:picLocks noChangeAspect="1"/>
          </p:cNvPicPr>
          <p:nvPr/>
        </p:nvPicPr>
        <p:blipFill>
          <a:blip r:embed="rId2"/>
          <a:stretch>
            <a:fillRect/>
          </a:stretch>
        </p:blipFill>
        <p:spPr>
          <a:xfrm>
            <a:off x="3744468" y="1817370"/>
            <a:ext cx="251460" cy="251460"/>
          </a:xfrm>
          <a:prstGeom prst="rect">
            <a:avLst/>
          </a:prstGeom>
        </p:spPr>
      </p:pic>
      <p:sp>
        <p:nvSpPr>
          <p:cNvPr id="11" name="text-374"/>
          <p:cNvSpPr txBox="1"/>
          <p:nvPr/>
        </p:nvSpPr>
        <p:spPr>
          <a:xfrm>
            <a:off x="4258818" y="1691640"/>
            <a:ext cx="1561338" cy="502920"/>
          </a:xfrm>
          <a:prstGeom prst="rect">
            <a:avLst/>
          </a:prstGeom>
          <a:noFill/>
          <a:ln/>
        </p:spPr>
        <p:txBody>
          <a:bodyPr wrap="square" lIns="0" tIns="0" rIns="0" bIns="0" rtlCol="0" anchor="ctr"/>
          <a:lstStyle/>
          <a:p>
            <a:pPr indent="0" marL="0">
              <a:buNone/>
            </a:pPr>
            <a:r>
              <a:rPr lang="en-US" sz="1800" b="1" dirty="0">
                <a:solidFill>
                  <a:schemeClr val="tx1"/>
                </a:solidFill>
              </a:rPr>
              <a:t>Odometry</a:t>
            </a:r>
            <a:endParaRPr lang="en-US" sz="1800" dirty="0"/>
          </a:p>
        </p:txBody>
      </p:sp>
      <p:sp>
        <p:nvSpPr>
          <p:cNvPr id="12" name="text-375"/>
          <p:cNvSpPr txBox="1"/>
          <p:nvPr/>
        </p:nvSpPr>
        <p:spPr>
          <a:xfrm>
            <a:off x="3618738" y="2331720"/>
            <a:ext cx="2109978" cy="1234440"/>
          </a:xfrm>
          <a:prstGeom prst="rect">
            <a:avLst/>
          </a:prstGeom>
          <a:noFill/>
          <a:ln/>
        </p:spPr>
        <p:txBody>
          <a:bodyPr wrap="square" lIns="0" tIns="0" rIns="0" bIns="0" rtlCol="0" anchor="t"/>
          <a:lstStyle/>
          <a:p>
            <a:pPr indent="0" marL="0">
              <a:buNone/>
            </a:pPr>
            <a:r>
              <a:rPr lang="en-US" sz="1400" dirty="0">
                <a:solidFill>
                  <a:schemeClr val="tx2"/>
                </a:solidFill>
              </a:rPr>
              <a:t>An estimate of speed and position from wheel motion, often fused with an IMU.</a:t>
            </a:r>
            <a:endParaRPr lang="en-US" sz="1400" dirty="0"/>
          </a:p>
        </p:txBody>
      </p:sp>
      <p:sp>
        <p:nvSpPr>
          <p:cNvPr id="13" name="card-376"/>
          <p:cNvSpPr/>
          <p:nvPr/>
        </p:nvSpPr>
        <p:spPr>
          <a:xfrm>
            <a:off x="6231636" y="1463040"/>
            <a:ext cx="2567178" cy="2194560"/>
          </a:xfrm>
          <a:prstGeom prst="roundRect">
            <a:avLst>
              <a:gd name="adj" fmla="val 3333"/>
            </a:avLst>
          </a:prstGeom>
          <a:solidFill>
            <a:schemeClr val="bg1"/>
          </a:solidFill>
          <a:ln/>
          <a:effectLst>
            <a:outerShdw sx="100000" sy="100000" kx="0" ky="0" algn="bl" rotWithShape="0" blurRad="101600" dist="25400" dir="5400000">
              <a:srgbClr val="000000">
                <a:alpha val="12000"/>
              </a:srgbClr>
            </a:outerShdw>
          </a:effectLst>
        </p:spPr>
      </p:sp>
      <p:sp>
        <p:nvSpPr>
          <p:cNvPr id="14" name="icon-circle-377"/>
          <p:cNvSpPr/>
          <p:nvPr/>
        </p:nvSpPr>
        <p:spPr>
          <a:xfrm>
            <a:off x="6460236" y="1691640"/>
            <a:ext cx="502920" cy="502920"/>
          </a:xfrm>
          <a:prstGeom prst="ellipse">
            <a:avLst/>
          </a:prstGeom>
          <a:solidFill>
            <a:schemeClr val="accent1"/>
          </a:solidFill>
          <a:ln/>
        </p:spPr>
      </p:sp>
      <p:pic>
        <p:nvPicPr>
          <p:cNvPr id="15" name="icon-378" descr="preencoded.png">    </p:cNvPr>
          <p:cNvPicPr>
            <a:picLocks noChangeAspect="1"/>
          </p:cNvPicPr>
          <p:nvPr/>
        </p:nvPicPr>
        <p:blipFill>
          <a:blip r:embed="rId3"/>
          <a:stretch>
            <a:fillRect/>
          </a:stretch>
        </p:blipFill>
        <p:spPr>
          <a:xfrm>
            <a:off x="6585966" y="1817370"/>
            <a:ext cx="251460" cy="251460"/>
          </a:xfrm>
          <a:prstGeom prst="rect">
            <a:avLst/>
          </a:prstGeom>
        </p:spPr>
      </p:pic>
      <p:sp>
        <p:nvSpPr>
          <p:cNvPr id="16" name="text-379"/>
          <p:cNvSpPr txBox="1"/>
          <p:nvPr/>
        </p:nvSpPr>
        <p:spPr>
          <a:xfrm>
            <a:off x="7100316" y="1691640"/>
            <a:ext cx="1561338" cy="502920"/>
          </a:xfrm>
          <a:prstGeom prst="rect">
            <a:avLst/>
          </a:prstGeom>
          <a:noFill/>
          <a:ln/>
        </p:spPr>
        <p:txBody>
          <a:bodyPr wrap="square" lIns="0" tIns="0" rIns="0" bIns="0" rtlCol="0" anchor="ctr"/>
          <a:lstStyle/>
          <a:p>
            <a:pPr indent="0" marL="0">
              <a:buNone/>
            </a:pPr>
            <a:r>
              <a:rPr lang="en-US" sz="1800" b="1" dirty="0">
                <a:solidFill>
                  <a:schemeClr val="tx1"/>
                </a:solidFill>
              </a:rPr>
              <a:t>ROS 2</a:t>
            </a:r>
            <a:endParaRPr lang="en-US" sz="1800" dirty="0"/>
          </a:p>
        </p:txBody>
      </p:sp>
      <p:sp>
        <p:nvSpPr>
          <p:cNvPr id="17" name="text-380"/>
          <p:cNvSpPr txBox="1"/>
          <p:nvPr/>
        </p:nvSpPr>
        <p:spPr>
          <a:xfrm>
            <a:off x="6460236" y="2331720"/>
            <a:ext cx="2109978" cy="1234440"/>
          </a:xfrm>
          <a:prstGeom prst="rect">
            <a:avLst/>
          </a:prstGeom>
          <a:noFill/>
          <a:ln/>
        </p:spPr>
        <p:txBody>
          <a:bodyPr wrap="square" lIns="0" tIns="0" rIns="0" bIns="0" rtlCol="0" anchor="t"/>
          <a:lstStyle/>
          <a:p>
            <a:pPr indent="0" marL="0">
              <a:buNone/>
            </a:pPr>
            <a:r>
              <a:rPr lang="en-US" sz="1400" dirty="0">
                <a:solidFill>
                  <a:schemeClr val="tx2"/>
                </a:solidFill>
              </a:rPr>
              <a:t>Robot Operating System: middleware that passes sensor and command messages between programs.</a:t>
            </a:r>
            <a:endParaRPr lang="en-US" sz="1400" dirty="0"/>
          </a:p>
        </p:txBody>
      </p:sp>
      <p:sp>
        <p:nvSpPr>
          <p:cNvPr id="18" name="card-381"/>
          <p:cNvSpPr/>
          <p:nvPr/>
        </p:nvSpPr>
        <p:spPr>
          <a:xfrm>
            <a:off x="9073134" y="1463040"/>
            <a:ext cx="2567178" cy="2194560"/>
          </a:xfrm>
          <a:prstGeom prst="roundRect">
            <a:avLst>
              <a:gd name="adj" fmla="val 3333"/>
            </a:avLst>
          </a:prstGeom>
          <a:solidFill>
            <a:schemeClr val="bg1"/>
          </a:solidFill>
          <a:ln/>
          <a:effectLst>
            <a:outerShdw sx="100000" sy="100000" kx="0" ky="0" algn="bl" rotWithShape="0" blurRad="101600" dist="25400" dir="5400000">
              <a:srgbClr val="000000">
                <a:alpha val="12000"/>
              </a:srgbClr>
            </a:outerShdw>
          </a:effectLst>
        </p:spPr>
      </p:sp>
      <p:sp>
        <p:nvSpPr>
          <p:cNvPr id="19" name="icon-circle-382"/>
          <p:cNvSpPr/>
          <p:nvPr/>
        </p:nvSpPr>
        <p:spPr>
          <a:xfrm>
            <a:off x="9301734" y="1691640"/>
            <a:ext cx="502920" cy="502920"/>
          </a:xfrm>
          <a:prstGeom prst="ellipse">
            <a:avLst/>
          </a:prstGeom>
          <a:solidFill>
            <a:schemeClr val="tx1"/>
          </a:solidFill>
          <a:ln/>
        </p:spPr>
      </p:sp>
      <p:pic>
        <p:nvPicPr>
          <p:cNvPr id="20" name="icon-383" descr="preencoded.png">    </p:cNvPr>
          <p:cNvPicPr>
            <a:picLocks noChangeAspect="1"/>
          </p:cNvPicPr>
          <p:nvPr/>
        </p:nvPicPr>
        <p:blipFill>
          <a:blip r:embed="rId4"/>
          <a:stretch>
            <a:fillRect/>
          </a:stretch>
        </p:blipFill>
        <p:spPr>
          <a:xfrm>
            <a:off x="9427464" y="1817370"/>
            <a:ext cx="251460" cy="251460"/>
          </a:xfrm>
          <a:prstGeom prst="rect">
            <a:avLst/>
          </a:prstGeom>
        </p:spPr>
      </p:pic>
      <p:sp>
        <p:nvSpPr>
          <p:cNvPr id="21" name="text-384"/>
          <p:cNvSpPr txBox="1"/>
          <p:nvPr/>
        </p:nvSpPr>
        <p:spPr>
          <a:xfrm>
            <a:off x="9941814" y="1691640"/>
            <a:ext cx="1561338" cy="502920"/>
          </a:xfrm>
          <a:prstGeom prst="rect">
            <a:avLst/>
          </a:prstGeom>
          <a:noFill/>
          <a:ln/>
        </p:spPr>
        <p:txBody>
          <a:bodyPr wrap="square" lIns="0" tIns="0" rIns="0" bIns="0" rtlCol="0" anchor="ctr"/>
          <a:lstStyle/>
          <a:p>
            <a:pPr indent="0" marL="0">
              <a:buNone/>
            </a:pPr>
            <a:r>
              <a:rPr lang="en-US" sz="1800" b="1" dirty="0">
                <a:solidFill>
                  <a:schemeClr val="tx1"/>
                </a:solidFill>
              </a:rPr>
              <a:t>Docker</a:t>
            </a:r>
            <a:endParaRPr lang="en-US" sz="1800" dirty="0"/>
          </a:p>
        </p:txBody>
      </p:sp>
      <p:sp>
        <p:nvSpPr>
          <p:cNvPr id="22" name="text-385"/>
          <p:cNvSpPr txBox="1"/>
          <p:nvPr/>
        </p:nvSpPr>
        <p:spPr>
          <a:xfrm>
            <a:off x="9301734" y="2331720"/>
            <a:ext cx="2109978" cy="1234440"/>
          </a:xfrm>
          <a:prstGeom prst="rect">
            <a:avLst/>
          </a:prstGeom>
          <a:noFill/>
          <a:ln/>
        </p:spPr>
        <p:txBody>
          <a:bodyPr wrap="square" lIns="0" tIns="0" rIns="0" bIns="0" rtlCol="0" anchor="t"/>
          <a:lstStyle/>
          <a:p>
            <a:pPr indent="0" marL="0">
              <a:buNone/>
            </a:pPr>
            <a:r>
              <a:rPr lang="en-US" sz="1400" dirty="0">
                <a:solidFill>
                  <a:schemeClr val="tx2"/>
                </a:solidFill>
              </a:rPr>
              <a:t>Packages software into containers so it runs the same on every computer.</a:t>
            </a:r>
            <a:endParaRPr lang="en-US" sz="1400" dirty="0"/>
          </a:p>
        </p:txBody>
      </p:sp>
      <p:sp>
        <p:nvSpPr>
          <p:cNvPr id="23" name="card-386"/>
          <p:cNvSpPr/>
          <p:nvPr/>
        </p:nvSpPr>
        <p:spPr>
          <a:xfrm>
            <a:off x="548640" y="3886200"/>
            <a:ext cx="2567178" cy="2194560"/>
          </a:xfrm>
          <a:prstGeom prst="roundRect">
            <a:avLst>
              <a:gd name="adj" fmla="val 3333"/>
            </a:avLst>
          </a:prstGeom>
          <a:solidFill>
            <a:schemeClr val="bg1"/>
          </a:solidFill>
          <a:ln/>
          <a:effectLst>
            <a:outerShdw sx="100000" sy="100000" kx="0" ky="0" algn="bl" rotWithShape="0" blurRad="101600" dist="25400" dir="5400000">
              <a:srgbClr val="000000">
                <a:alpha val="12000"/>
              </a:srgbClr>
            </a:outerShdw>
          </a:effectLst>
        </p:spPr>
      </p:sp>
      <p:sp>
        <p:nvSpPr>
          <p:cNvPr id="24" name="icon-circle-387"/>
          <p:cNvSpPr/>
          <p:nvPr/>
        </p:nvSpPr>
        <p:spPr>
          <a:xfrm>
            <a:off x="777240" y="4114800"/>
            <a:ext cx="502920" cy="502920"/>
          </a:xfrm>
          <a:prstGeom prst="ellipse">
            <a:avLst/>
          </a:prstGeom>
          <a:solidFill>
            <a:schemeClr val="accent1"/>
          </a:solidFill>
          <a:ln/>
        </p:spPr>
      </p:sp>
      <p:pic>
        <p:nvPicPr>
          <p:cNvPr id="25" name="icon-388" descr="preencoded.png">    </p:cNvPr>
          <p:cNvPicPr>
            <a:picLocks noChangeAspect="1"/>
          </p:cNvPicPr>
          <p:nvPr/>
        </p:nvPicPr>
        <p:blipFill>
          <a:blip r:embed="rId5"/>
          <a:stretch>
            <a:fillRect/>
          </a:stretch>
        </p:blipFill>
        <p:spPr>
          <a:xfrm>
            <a:off x="902970" y="4240530"/>
            <a:ext cx="251460" cy="251460"/>
          </a:xfrm>
          <a:prstGeom prst="rect">
            <a:avLst/>
          </a:prstGeom>
        </p:spPr>
      </p:pic>
      <p:sp>
        <p:nvSpPr>
          <p:cNvPr id="26" name="text-389"/>
          <p:cNvSpPr txBox="1"/>
          <p:nvPr/>
        </p:nvSpPr>
        <p:spPr>
          <a:xfrm>
            <a:off x="1417320" y="4114800"/>
            <a:ext cx="1561338" cy="502920"/>
          </a:xfrm>
          <a:prstGeom prst="rect">
            <a:avLst/>
          </a:prstGeom>
          <a:noFill/>
          <a:ln/>
        </p:spPr>
        <p:txBody>
          <a:bodyPr wrap="square" lIns="0" tIns="0" rIns="0" bIns="0" rtlCol="0" anchor="ctr"/>
          <a:lstStyle/>
          <a:p>
            <a:pPr indent="0" marL="0">
              <a:buNone/>
            </a:pPr>
            <a:r>
              <a:rPr lang="en-US" sz="1800" b="1" dirty="0">
                <a:solidFill>
                  <a:schemeClr val="tx1"/>
                </a:solidFill>
              </a:rPr>
              <a:t>SLAM</a:t>
            </a:r>
            <a:endParaRPr lang="en-US" sz="1800" dirty="0"/>
          </a:p>
        </p:txBody>
      </p:sp>
      <p:sp>
        <p:nvSpPr>
          <p:cNvPr id="27" name="text-390"/>
          <p:cNvSpPr txBox="1"/>
          <p:nvPr/>
        </p:nvSpPr>
        <p:spPr>
          <a:xfrm>
            <a:off x="777240" y="4754880"/>
            <a:ext cx="2109978" cy="1234440"/>
          </a:xfrm>
          <a:prstGeom prst="rect">
            <a:avLst/>
          </a:prstGeom>
          <a:noFill/>
          <a:ln/>
        </p:spPr>
        <p:txBody>
          <a:bodyPr wrap="square" lIns="0" tIns="0" rIns="0" bIns="0" rtlCol="0" anchor="t"/>
          <a:lstStyle/>
          <a:p>
            <a:pPr indent="0" marL="0">
              <a:buNone/>
            </a:pPr>
            <a:r>
              <a:rPr lang="en-US" sz="1400" dirty="0">
                <a:solidFill>
                  <a:schemeClr val="tx2"/>
                </a:solidFill>
              </a:rPr>
              <a:t>Simultaneous Localization And Mapping: build a map while tracking your position in it.</a:t>
            </a:r>
            <a:endParaRPr lang="en-US" sz="1400" dirty="0"/>
          </a:p>
        </p:txBody>
      </p:sp>
      <p:sp>
        <p:nvSpPr>
          <p:cNvPr id="28" name="card-391"/>
          <p:cNvSpPr/>
          <p:nvPr/>
        </p:nvSpPr>
        <p:spPr>
          <a:xfrm>
            <a:off x="3390138" y="3886200"/>
            <a:ext cx="2567178" cy="2194560"/>
          </a:xfrm>
          <a:prstGeom prst="roundRect">
            <a:avLst>
              <a:gd name="adj" fmla="val 3333"/>
            </a:avLst>
          </a:prstGeom>
          <a:solidFill>
            <a:schemeClr val="bg1"/>
          </a:solidFill>
          <a:ln/>
          <a:effectLst>
            <a:outerShdw sx="100000" sy="100000" kx="0" ky="0" algn="bl" rotWithShape="0" blurRad="101600" dist="25400" dir="5400000">
              <a:srgbClr val="000000">
                <a:alpha val="12000"/>
              </a:srgbClr>
            </a:outerShdw>
          </a:effectLst>
        </p:spPr>
      </p:sp>
      <p:sp>
        <p:nvSpPr>
          <p:cNvPr id="29" name="icon-circle-392"/>
          <p:cNvSpPr/>
          <p:nvPr/>
        </p:nvSpPr>
        <p:spPr>
          <a:xfrm>
            <a:off x="3618738" y="4114800"/>
            <a:ext cx="502920" cy="502920"/>
          </a:xfrm>
          <a:prstGeom prst="ellipse">
            <a:avLst/>
          </a:prstGeom>
          <a:solidFill>
            <a:schemeClr val="tx1"/>
          </a:solidFill>
          <a:ln/>
        </p:spPr>
      </p:sp>
      <p:pic>
        <p:nvPicPr>
          <p:cNvPr id="30" name="icon-393" descr="preencoded.png">    </p:cNvPr>
          <p:cNvPicPr>
            <a:picLocks noChangeAspect="1"/>
          </p:cNvPicPr>
          <p:nvPr/>
        </p:nvPicPr>
        <p:blipFill>
          <a:blip r:embed="rId6"/>
          <a:stretch>
            <a:fillRect/>
          </a:stretch>
        </p:blipFill>
        <p:spPr>
          <a:xfrm>
            <a:off x="3744468" y="4240530"/>
            <a:ext cx="251460" cy="251460"/>
          </a:xfrm>
          <a:prstGeom prst="rect">
            <a:avLst/>
          </a:prstGeom>
        </p:spPr>
      </p:pic>
      <p:sp>
        <p:nvSpPr>
          <p:cNvPr id="31" name="text-394"/>
          <p:cNvSpPr txBox="1"/>
          <p:nvPr/>
        </p:nvSpPr>
        <p:spPr>
          <a:xfrm>
            <a:off x="4258818" y="4114800"/>
            <a:ext cx="1561338" cy="502920"/>
          </a:xfrm>
          <a:prstGeom prst="rect">
            <a:avLst/>
          </a:prstGeom>
          <a:noFill/>
          <a:ln/>
        </p:spPr>
        <p:txBody>
          <a:bodyPr wrap="square" lIns="0" tIns="0" rIns="0" bIns="0" rtlCol="0" anchor="ctr"/>
          <a:lstStyle/>
          <a:p>
            <a:pPr indent="0" marL="0">
              <a:buNone/>
            </a:pPr>
            <a:r>
              <a:rPr lang="en-US" sz="1800" b="1" dirty="0">
                <a:solidFill>
                  <a:schemeClr val="tx1"/>
                </a:solidFill>
              </a:rPr>
              <a:t>Raceline</a:t>
            </a:r>
            <a:endParaRPr lang="en-US" sz="1800" dirty="0"/>
          </a:p>
        </p:txBody>
      </p:sp>
      <p:sp>
        <p:nvSpPr>
          <p:cNvPr id="32" name="text-395"/>
          <p:cNvSpPr txBox="1"/>
          <p:nvPr/>
        </p:nvSpPr>
        <p:spPr>
          <a:xfrm>
            <a:off x="3618738" y="4754880"/>
            <a:ext cx="2109978" cy="1234440"/>
          </a:xfrm>
          <a:prstGeom prst="rect">
            <a:avLst/>
          </a:prstGeom>
          <a:noFill/>
          <a:ln/>
        </p:spPr>
        <p:txBody>
          <a:bodyPr wrap="square" lIns="0" tIns="0" rIns="0" bIns="0" rtlCol="0" anchor="t"/>
          <a:lstStyle/>
          <a:p>
            <a:pPr indent="0" marL="0">
              <a:buNone/>
            </a:pPr>
            <a:r>
              <a:rPr lang="en-US" sz="1400" dirty="0">
                <a:solidFill>
                  <a:schemeClr val="tx2"/>
                </a:solidFill>
              </a:rPr>
              <a:t>The fastest path around the track, usually planned in advance from a map.</a:t>
            </a:r>
            <a:endParaRPr lang="en-US" sz="1400" dirty="0"/>
          </a:p>
        </p:txBody>
      </p:sp>
      <p:sp>
        <p:nvSpPr>
          <p:cNvPr id="33" name="card-396"/>
          <p:cNvSpPr/>
          <p:nvPr/>
        </p:nvSpPr>
        <p:spPr>
          <a:xfrm>
            <a:off x="6231636" y="3886200"/>
            <a:ext cx="2567178" cy="2194560"/>
          </a:xfrm>
          <a:prstGeom prst="roundRect">
            <a:avLst>
              <a:gd name="adj" fmla="val 3333"/>
            </a:avLst>
          </a:prstGeom>
          <a:solidFill>
            <a:schemeClr val="bg1"/>
          </a:solidFill>
          <a:ln/>
          <a:effectLst>
            <a:outerShdw sx="100000" sy="100000" kx="0" ky="0" algn="bl" rotWithShape="0" blurRad="101600" dist="25400" dir="5400000">
              <a:srgbClr val="000000">
                <a:alpha val="12000"/>
              </a:srgbClr>
            </a:outerShdw>
          </a:effectLst>
        </p:spPr>
      </p:sp>
      <p:sp>
        <p:nvSpPr>
          <p:cNvPr id="34" name="icon-circle-397"/>
          <p:cNvSpPr/>
          <p:nvPr/>
        </p:nvSpPr>
        <p:spPr>
          <a:xfrm>
            <a:off x="6460236" y="4114800"/>
            <a:ext cx="502920" cy="502920"/>
          </a:xfrm>
          <a:prstGeom prst="ellipse">
            <a:avLst/>
          </a:prstGeom>
          <a:solidFill>
            <a:schemeClr val="accent1"/>
          </a:solidFill>
          <a:ln/>
        </p:spPr>
      </p:sp>
      <p:pic>
        <p:nvPicPr>
          <p:cNvPr id="35" name="icon-398" descr="preencoded.png">    </p:cNvPr>
          <p:cNvPicPr>
            <a:picLocks noChangeAspect="1"/>
          </p:cNvPicPr>
          <p:nvPr/>
        </p:nvPicPr>
        <p:blipFill>
          <a:blip r:embed="rId7"/>
          <a:stretch>
            <a:fillRect/>
          </a:stretch>
        </p:blipFill>
        <p:spPr>
          <a:xfrm>
            <a:off x="6585966" y="4240530"/>
            <a:ext cx="251460" cy="251460"/>
          </a:xfrm>
          <a:prstGeom prst="rect">
            <a:avLst/>
          </a:prstGeom>
        </p:spPr>
      </p:pic>
      <p:sp>
        <p:nvSpPr>
          <p:cNvPr id="36" name="text-399"/>
          <p:cNvSpPr txBox="1"/>
          <p:nvPr/>
        </p:nvSpPr>
        <p:spPr>
          <a:xfrm>
            <a:off x="7100316" y="4114800"/>
            <a:ext cx="1561338" cy="502920"/>
          </a:xfrm>
          <a:prstGeom prst="rect">
            <a:avLst/>
          </a:prstGeom>
          <a:noFill/>
          <a:ln/>
        </p:spPr>
        <p:txBody>
          <a:bodyPr wrap="square" lIns="0" tIns="0" rIns="0" bIns="0" rtlCol="0" anchor="ctr"/>
          <a:lstStyle/>
          <a:p>
            <a:pPr indent="0" marL="0">
              <a:buNone/>
            </a:pPr>
            <a:r>
              <a:rPr lang="en-US" sz="1800" b="1" dirty="0">
                <a:solidFill>
                  <a:schemeClr val="tx1"/>
                </a:solidFill>
              </a:rPr>
              <a:t>Lookahead</a:t>
            </a:r>
            <a:endParaRPr lang="en-US" sz="1800" dirty="0"/>
          </a:p>
        </p:txBody>
      </p:sp>
      <p:sp>
        <p:nvSpPr>
          <p:cNvPr id="37" name="text-400"/>
          <p:cNvSpPr txBox="1"/>
          <p:nvPr/>
        </p:nvSpPr>
        <p:spPr>
          <a:xfrm>
            <a:off x="6460236" y="4754880"/>
            <a:ext cx="2109978" cy="1234440"/>
          </a:xfrm>
          <a:prstGeom prst="rect">
            <a:avLst/>
          </a:prstGeom>
          <a:noFill/>
          <a:ln/>
        </p:spPr>
        <p:txBody>
          <a:bodyPr wrap="square" lIns="0" tIns="0" rIns="0" bIns="0" rtlCol="0" anchor="t"/>
          <a:lstStyle/>
          <a:p>
            <a:pPr indent="0" marL="0">
              <a:buNone/>
            </a:pPr>
            <a:r>
              <a:rPr lang="en-US" sz="1400" dirty="0">
                <a:solidFill>
                  <a:schemeClr val="tx2"/>
                </a:solidFill>
              </a:rPr>
              <a:t>How far ahead the controller aims. Longer is smoother; shorter is more precise.</a:t>
            </a:r>
            <a:endParaRPr lang="en-US" sz="1400" dirty="0"/>
          </a:p>
        </p:txBody>
      </p:sp>
      <p:sp>
        <p:nvSpPr>
          <p:cNvPr id="38" name="card-401"/>
          <p:cNvSpPr/>
          <p:nvPr/>
        </p:nvSpPr>
        <p:spPr>
          <a:xfrm>
            <a:off x="9073134" y="3886200"/>
            <a:ext cx="2567178" cy="2194560"/>
          </a:xfrm>
          <a:prstGeom prst="roundRect">
            <a:avLst>
              <a:gd name="adj" fmla="val 3333"/>
            </a:avLst>
          </a:prstGeom>
          <a:solidFill>
            <a:schemeClr val="bg1"/>
          </a:solidFill>
          <a:ln/>
          <a:effectLst>
            <a:outerShdw sx="100000" sy="100000" kx="0" ky="0" algn="bl" rotWithShape="0" blurRad="101600" dist="25400" dir="5400000">
              <a:srgbClr val="000000">
                <a:alpha val="12000"/>
              </a:srgbClr>
            </a:outerShdw>
          </a:effectLst>
        </p:spPr>
      </p:sp>
      <p:sp>
        <p:nvSpPr>
          <p:cNvPr id="39" name="icon-circle-402"/>
          <p:cNvSpPr/>
          <p:nvPr/>
        </p:nvSpPr>
        <p:spPr>
          <a:xfrm>
            <a:off x="9301734" y="4114800"/>
            <a:ext cx="502920" cy="502920"/>
          </a:xfrm>
          <a:prstGeom prst="ellipse">
            <a:avLst/>
          </a:prstGeom>
          <a:solidFill>
            <a:schemeClr val="tx1"/>
          </a:solidFill>
          <a:ln/>
        </p:spPr>
      </p:sp>
      <p:pic>
        <p:nvPicPr>
          <p:cNvPr id="40" name="icon-403" descr="preencoded.png">    </p:cNvPr>
          <p:cNvPicPr>
            <a:picLocks noChangeAspect="1"/>
          </p:cNvPicPr>
          <p:nvPr/>
        </p:nvPicPr>
        <p:blipFill>
          <a:blip r:embed="rId8"/>
          <a:stretch>
            <a:fillRect/>
          </a:stretch>
        </p:blipFill>
        <p:spPr>
          <a:xfrm>
            <a:off x="9427464" y="4240530"/>
            <a:ext cx="251460" cy="251460"/>
          </a:xfrm>
          <a:prstGeom prst="rect">
            <a:avLst/>
          </a:prstGeom>
        </p:spPr>
      </p:pic>
      <p:sp>
        <p:nvSpPr>
          <p:cNvPr id="41" name="text-404"/>
          <p:cNvSpPr txBox="1"/>
          <p:nvPr/>
        </p:nvSpPr>
        <p:spPr>
          <a:xfrm>
            <a:off x="9941814" y="4114800"/>
            <a:ext cx="1561338" cy="502920"/>
          </a:xfrm>
          <a:prstGeom prst="rect">
            <a:avLst/>
          </a:prstGeom>
          <a:noFill/>
          <a:ln/>
        </p:spPr>
        <p:txBody>
          <a:bodyPr wrap="square" lIns="0" tIns="0" rIns="0" bIns="0" rtlCol="0" anchor="ctr"/>
          <a:lstStyle/>
          <a:p>
            <a:pPr indent="0" marL="0">
              <a:buNone/>
            </a:pPr>
            <a:r>
              <a:rPr lang="en-US" sz="1800" b="1" dirty="0">
                <a:solidFill>
                  <a:schemeClr val="tx1"/>
                </a:solidFill>
              </a:rPr>
              <a:t>Digital twin</a:t>
            </a:r>
            <a:endParaRPr lang="en-US" sz="1800" dirty="0"/>
          </a:p>
        </p:txBody>
      </p:sp>
      <p:sp>
        <p:nvSpPr>
          <p:cNvPr id="42" name="text-405"/>
          <p:cNvSpPr txBox="1"/>
          <p:nvPr/>
        </p:nvSpPr>
        <p:spPr>
          <a:xfrm>
            <a:off x="9301734" y="4754880"/>
            <a:ext cx="2109978" cy="1234440"/>
          </a:xfrm>
          <a:prstGeom prst="rect">
            <a:avLst/>
          </a:prstGeom>
          <a:noFill/>
          <a:ln/>
        </p:spPr>
        <p:txBody>
          <a:bodyPr wrap="square" lIns="0" tIns="0" rIns="0" bIns="0" rtlCol="0" anchor="t"/>
          <a:lstStyle/>
          <a:p>
            <a:pPr indent="0" marL="0">
              <a:buNone/>
            </a:pPr>
            <a:r>
              <a:rPr lang="en-US" sz="1400" dirty="0">
                <a:solidFill>
                  <a:schemeClr val="tx2"/>
                </a:solidFill>
              </a:rPr>
              <a:t>A simulated copy of the real car and track, with matching sensors and dynamics.</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406"/>
          <p:cNvSpPr txBox="1"/>
          <p:nvPr/>
        </p:nvSpPr>
        <p:spPr>
          <a:xfrm>
            <a:off x="731520" y="1417320"/>
            <a:ext cx="2743200" cy="1371600"/>
          </a:xfrm>
          <a:prstGeom prst="rect">
            <a:avLst/>
          </a:prstGeom>
          <a:noFill/>
          <a:ln/>
        </p:spPr>
        <p:txBody>
          <a:bodyPr wrap="square" lIns="0" tIns="0" rIns="0" bIns="0" rtlCol="0" anchor="b"/>
          <a:lstStyle/>
          <a:p>
            <a:pPr indent="0" marL="0">
              <a:buNone/>
            </a:pPr>
            <a:r>
              <a:rPr lang="en-US" sz="8000" b="1" dirty="0">
                <a:solidFill>
                  <a:schemeClr val="accent1"/>
                </a:solidFill>
                <a:latin typeface="Arial" pitchFamily="34" charset="0"/>
                <a:ea typeface="Arial" pitchFamily="34" charset="-122"/>
                <a:cs typeface="Arial" pitchFamily="34" charset="-120"/>
              </a:rPr>
              <a:t>02</a:t>
            </a:r>
            <a:endParaRPr lang="en-US" sz="8000" dirty="0"/>
          </a:p>
        </p:txBody>
      </p:sp>
      <p:sp>
        <p:nvSpPr>
          <p:cNvPr id="3" name="Text 0"/>
          <p:cNvSpPr/>
          <p:nvPr>
            <p:ph idx="100" type="title" hasCustomPrompt="1"/>
          </p:nvPr>
        </p:nvSpPr>
        <p:spPr>
          <a:xfrm>
            <a:off x="731520" y="2926080"/>
            <a:ext cx="7680960" cy="1005840"/>
          </a:xfrm>
          <a:prstGeom prst="rect">
            <a:avLst/>
          </a:prstGeom>
          <a:noFill/>
          <a:ln/>
        </p:spPr>
        <p:txBody>
          <a:bodyPr wrap="square" lIns="0" tIns="0" rIns="0" bIns="0" rtlCol="0" anchor="ctr"/>
          <a:lstStyle/>
          <a:p>
            <a:pPr algn="l" indent="0" marL="0">
              <a:buNone/>
            </a:pPr>
            <a:r>
              <a:rPr lang="en-US" sz="4000" b="1" dirty="0">
                <a:solidFill>
                  <a:schemeClr val="bg1"/>
                </a:solidFill>
              </a:rPr>
              <a:t>Setup</a:t>
            </a:r>
            <a:endParaRPr lang="en-US" sz="4000" dirty="0"/>
          </a:p>
        </p:txBody>
      </p:sp>
      <p:sp>
        <p:nvSpPr>
          <p:cNvPr id="4" name="Text 0"/>
          <p:cNvSpPr/>
          <p:nvPr>
            <p:ph idx="101" type="body" hasCustomPrompt="1"/>
          </p:nvPr>
        </p:nvSpPr>
        <p:spPr>
          <a:xfrm>
            <a:off x="731520" y="4023360"/>
            <a:ext cx="7315200" cy="914400"/>
          </a:xfrm>
          <a:prstGeom prst="rect">
            <a:avLst/>
          </a:prstGeom>
          <a:noFill/>
          <a:ln/>
        </p:spPr>
        <p:txBody>
          <a:bodyPr wrap="square" lIns="0" tIns="0" rIns="0" bIns="0" rtlCol="0" anchor="t"/>
          <a:lstStyle/>
          <a:p>
            <a:pPr algn="l" indent="0" marL="0">
              <a:buNone/>
            </a:pPr>
            <a:r>
              <a:rPr lang="en-US" sz="1800" dirty="0">
                <a:solidFill>
                  <a:schemeClr val="bg2"/>
                </a:solidFill>
              </a:rPr>
              <a:t>Start the simulator, connect the car and learn the launcher commands</a:t>
            </a:r>
            <a:endParaRPr lang="en-US" sz="1800" dirty="0"/>
          </a:p>
        </p:txBody>
      </p:sp>
      <p:sp>
        <p:nvSpPr>
          <p:cNvPr id="5" name="icon-circle-407"/>
          <p:cNvSpPr/>
          <p:nvPr/>
        </p:nvSpPr>
        <p:spPr>
          <a:xfrm>
            <a:off x="9052560" y="2240280"/>
            <a:ext cx="2194560" cy="2194560"/>
          </a:xfrm>
          <a:prstGeom prst="ellipse">
            <a:avLst/>
          </a:prstGeom>
          <a:solidFill>
            <a:schemeClr val="accent1"/>
          </a:solidFill>
          <a:ln/>
        </p:spPr>
      </p:sp>
      <p:pic>
        <p:nvPicPr>
          <p:cNvPr id="6" name="icon-408" descr="preencoded.png">    </p:cNvPr>
          <p:cNvPicPr>
            <a:picLocks noChangeAspect="1"/>
          </p:cNvPicPr>
          <p:nvPr/>
        </p:nvPicPr>
        <p:blipFill>
          <a:blip r:embed="rId1"/>
          <a:stretch>
            <a:fillRect/>
          </a:stretch>
        </p:blipFill>
        <p:spPr>
          <a:xfrm>
            <a:off x="9601200" y="2788920"/>
            <a:ext cx="1097280" cy="10972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How the pieces connect</a:t>
            </a:r>
            <a:endParaRPr lang="en-US" sz="3600" dirty="0"/>
          </a:p>
        </p:txBody>
      </p:sp>
      <p:sp>
        <p:nvSpPr>
          <p:cNvPr id="3" name="arch-box-409"/>
          <p:cNvSpPr/>
          <p:nvPr/>
        </p:nvSpPr>
        <p:spPr>
          <a:xfrm>
            <a:off x="548640" y="1600200"/>
            <a:ext cx="2011680" cy="1417320"/>
          </a:xfrm>
          <a:prstGeom prst="roundRect">
            <a:avLst>
              <a:gd name="adj" fmla="val 5161"/>
            </a:avLst>
          </a:prstGeom>
          <a:solidFill>
            <a:schemeClr val="tx1"/>
          </a:solidFill>
          <a:ln/>
          <a:effectLst>
            <a:outerShdw sx="100000" sy="100000" kx="0" ky="0" algn="bl" rotWithShape="0" blurRad="101600" dist="25400" dir="5400000">
              <a:srgbClr val="000000">
                <a:alpha val="12000"/>
              </a:srgbClr>
            </a:outerShdw>
          </a:effectLst>
        </p:spPr>
      </p:sp>
      <p:sp>
        <p:nvSpPr>
          <p:cNvPr id="4" name="text-410"/>
          <p:cNvSpPr txBox="1"/>
          <p:nvPr/>
        </p:nvSpPr>
        <p:spPr>
          <a:xfrm>
            <a:off x="685800" y="1874520"/>
            <a:ext cx="1737360" cy="457200"/>
          </a:xfrm>
          <a:prstGeom prst="rect">
            <a:avLst/>
          </a:prstGeom>
          <a:noFill/>
          <a:ln/>
        </p:spPr>
        <p:txBody>
          <a:bodyPr wrap="square" lIns="0" tIns="0" rIns="0" bIns="0" rtlCol="0" anchor="t"/>
          <a:lstStyle/>
          <a:p>
            <a:pPr algn="ctr" indent="0" marL="0">
              <a:buNone/>
            </a:pPr>
            <a:r>
              <a:rPr lang="en-US" sz="1700" b="1" dirty="0">
                <a:solidFill>
                  <a:schemeClr val="bg1"/>
                </a:solidFill>
                <a:latin typeface="Arial" pitchFamily="34" charset="0"/>
                <a:ea typeface="Arial" pitchFamily="34" charset="-122"/>
                <a:cs typeface="Arial" pitchFamily="34" charset="-120"/>
              </a:rPr>
              <a:t>AutoDRIVE Simulator</a:t>
            </a:r>
            <a:endParaRPr lang="en-US" sz="1700" dirty="0"/>
          </a:p>
        </p:txBody>
      </p:sp>
      <p:sp>
        <p:nvSpPr>
          <p:cNvPr id="5" name="text-411"/>
          <p:cNvSpPr txBox="1"/>
          <p:nvPr/>
        </p:nvSpPr>
        <p:spPr>
          <a:xfrm>
            <a:off x="685800" y="2377440"/>
            <a:ext cx="1737360" cy="411480"/>
          </a:xfrm>
          <a:prstGeom prst="rect">
            <a:avLst/>
          </a:prstGeom>
          <a:noFill/>
          <a:ln/>
        </p:spPr>
        <p:txBody>
          <a:bodyPr wrap="square" lIns="0" tIns="0" rIns="0" bIns="0" rtlCol="0" anchor="t"/>
          <a:lstStyle/>
          <a:p>
            <a:pPr algn="ctr" indent="0" marL="0">
              <a:buNone/>
            </a:pPr>
            <a:r>
              <a:rPr lang="en-US" sz="1300" dirty="0">
                <a:solidFill>
                  <a:schemeClr val="bg2"/>
                </a:solidFill>
              </a:rPr>
              <a:t>Unity app on your computer</a:t>
            </a:r>
            <a:endParaRPr lang="en-US" sz="1300" dirty="0"/>
          </a:p>
        </p:txBody>
      </p:sp>
      <p:sp>
        <p:nvSpPr>
          <p:cNvPr id="6" name="line-412"/>
          <p:cNvSpPr/>
          <p:nvPr/>
        </p:nvSpPr>
        <p:spPr>
          <a:xfrm>
            <a:off x="2670048" y="2103120"/>
            <a:ext cx="795528" cy="0"/>
          </a:xfrm>
          <a:prstGeom prst="line">
            <a:avLst/>
          </a:prstGeom>
          <a:noFill/>
          <a:ln w="25400">
            <a:solidFill>
              <a:srgbClr val="14161B"/>
            </a:solidFill>
            <a:prstDash val="solid"/>
            <a:tailEnd type="triangle"/>
          </a:ln>
        </p:spPr>
      </p:sp>
      <p:sp>
        <p:nvSpPr>
          <p:cNvPr id="7" name="line-413"/>
          <p:cNvSpPr/>
          <p:nvPr/>
        </p:nvSpPr>
        <p:spPr>
          <a:xfrm>
            <a:off x="2670048" y="2514600"/>
            <a:ext cx="795528" cy="0"/>
          </a:xfrm>
          <a:prstGeom prst="line">
            <a:avLst/>
          </a:prstGeom>
          <a:noFill/>
          <a:ln w="25400">
            <a:solidFill>
              <a:srgbClr val="14161B"/>
            </a:solidFill>
            <a:prstDash val="solid"/>
            <a:headEnd type="triangle"/>
          </a:ln>
        </p:spPr>
      </p:sp>
      <p:sp>
        <p:nvSpPr>
          <p:cNvPr id="8" name="arch-box-414"/>
          <p:cNvSpPr/>
          <p:nvPr/>
        </p:nvSpPr>
        <p:spPr>
          <a:xfrm>
            <a:off x="3575304" y="1600200"/>
            <a:ext cx="2011680" cy="1417320"/>
          </a:xfrm>
          <a:prstGeom prst="roundRect">
            <a:avLst>
              <a:gd name="adj" fmla="val 5161"/>
            </a:avLst>
          </a:prstGeom>
          <a:solidFill>
            <a:schemeClr val="tx2"/>
          </a:solidFill>
          <a:ln/>
          <a:effectLst>
            <a:outerShdw sx="100000" sy="100000" kx="0" ky="0" algn="bl" rotWithShape="0" blurRad="101600" dist="25400" dir="5400000">
              <a:srgbClr val="000000">
                <a:alpha val="12000"/>
              </a:srgbClr>
            </a:outerShdw>
          </a:effectLst>
        </p:spPr>
      </p:sp>
      <p:sp>
        <p:nvSpPr>
          <p:cNvPr id="9" name="text-415"/>
          <p:cNvSpPr txBox="1"/>
          <p:nvPr/>
        </p:nvSpPr>
        <p:spPr>
          <a:xfrm>
            <a:off x="3712464" y="1874520"/>
            <a:ext cx="1737360" cy="457200"/>
          </a:xfrm>
          <a:prstGeom prst="rect">
            <a:avLst/>
          </a:prstGeom>
          <a:noFill/>
          <a:ln/>
        </p:spPr>
        <p:txBody>
          <a:bodyPr wrap="square" lIns="0" tIns="0" rIns="0" bIns="0" rtlCol="0" anchor="t"/>
          <a:lstStyle/>
          <a:p>
            <a:pPr algn="ctr" indent="0" marL="0">
              <a:buNone/>
            </a:pPr>
            <a:r>
              <a:rPr lang="en-US" sz="1700" b="1" dirty="0">
                <a:solidFill>
                  <a:schemeClr val="bg1"/>
                </a:solidFill>
                <a:latin typeface="Arial" pitchFamily="34" charset="0"/>
                <a:ea typeface="Arial" pitchFamily="34" charset="-122"/>
                <a:cs typeface="Arial" pitchFamily="34" charset="-120"/>
              </a:rPr>
              <a:t>ROS bridge</a:t>
            </a:r>
            <a:endParaRPr lang="en-US" sz="1700" dirty="0"/>
          </a:p>
        </p:txBody>
      </p:sp>
      <p:sp>
        <p:nvSpPr>
          <p:cNvPr id="10" name="text-416"/>
          <p:cNvSpPr txBox="1"/>
          <p:nvPr/>
        </p:nvSpPr>
        <p:spPr>
          <a:xfrm>
            <a:off x="3712464" y="2377440"/>
            <a:ext cx="1737360" cy="411480"/>
          </a:xfrm>
          <a:prstGeom prst="rect">
            <a:avLst/>
          </a:prstGeom>
          <a:noFill/>
          <a:ln/>
        </p:spPr>
        <p:txBody>
          <a:bodyPr wrap="square" lIns="0" tIns="0" rIns="0" bIns="0" rtlCol="0" anchor="t"/>
          <a:lstStyle/>
          <a:p>
            <a:pPr algn="ctr" indent="0" marL="0">
              <a:buNone/>
            </a:pPr>
            <a:r>
              <a:rPr lang="en-US" sz="1300" dirty="0">
                <a:solidFill>
                  <a:schemeClr val="bg2"/>
                </a:solidFill>
              </a:rPr>
              <a:t>Docker container</a:t>
            </a:r>
            <a:endParaRPr lang="en-US" sz="1300" dirty="0"/>
          </a:p>
        </p:txBody>
      </p:sp>
      <p:sp>
        <p:nvSpPr>
          <p:cNvPr id="11" name="line-417"/>
          <p:cNvSpPr/>
          <p:nvPr/>
        </p:nvSpPr>
        <p:spPr>
          <a:xfrm>
            <a:off x="5696712" y="2103120"/>
            <a:ext cx="795528" cy="0"/>
          </a:xfrm>
          <a:prstGeom prst="line">
            <a:avLst/>
          </a:prstGeom>
          <a:noFill/>
          <a:ln w="25400">
            <a:solidFill>
              <a:srgbClr val="14161B"/>
            </a:solidFill>
            <a:prstDash val="solid"/>
            <a:tailEnd type="triangle"/>
          </a:ln>
        </p:spPr>
      </p:sp>
      <p:sp>
        <p:nvSpPr>
          <p:cNvPr id="12" name="line-418"/>
          <p:cNvSpPr/>
          <p:nvPr/>
        </p:nvSpPr>
        <p:spPr>
          <a:xfrm>
            <a:off x="5696712" y="2514600"/>
            <a:ext cx="795528" cy="0"/>
          </a:xfrm>
          <a:prstGeom prst="line">
            <a:avLst/>
          </a:prstGeom>
          <a:noFill/>
          <a:ln w="25400">
            <a:solidFill>
              <a:srgbClr val="14161B"/>
            </a:solidFill>
            <a:prstDash val="solid"/>
            <a:headEnd type="triangle"/>
          </a:ln>
        </p:spPr>
      </p:sp>
      <p:sp>
        <p:nvSpPr>
          <p:cNvPr id="13" name="arch-box-419"/>
          <p:cNvSpPr/>
          <p:nvPr/>
        </p:nvSpPr>
        <p:spPr>
          <a:xfrm>
            <a:off x="6601968" y="1600200"/>
            <a:ext cx="2011680" cy="1417320"/>
          </a:xfrm>
          <a:prstGeom prst="roundRect">
            <a:avLst>
              <a:gd name="adj" fmla="val 5161"/>
            </a:avLst>
          </a:prstGeom>
          <a:solidFill>
            <a:schemeClr val="tx2"/>
          </a:solidFill>
          <a:ln/>
          <a:effectLst>
            <a:outerShdw sx="100000" sy="100000" kx="0" ky="0" algn="bl" rotWithShape="0" blurRad="101600" dist="25400" dir="5400000">
              <a:srgbClr val="000000">
                <a:alpha val="12000"/>
              </a:srgbClr>
            </a:outerShdw>
          </a:effectLst>
        </p:spPr>
      </p:sp>
      <p:sp>
        <p:nvSpPr>
          <p:cNvPr id="14" name="text-420"/>
          <p:cNvSpPr txBox="1"/>
          <p:nvPr/>
        </p:nvSpPr>
        <p:spPr>
          <a:xfrm>
            <a:off x="6739128" y="1874520"/>
            <a:ext cx="1737360" cy="457200"/>
          </a:xfrm>
          <a:prstGeom prst="rect">
            <a:avLst/>
          </a:prstGeom>
          <a:noFill/>
          <a:ln/>
        </p:spPr>
        <p:txBody>
          <a:bodyPr wrap="square" lIns="0" tIns="0" rIns="0" bIns="0" rtlCol="0" anchor="t"/>
          <a:lstStyle/>
          <a:p>
            <a:pPr algn="ctr" indent="0" marL="0">
              <a:buNone/>
            </a:pPr>
            <a:r>
              <a:rPr lang="en-US" sz="1700" b="1" dirty="0">
                <a:solidFill>
                  <a:schemeClr val="bg1"/>
                </a:solidFill>
                <a:latin typeface="Arial" pitchFamily="34" charset="0"/>
                <a:ea typeface="Arial" pitchFamily="34" charset="-122"/>
                <a:cs typeface="Arial" pitchFamily="34" charset="-120"/>
              </a:rPr>
              <a:t>Controller runtime</a:t>
            </a:r>
            <a:endParaRPr lang="en-US" sz="1700" dirty="0"/>
          </a:p>
        </p:txBody>
      </p:sp>
      <p:sp>
        <p:nvSpPr>
          <p:cNvPr id="15" name="text-421"/>
          <p:cNvSpPr txBox="1"/>
          <p:nvPr/>
        </p:nvSpPr>
        <p:spPr>
          <a:xfrm>
            <a:off x="6739128" y="2377440"/>
            <a:ext cx="1737360" cy="411480"/>
          </a:xfrm>
          <a:prstGeom prst="rect">
            <a:avLst/>
          </a:prstGeom>
          <a:noFill/>
          <a:ln/>
        </p:spPr>
        <p:txBody>
          <a:bodyPr wrap="square" lIns="0" tIns="0" rIns="0" bIns="0" rtlCol="0" anchor="t"/>
          <a:lstStyle/>
          <a:p>
            <a:pPr algn="ctr" indent="0" marL="0">
              <a:buNone/>
            </a:pPr>
            <a:r>
              <a:rPr lang="en-US" sz="1300" dirty="0">
                <a:solidFill>
                  <a:schemeClr val="bg2"/>
                </a:solidFill>
              </a:rPr>
              <a:t>Docker container</a:t>
            </a:r>
            <a:endParaRPr lang="en-US" sz="1300" dirty="0"/>
          </a:p>
        </p:txBody>
      </p:sp>
      <p:sp>
        <p:nvSpPr>
          <p:cNvPr id="16" name="line-422"/>
          <p:cNvSpPr/>
          <p:nvPr/>
        </p:nvSpPr>
        <p:spPr>
          <a:xfrm>
            <a:off x="8723376" y="2103120"/>
            <a:ext cx="795528" cy="0"/>
          </a:xfrm>
          <a:prstGeom prst="line">
            <a:avLst/>
          </a:prstGeom>
          <a:noFill/>
          <a:ln w="25400">
            <a:solidFill>
              <a:srgbClr val="14161B"/>
            </a:solidFill>
            <a:prstDash val="solid"/>
            <a:tailEnd type="triangle"/>
          </a:ln>
        </p:spPr>
      </p:sp>
      <p:sp>
        <p:nvSpPr>
          <p:cNvPr id="17" name="line-423"/>
          <p:cNvSpPr/>
          <p:nvPr/>
        </p:nvSpPr>
        <p:spPr>
          <a:xfrm>
            <a:off x="8723376" y="2514600"/>
            <a:ext cx="795528" cy="0"/>
          </a:xfrm>
          <a:prstGeom prst="line">
            <a:avLst/>
          </a:prstGeom>
          <a:noFill/>
          <a:ln w="25400">
            <a:solidFill>
              <a:srgbClr val="14161B"/>
            </a:solidFill>
            <a:prstDash val="solid"/>
            <a:headEnd type="triangle"/>
          </a:ln>
        </p:spPr>
      </p:sp>
      <p:sp>
        <p:nvSpPr>
          <p:cNvPr id="18" name="arch-box-424"/>
          <p:cNvSpPr/>
          <p:nvPr/>
        </p:nvSpPr>
        <p:spPr>
          <a:xfrm>
            <a:off x="9628632" y="1600200"/>
            <a:ext cx="2011680" cy="1417320"/>
          </a:xfrm>
          <a:prstGeom prst="roundRect">
            <a:avLst>
              <a:gd name="adj" fmla="val 5161"/>
            </a:avLst>
          </a:prstGeom>
          <a:solidFill>
            <a:schemeClr val="accent1"/>
          </a:solidFill>
          <a:ln/>
          <a:effectLst>
            <a:outerShdw sx="100000" sy="100000" kx="0" ky="0" algn="bl" rotWithShape="0" blurRad="101600" dist="25400" dir="5400000">
              <a:srgbClr val="000000">
                <a:alpha val="12000"/>
              </a:srgbClr>
            </a:outerShdw>
          </a:effectLst>
        </p:spPr>
      </p:sp>
      <p:sp>
        <p:nvSpPr>
          <p:cNvPr id="19" name="text-425"/>
          <p:cNvSpPr txBox="1"/>
          <p:nvPr/>
        </p:nvSpPr>
        <p:spPr>
          <a:xfrm>
            <a:off x="9765792" y="1874520"/>
            <a:ext cx="1737360" cy="457200"/>
          </a:xfrm>
          <a:prstGeom prst="rect">
            <a:avLst/>
          </a:prstGeom>
          <a:noFill/>
          <a:ln/>
        </p:spPr>
        <p:txBody>
          <a:bodyPr wrap="square" lIns="0" tIns="0" rIns="0" bIns="0" rtlCol="0" anchor="t"/>
          <a:lstStyle/>
          <a:p>
            <a:pPr algn="ctr" indent="0" marL="0">
              <a:buNone/>
            </a:pPr>
            <a:r>
              <a:rPr lang="en-US" sz="1700" b="1" dirty="0">
                <a:solidFill>
                  <a:schemeClr val="bg1"/>
                </a:solidFill>
                <a:latin typeface="Courier New" pitchFamily="34" charset="0"/>
                <a:ea typeface="Courier New" pitchFamily="34" charset="-122"/>
                <a:cs typeface="Courier New" pitchFamily="34" charset="-120"/>
              </a:rPr>
              <a:t>controller.py</a:t>
            </a:r>
            <a:endParaRPr lang="en-US" sz="1700" dirty="0"/>
          </a:p>
        </p:txBody>
      </p:sp>
      <p:sp>
        <p:nvSpPr>
          <p:cNvPr id="20" name="text-426"/>
          <p:cNvSpPr txBox="1"/>
          <p:nvPr/>
        </p:nvSpPr>
        <p:spPr>
          <a:xfrm>
            <a:off x="9765792" y="2377440"/>
            <a:ext cx="1737360" cy="411480"/>
          </a:xfrm>
          <a:prstGeom prst="rect">
            <a:avLst/>
          </a:prstGeom>
          <a:noFill/>
          <a:ln/>
        </p:spPr>
        <p:txBody>
          <a:bodyPr wrap="square" lIns="0" tIns="0" rIns="0" bIns="0" rtlCol="0" anchor="t"/>
          <a:lstStyle/>
          <a:p>
            <a:pPr algn="ctr" indent="0" marL="0">
              <a:buNone/>
            </a:pPr>
            <a:r>
              <a:rPr lang="en-US" sz="1300" dirty="0">
                <a:solidFill>
                  <a:schemeClr val="bg2"/>
                </a:solidFill>
              </a:rPr>
              <a:t>your drive() function</a:t>
            </a:r>
            <a:endParaRPr lang="en-US" sz="1300" dirty="0"/>
          </a:p>
        </p:txBody>
      </p:sp>
      <p:sp>
        <p:nvSpPr>
          <p:cNvPr id="21" name="text-427"/>
          <p:cNvSpPr txBox="1"/>
          <p:nvPr/>
        </p:nvSpPr>
        <p:spPr>
          <a:xfrm>
            <a:off x="2468880" y="3108960"/>
            <a:ext cx="1197864" cy="502920"/>
          </a:xfrm>
          <a:prstGeom prst="rect">
            <a:avLst/>
          </a:prstGeom>
          <a:noFill/>
          <a:ln/>
        </p:spPr>
        <p:txBody>
          <a:bodyPr wrap="square" lIns="0" tIns="0" rIns="0" bIns="0" rtlCol="0" anchor="t"/>
          <a:lstStyle/>
          <a:p>
            <a:pPr algn="ctr" indent="0" marL="0">
              <a:buNone/>
            </a:pPr>
            <a:r>
              <a:rPr lang="en-US" sz="1100" dirty="0">
                <a:solidFill>
                  <a:schemeClr val="accent4"/>
                </a:solidFill>
              </a:rPr>
              <a:t>Socket.IO</a:t>
            </a:r>
            <a:endParaRPr lang="en-US" sz="1100" dirty="0"/>
          </a:p>
          <a:p>
            <a:pPr algn="ctr" indent="0" marL="0">
              <a:buNone/>
            </a:pPr>
            <a:r>
              <a:rPr lang="en-US" sz="1100" dirty="0">
                <a:solidFill>
                  <a:schemeClr val="accent4"/>
                </a:solidFill>
              </a:rPr>
              <a:t>port 4567</a:t>
            </a:r>
            <a:endParaRPr lang="en-US" sz="1100" dirty="0"/>
          </a:p>
        </p:txBody>
      </p:sp>
      <p:sp>
        <p:nvSpPr>
          <p:cNvPr id="22" name="text-428"/>
          <p:cNvSpPr txBox="1"/>
          <p:nvPr/>
        </p:nvSpPr>
        <p:spPr>
          <a:xfrm>
            <a:off x="5495544" y="3108960"/>
            <a:ext cx="1197864" cy="502920"/>
          </a:xfrm>
          <a:prstGeom prst="rect">
            <a:avLst/>
          </a:prstGeom>
          <a:noFill/>
          <a:ln/>
        </p:spPr>
        <p:txBody>
          <a:bodyPr wrap="square" lIns="0" tIns="0" rIns="0" bIns="0" rtlCol="0" anchor="t"/>
          <a:lstStyle/>
          <a:p>
            <a:pPr algn="ctr" indent="0" marL="0">
              <a:buNone/>
            </a:pPr>
            <a:r>
              <a:rPr lang="en-US" sz="1100" dirty="0">
                <a:solidFill>
                  <a:schemeClr val="accent4"/>
                </a:solidFill>
              </a:rPr>
              <a:t>LiDAR, odom</a:t>
            </a:r>
            <a:endParaRPr lang="en-US" sz="1100" dirty="0"/>
          </a:p>
          <a:p>
            <a:pPr algn="ctr" indent="0" marL="0">
              <a:buNone/>
            </a:pPr>
            <a:r>
              <a:rPr lang="en-US" sz="1100" dirty="0">
                <a:solidFill>
                  <a:schemeClr val="accent4"/>
                </a:solidFill>
              </a:rPr>
              <a:t>throttle, steer</a:t>
            </a:r>
            <a:endParaRPr lang="en-US" sz="1100" dirty="0"/>
          </a:p>
        </p:txBody>
      </p:sp>
      <p:sp>
        <p:nvSpPr>
          <p:cNvPr id="23" name="text-429"/>
          <p:cNvSpPr txBox="1"/>
          <p:nvPr/>
        </p:nvSpPr>
        <p:spPr>
          <a:xfrm>
            <a:off x="8522208" y="3108960"/>
            <a:ext cx="1197864" cy="502920"/>
          </a:xfrm>
          <a:prstGeom prst="rect">
            <a:avLst/>
          </a:prstGeom>
          <a:noFill/>
          <a:ln/>
        </p:spPr>
        <p:txBody>
          <a:bodyPr wrap="square" lIns="0" tIns="0" rIns="0" bIns="0" rtlCol="0" anchor="t"/>
          <a:lstStyle/>
          <a:p>
            <a:pPr algn="ctr" indent="0" marL="0">
              <a:buNone/>
            </a:pPr>
            <a:r>
              <a:rPr lang="en-US" sz="1100" dirty="0">
                <a:solidFill>
                  <a:schemeClr val="accent4"/>
                </a:solidFill>
              </a:rPr>
              <a:t>Observation</a:t>
            </a:r>
            <a:endParaRPr lang="en-US" sz="1100" dirty="0"/>
          </a:p>
          <a:p>
            <a:pPr algn="ctr" indent="0" marL="0">
              <a:buNone/>
            </a:pPr>
            <a:r>
              <a:rPr lang="en-US" sz="1100" dirty="0">
                <a:solidFill>
                  <a:schemeClr val="accent4"/>
                </a:solidFill>
              </a:rPr>
              <a:t>DriveCommand</a:t>
            </a:r>
            <a:endParaRPr lang="en-US" sz="1100" dirty="0"/>
          </a:p>
        </p:txBody>
      </p:sp>
      <p:sp>
        <p:nvSpPr>
          <p:cNvPr id="24" name="card-430"/>
          <p:cNvSpPr/>
          <p:nvPr/>
        </p:nvSpPr>
        <p:spPr>
          <a:xfrm>
            <a:off x="548640" y="3886200"/>
            <a:ext cx="3514344" cy="2103120"/>
          </a:xfrm>
          <a:prstGeom prst="roundRect">
            <a:avLst>
              <a:gd name="adj" fmla="val 3478"/>
            </a:avLst>
          </a:prstGeom>
          <a:solidFill>
            <a:schemeClr val="bg1"/>
          </a:solidFill>
          <a:ln/>
          <a:effectLst>
            <a:outerShdw sx="100000" sy="100000" kx="0" ky="0" algn="bl" rotWithShape="0" blurRad="101600" dist="25400" dir="5400000">
              <a:srgbClr val="000000">
                <a:alpha val="12000"/>
              </a:srgbClr>
            </a:outerShdw>
          </a:effectLst>
        </p:spPr>
      </p:sp>
      <p:sp>
        <p:nvSpPr>
          <p:cNvPr id="25" name="icon-circle-431"/>
          <p:cNvSpPr/>
          <p:nvPr/>
        </p:nvSpPr>
        <p:spPr>
          <a:xfrm>
            <a:off x="822960" y="4160520"/>
            <a:ext cx="594360" cy="594360"/>
          </a:xfrm>
          <a:prstGeom prst="ellipse">
            <a:avLst/>
          </a:prstGeom>
          <a:solidFill>
            <a:schemeClr val="accent1"/>
          </a:solidFill>
          <a:ln/>
        </p:spPr>
      </p:sp>
      <p:pic>
        <p:nvPicPr>
          <p:cNvPr id="26" name="icon-432" descr="preencoded.png">    </p:cNvPr>
          <p:cNvPicPr>
            <a:picLocks noChangeAspect="1"/>
          </p:cNvPicPr>
          <p:nvPr/>
        </p:nvPicPr>
        <p:blipFill>
          <a:blip r:embed="rId1"/>
          <a:stretch>
            <a:fillRect/>
          </a:stretch>
        </p:blipFill>
        <p:spPr>
          <a:xfrm>
            <a:off x="971550" y="4309110"/>
            <a:ext cx="297180" cy="297180"/>
          </a:xfrm>
          <a:prstGeom prst="rect">
            <a:avLst/>
          </a:prstGeom>
        </p:spPr>
      </p:pic>
      <p:sp>
        <p:nvSpPr>
          <p:cNvPr id="27" name="text-433"/>
          <p:cNvSpPr txBox="1"/>
          <p:nvPr/>
        </p:nvSpPr>
        <p:spPr>
          <a:xfrm>
            <a:off x="1600200" y="4233672"/>
            <a:ext cx="2234184" cy="457200"/>
          </a:xfrm>
          <a:prstGeom prst="rect">
            <a:avLst/>
          </a:prstGeom>
          <a:noFill/>
          <a:ln/>
        </p:spPr>
        <p:txBody>
          <a:bodyPr wrap="square" lIns="0" tIns="0" rIns="0" bIns="0" rtlCol="0" anchor="t"/>
          <a:lstStyle/>
          <a:p>
            <a:pPr indent="0" marL="0">
              <a:buNone/>
            </a:pPr>
            <a:r>
              <a:rPr lang="en-US" sz="1700" b="1" dirty="0">
                <a:solidFill>
                  <a:schemeClr val="tx1"/>
                </a:solidFill>
              </a:rPr>
              <a:t>Everything runs in Docker</a:t>
            </a:r>
            <a:endParaRPr lang="en-US" sz="1700" dirty="0"/>
          </a:p>
        </p:txBody>
      </p:sp>
      <p:sp>
        <p:nvSpPr>
          <p:cNvPr id="28" name="text-434"/>
          <p:cNvSpPr txBox="1"/>
          <p:nvPr/>
        </p:nvSpPr>
        <p:spPr>
          <a:xfrm>
            <a:off x="822960" y="4937760"/>
            <a:ext cx="2965704" cy="914400"/>
          </a:xfrm>
          <a:prstGeom prst="rect">
            <a:avLst/>
          </a:prstGeom>
          <a:noFill/>
          <a:ln/>
        </p:spPr>
        <p:txBody>
          <a:bodyPr wrap="square" lIns="0" tIns="0" rIns="0" bIns="0" rtlCol="0" anchor="t"/>
          <a:lstStyle/>
          <a:p>
            <a:pPr indent="0" marL="0">
              <a:buNone/>
            </a:pPr>
            <a:r>
              <a:rPr lang="en-US" sz="1500" dirty="0">
                <a:solidFill>
                  <a:schemeClr val="tx2"/>
                </a:solidFill>
              </a:rPr>
              <a:t>No ROS, AVLite or Python install needed on your laptop.</a:t>
            </a:r>
            <a:endParaRPr lang="en-US" sz="1500" dirty="0"/>
          </a:p>
        </p:txBody>
      </p:sp>
      <p:sp>
        <p:nvSpPr>
          <p:cNvPr id="29" name="card-435"/>
          <p:cNvSpPr/>
          <p:nvPr/>
        </p:nvSpPr>
        <p:spPr>
          <a:xfrm>
            <a:off x="4337304" y="3886200"/>
            <a:ext cx="3514344" cy="2103120"/>
          </a:xfrm>
          <a:prstGeom prst="roundRect">
            <a:avLst>
              <a:gd name="adj" fmla="val 3478"/>
            </a:avLst>
          </a:prstGeom>
          <a:solidFill>
            <a:schemeClr val="bg1"/>
          </a:solidFill>
          <a:ln/>
          <a:effectLst>
            <a:outerShdw sx="100000" sy="100000" kx="0" ky="0" algn="bl" rotWithShape="0" blurRad="101600" dist="25400" dir="5400000">
              <a:srgbClr val="000000">
                <a:alpha val="12000"/>
              </a:srgbClr>
            </a:outerShdw>
          </a:effectLst>
        </p:spPr>
      </p:sp>
      <p:sp>
        <p:nvSpPr>
          <p:cNvPr id="30" name="icon-circle-436"/>
          <p:cNvSpPr/>
          <p:nvPr/>
        </p:nvSpPr>
        <p:spPr>
          <a:xfrm>
            <a:off x="4611624" y="4160520"/>
            <a:ext cx="594360" cy="594360"/>
          </a:xfrm>
          <a:prstGeom prst="ellipse">
            <a:avLst/>
          </a:prstGeom>
          <a:solidFill>
            <a:schemeClr val="accent1"/>
          </a:solidFill>
          <a:ln/>
        </p:spPr>
      </p:sp>
      <p:pic>
        <p:nvPicPr>
          <p:cNvPr id="31" name="icon-437" descr="preencoded.png">    </p:cNvPr>
          <p:cNvPicPr>
            <a:picLocks noChangeAspect="1"/>
          </p:cNvPicPr>
          <p:nvPr/>
        </p:nvPicPr>
        <p:blipFill>
          <a:blip r:embed="rId2"/>
          <a:stretch>
            <a:fillRect/>
          </a:stretch>
        </p:blipFill>
        <p:spPr>
          <a:xfrm>
            <a:off x="4760214" y="4309110"/>
            <a:ext cx="297180" cy="297180"/>
          </a:xfrm>
          <a:prstGeom prst="rect">
            <a:avLst/>
          </a:prstGeom>
        </p:spPr>
      </p:pic>
      <p:sp>
        <p:nvSpPr>
          <p:cNvPr id="32" name="text-438"/>
          <p:cNvSpPr txBox="1"/>
          <p:nvPr/>
        </p:nvSpPr>
        <p:spPr>
          <a:xfrm>
            <a:off x="5388864" y="4233672"/>
            <a:ext cx="2234184" cy="457200"/>
          </a:xfrm>
          <a:prstGeom prst="rect">
            <a:avLst/>
          </a:prstGeom>
          <a:noFill/>
          <a:ln/>
        </p:spPr>
        <p:txBody>
          <a:bodyPr wrap="square" lIns="0" tIns="0" rIns="0" bIns="0" rtlCol="0" anchor="t"/>
          <a:lstStyle/>
          <a:p>
            <a:pPr indent="0" marL="0">
              <a:buNone/>
            </a:pPr>
            <a:r>
              <a:rPr lang="en-US" sz="1700" b="1" dirty="0">
                <a:solidFill>
                  <a:schemeClr val="tx1"/>
                </a:solidFill>
              </a:rPr>
              <a:t>Live code reload</a:t>
            </a:r>
            <a:endParaRPr lang="en-US" sz="1700" dirty="0"/>
          </a:p>
        </p:txBody>
      </p:sp>
      <p:sp>
        <p:nvSpPr>
          <p:cNvPr id="33" name="text-439"/>
          <p:cNvSpPr txBox="1"/>
          <p:nvPr/>
        </p:nvSpPr>
        <p:spPr>
          <a:xfrm>
            <a:off x="4611624" y="4937760"/>
            <a:ext cx="2965704" cy="914400"/>
          </a:xfrm>
          <a:prstGeom prst="rect">
            <a:avLst/>
          </a:prstGeom>
          <a:noFill/>
          <a:ln/>
        </p:spPr>
        <p:txBody>
          <a:bodyPr wrap="square" lIns="0" tIns="0" rIns="0" bIns="0" rtlCol="0" anchor="t"/>
          <a:lstStyle/>
          <a:p>
            <a:pPr indent="0" marL="0">
              <a:buNone/>
            </a:pPr>
            <a:r>
              <a:rPr lang="en-US" sz="1500" dirty="0">
                <a:solidFill>
                  <a:schemeClr val="tx2"/>
                </a:solidFill>
              </a:rPr>
              <a:t>Source files are mounted live: save, then restart. No image rebuild.</a:t>
            </a:r>
            <a:endParaRPr lang="en-US" sz="1500" dirty="0"/>
          </a:p>
        </p:txBody>
      </p:sp>
      <p:sp>
        <p:nvSpPr>
          <p:cNvPr id="34" name="card-440"/>
          <p:cNvSpPr/>
          <p:nvPr/>
        </p:nvSpPr>
        <p:spPr>
          <a:xfrm>
            <a:off x="8125968" y="3886200"/>
            <a:ext cx="3514344" cy="2103120"/>
          </a:xfrm>
          <a:prstGeom prst="roundRect">
            <a:avLst>
              <a:gd name="adj" fmla="val 3478"/>
            </a:avLst>
          </a:prstGeom>
          <a:solidFill>
            <a:schemeClr val="bg1"/>
          </a:solidFill>
          <a:ln/>
          <a:effectLst>
            <a:outerShdw sx="100000" sy="100000" kx="0" ky="0" algn="bl" rotWithShape="0" blurRad="101600" dist="25400" dir="5400000">
              <a:srgbClr val="000000">
                <a:alpha val="12000"/>
              </a:srgbClr>
            </a:outerShdw>
          </a:effectLst>
        </p:spPr>
      </p:sp>
      <p:sp>
        <p:nvSpPr>
          <p:cNvPr id="35" name="icon-circle-441"/>
          <p:cNvSpPr/>
          <p:nvPr/>
        </p:nvSpPr>
        <p:spPr>
          <a:xfrm>
            <a:off x="8400288" y="4160520"/>
            <a:ext cx="594360" cy="594360"/>
          </a:xfrm>
          <a:prstGeom prst="ellipse">
            <a:avLst/>
          </a:prstGeom>
          <a:solidFill>
            <a:schemeClr val="accent1"/>
          </a:solidFill>
          <a:ln/>
        </p:spPr>
      </p:sp>
      <p:pic>
        <p:nvPicPr>
          <p:cNvPr id="36" name="icon-442" descr="preencoded.png">    </p:cNvPr>
          <p:cNvPicPr>
            <a:picLocks noChangeAspect="1"/>
          </p:cNvPicPr>
          <p:nvPr/>
        </p:nvPicPr>
        <p:blipFill>
          <a:blip r:embed="rId3"/>
          <a:stretch>
            <a:fillRect/>
          </a:stretch>
        </p:blipFill>
        <p:spPr>
          <a:xfrm>
            <a:off x="8548878" y="4309110"/>
            <a:ext cx="297180" cy="297180"/>
          </a:xfrm>
          <a:prstGeom prst="rect">
            <a:avLst/>
          </a:prstGeom>
        </p:spPr>
      </p:pic>
      <p:sp>
        <p:nvSpPr>
          <p:cNvPr id="37" name="text-443"/>
          <p:cNvSpPr txBox="1"/>
          <p:nvPr/>
        </p:nvSpPr>
        <p:spPr>
          <a:xfrm>
            <a:off x="9177528" y="4233672"/>
            <a:ext cx="2234184" cy="457200"/>
          </a:xfrm>
          <a:prstGeom prst="rect">
            <a:avLst/>
          </a:prstGeom>
          <a:noFill/>
          <a:ln/>
        </p:spPr>
        <p:txBody>
          <a:bodyPr wrap="square" lIns="0" tIns="0" rIns="0" bIns="0" rtlCol="0" anchor="t"/>
          <a:lstStyle/>
          <a:p>
            <a:pPr indent="0" marL="0">
              <a:buNone/>
            </a:pPr>
            <a:r>
              <a:rPr lang="en-US" sz="1700" b="1" dirty="0">
                <a:solidFill>
                  <a:schemeClr val="tx1"/>
                </a:solidFill>
              </a:rPr>
              <a:t>One bridge per port</a:t>
            </a:r>
            <a:endParaRPr lang="en-US" sz="1700" dirty="0"/>
          </a:p>
        </p:txBody>
      </p:sp>
      <p:sp>
        <p:nvSpPr>
          <p:cNvPr id="38" name="text-444"/>
          <p:cNvSpPr txBox="1"/>
          <p:nvPr/>
        </p:nvSpPr>
        <p:spPr>
          <a:xfrm>
            <a:off x="8400288" y="4937760"/>
            <a:ext cx="2965704" cy="914400"/>
          </a:xfrm>
          <a:prstGeom prst="rect">
            <a:avLst/>
          </a:prstGeom>
          <a:noFill/>
          <a:ln/>
        </p:spPr>
        <p:txBody>
          <a:bodyPr wrap="square" lIns="0" tIns="0" rIns="0" bIns="0" rtlCol="0" anchor="t"/>
          <a:lstStyle/>
          <a:p>
            <a:pPr indent="0" marL="0">
              <a:buNone/>
            </a:pPr>
            <a:r>
              <a:rPr lang="en-US" sz="1500" dirty="0">
                <a:solidFill>
                  <a:schemeClr val="tx2"/>
                </a:solidFill>
              </a:rPr>
              <a:t>Only one simulator bridge can own port 4567. Stop other projects first.</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Start the workshop</a:t>
            </a:r>
            <a:endParaRPr lang="en-US" sz="3600" dirty="0"/>
          </a:p>
        </p:txBody>
      </p:sp>
      <p:sp>
        <p:nvSpPr>
          <p:cNvPr id="3" name="badge-445"/>
          <p:cNvSpPr/>
          <p:nvPr/>
        </p:nvSpPr>
        <p:spPr>
          <a:xfrm>
            <a:off x="548640" y="1508760"/>
            <a:ext cx="502920" cy="50292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4" name="text-446"/>
          <p:cNvSpPr txBox="1"/>
          <p:nvPr/>
        </p:nvSpPr>
        <p:spPr>
          <a:xfrm>
            <a:off x="1280160" y="1508760"/>
            <a:ext cx="3657600" cy="365760"/>
          </a:xfrm>
          <a:prstGeom prst="rect">
            <a:avLst/>
          </a:prstGeom>
          <a:noFill/>
          <a:ln/>
        </p:spPr>
        <p:txBody>
          <a:bodyPr wrap="square" lIns="0" tIns="0" rIns="0" bIns="0" rtlCol="0" anchor="t"/>
          <a:lstStyle/>
          <a:p>
            <a:pPr indent="0" marL="0">
              <a:buNone/>
            </a:pPr>
            <a:r>
              <a:rPr lang="en-US" sz="1700" b="1" dirty="0">
                <a:solidFill>
                  <a:schemeClr val="tx1"/>
                </a:solidFill>
              </a:rPr>
              <a:t>Install Docker Desktop</a:t>
            </a:r>
            <a:endParaRPr lang="en-US" sz="1700" dirty="0"/>
          </a:p>
        </p:txBody>
      </p:sp>
      <p:sp>
        <p:nvSpPr>
          <p:cNvPr id="5" name="text-447"/>
          <p:cNvSpPr txBox="1"/>
          <p:nvPr/>
        </p:nvSpPr>
        <p:spPr>
          <a:xfrm>
            <a:off x="1280160" y="1892808"/>
            <a:ext cx="3657600" cy="685800"/>
          </a:xfrm>
          <a:prstGeom prst="rect">
            <a:avLst/>
          </a:prstGeom>
          <a:noFill/>
          <a:ln/>
        </p:spPr>
        <p:txBody>
          <a:bodyPr wrap="square" lIns="0" tIns="0" rIns="0" bIns="0" rtlCol="0" anchor="t"/>
          <a:lstStyle/>
          <a:p>
            <a:pPr indent="0" marL="0">
              <a:buNone/>
            </a:pPr>
            <a:r>
              <a:rPr lang="en-US" sz="1400" dirty="0">
                <a:solidFill>
                  <a:schemeClr val="tx2"/>
                </a:solidFill>
              </a:rPr>
              <a:t>Linux containers. The first start needs Internet to download the simulator and API image.</a:t>
            </a:r>
            <a:endParaRPr lang="en-US" sz="1400" dirty="0"/>
          </a:p>
        </p:txBody>
      </p:sp>
      <p:sp>
        <p:nvSpPr>
          <p:cNvPr id="6" name="badge-448"/>
          <p:cNvSpPr/>
          <p:nvPr/>
        </p:nvSpPr>
        <p:spPr>
          <a:xfrm>
            <a:off x="548640" y="2651760"/>
            <a:ext cx="502920" cy="50292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7" name="text-449"/>
          <p:cNvSpPr txBox="1"/>
          <p:nvPr/>
        </p:nvSpPr>
        <p:spPr>
          <a:xfrm>
            <a:off x="1280160" y="2651760"/>
            <a:ext cx="3657600" cy="365760"/>
          </a:xfrm>
          <a:prstGeom prst="rect">
            <a:avLst/>
          </a:prstGeom>
          <a:noFill/>
          <a:ln/>
        </p:spPr>
        <p:txBody>
          <a:bodyPr wrap="square" lIns="0" tIns="0" rIns="0" bIns="0" rtlCol="0" anchor="t"/>
          <a:lstStyle/>
          <a:p>
            <a:pPr indent="0" marL="0">
              <a:buNone/>
            </a:pPr>
            <a:r>
              <a:rPr lang="en-US" sz="1700" b="1" dirty="0">
                <a:solidFill>
                  <a:schemeClr val="tx1"/>
                </a:solidFill>
              </a:rPr>
              <a:t>Open a terminal in this folder</a:t>
            </a:r>
            <a:endParaRPr lang="en-US" sz="1700" dirty="0"/>
          </a:p>
        </p:txBody>
      </p:sp>
      <p:sp>
        <p:nvSpPr>
          <p:cNvPr id="8" name="text-450"/>
          <p:cNvSpPr txBox="1"/>
          <p:nvPr/>
        </p:nvSpPr>
        <p:spPr>
          <a:xfrm>
            <a:off x="1280160" y="3035808"/>
            <a:ext cx="3657600" cy="685800"/>
          </a:xfrm>
          <a:prstGeom prst="rect">
            <a:avLst/>
          </a:prstGeom>
          <a:noFill/>
          <a:ln/>
        </p:spPr>
        <p:txBody>
          <a:bodyPr wrap="square" lIns="0" tIns="0" rIns="0" bIns="0" rtlCol="0" anchor="t"/>
          <a:lstStyle/>
          <a:p>
            <a:pPr indent="0" marL="0">
              <a:buNone/>
            </a:pPr>
            <a:r>
              <a:rPr lang="en-US" sz="1400" dirty="0">
                <a:solidFill>
                  <a:schemeClr val="tx2"/>
                </a:solidFill>
              </a:rPr>
              <a:t>PowerShell on Windows, Terminal on macOS.</a:t>
            </a:r>
            <a:endParaRPr lang="en-US" sz="1400" dirty="0"/>
          </a:p>
        </p:txBody>
      </p:sp>
      <p:sp>
        <p:nvSpPr>
          <p:cNvPr id="9" name="badge-451"/>
          <p:cNvSpPr/>
          <p:nvPr/>
        </p:nvSpPr>
        <p:spPr>
          <a:xfrm>
            <a:off x="548640" y="3794760"/>
            <a:ext cx="502920" cy="50292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0" name="text-452"/>
          <p:cNvSpPr txBox="1"/>
          <p:nvPr/>
        </p:nvSpPr>
        <p:spPr>
          <a:xfrm>
            <a:off x="1280160" y="3794760"/>
            <a:ext cx="3657600" cy="365760"/>
          </a:xfrm>
          <a:prstGeom prst="rect">
            <a:avLst/>
          </a:prstGeom>
          <a:noFill/>
          <a:ln/>
        </p:spPr>
        <p:txBody>
          <a:bodyPr wrap="square" lIns="0" tIns="0" rIns="0" bIns="0" rtlCol="0" anchor="t"/>
          <a:lstStyle/>
          <a:p>
            <a:pPr indent="0" marL="0">
              <a:buNone/>
            </a:pPr>
            <a:r>
              <a:rPr lang="en-US" sz="1700" b="1" dirty="0">
                <a:solidFill>
                  <a:schemeClr val="tx1"/>
                </a:solidFill>
              </a:rPr>
              <a:t>Run the start command</a:t>
            </a:r>
            <a:endParaRPr lang="en-US" sz="1700" dirty="0"/>
          </a:p>
        </p:txBody>
      </p:sp>
      <p:sp>
        <p:nvSpPr>
          <p:cNvPr id="11" name="text-453"/>
          <p:cNvSpPr txBox="1"/>
          <p:nvPr/>
        </p:nvSpPr>
        <p:spPr>
          <a:xfrm>
            <a:off x="1280160" y="4178808"/>
            <a:ext cx="3657600" cy="685800"/>
          </a:xfrm>
          <a:prstGeom prst="rect">
            <a:avLst/>
          </a:prstGeom>
          <a:noFill/>
          <a:ln/>
        </p:spPr>
        <p:txBody>
          <a:bodyPr wrap="square" lIns="0" tIns="0" rIns="0" bIns="0" rtlCol="0" anchor="t"/>
          <a:lstStyle/>
          <a:p>
            <a:pPr indent="0" marL="0">
              <a:buNone/>
            </a:pPr>
            <a:r>
              <a:rPr lang="en-US" sz="1400" dirty="0">
                <a:solidFill>
                  <a:schemeClr val="tx2"/>
                </a:solidFill>
              </a:rPr>
              <a:t>Downloads on first run, then launches the simulator and containers.</a:t>
            </a:r>
            <a:endParaRPr lang="en-US" sz="1400" dirty="0"/>
          </a:p>
        </p:txBody>
      </p:sp>
      <p:sp>
        <p:nvSpPr>
          <p:cNvPr id="12" name="badge-454"/>
          <p:cNvSpPr/>
          <p:nvPr/>
        </p:nvSpPr>
        <p:spPr>
          <a:xfrm>
            <a:off x="548640" y="4937760"/>
            <a:ext cx="502920" cy="50292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13" name="text-455"/>
          <p:cNvSpPr txBox="1"/>
          <p:nvPr/>
        </p:nvSpPr>
        <p:spPr>
          <a:xfrm>
            <a:off x="1280160" y="4937760"/>
            <a:ext cx="3657600" cy="365760"/>
          </a:xfrm>
          <a:prstGeom prst="rect">
            <a:avLst/>
          </a:prstGeom>
          <a:noFill/>
          <a:ln/>
        </p:spPr>
        <p:txBody>
          <a:bodyPr wrap="square" lIns="0" tIns="0" rIns="0" bIns="0" rtlCol="0" anchor="t"/>
          <a:lstStyle/>
          <a:p>
            <a:pPr indent="0" marL="0">
              <a:buNone/>
            </a:pPr>
            <a:r>
              <a:rPr lang="en-US" sz="1700" b="1" dirty="0">
                <a:solidFill>
                  <a:schemeClr val="tx1"/>
                </a:solidFill>
              </a:rPr>
              <a:t>Choose Connection + Autonomous</a:t>
            </a:r>
            <a:endParaRPr lang="en-US" sz="1700" dirty="0"/>
          </a:p>
        </p:txBody>
      </p:sp>
      <p:sp>
        <p:nvSpPr>
          <p:cNvPr id="14" name="text-456"/>
          <p:cNvSpPr txBox="1"/>
          <p:nvPr/>
        </p:nvSpPr>
        <p:spPr>
          <a:xfrm>
            <a:off x="1280160" y="5321808"/>
            <a:ext cx="3657600" cy="685800"/>
          </a:xfrm>
          <a:prstGeom prst="rect">
            <a:avLst/>
          </a:prstGeom>
          <a:noFill/>
          <a:ln/>
        </p:spPr>
        <p:txBody>
          <a:bodyPr wrap="square" lIns="0" tIns="0" rIns="0" bIns="0" rtlCol="0" anchor="t"/>
          <a:lstStyle/>
          <a:p>
            <a:pPr indent="0" marL="0">
              <a:buNone/>
            </a:pPr>
            <a:r>
              <a:rPr lang="en-US" sz="1400" dirty="0">
                <a:solidFill>
                  <a:schemeClr val="tx2"/>
                </a:solidFill>
              </a:rPr>
              <a:t>In the simulator connect to 127.0.0.1:4567 and switch to Autonomous mode.</a:t>
            </a:r>
            <a:endParaRPr lang="en-US" sz="1400" dirty="0"/>
          </a:p>
        </p:txBody>
      </p:sp>
      <p:sp>
        <p:nvSpPr>
          <p:cNvPr id="15" name="code-panel-457"/>
          <p:cNvSpPr/>
          <p:nvPr/>
        </p:nvSpPr>
        <p:spPr>
          <a:xfrm>
            <a:off x="5394960" y="1463040"/>
            <a:ext cx="6245352" cy="2103120"/>
          </a:xfrm>
          <a:prstGeom prst="roundRect">
            <a:avLst>
              <a:gd name="adj" fmla="val 3478"/>
            </a:avLst>
          </a:prstGeom>
          <a:solidFill>
            <a:schemeClr val="tx1"/>
          </a:solidFill>
          <a:ln/>
          <a:effectLst>
            <a:outerShdw sx="100000" sy="100000" kx="0" ky="0" algn="bl" rotWithShape="0" blurRad="101600" dist="25400" dir="5400000">
              <a:srgbClr val="000000">
                <a:alpha val="12000"/>
              </a:srgbClr>
            </a:outerShdw>
          </a:effectLst>
        </p:spPr>
      </p:sp>
      <p:sp>
        <p:nvSpPr>
          <p:cNvPr id="16" name="text-458"/>
          <p:cNvSpPr txBox="1"/>
          <p:nvPr/>
        </p:nvSpPr>
        <p:spPr>
          <a:xfrm>
            <a:off x="5669280" y="1645920"/>
            <a:ext cx="5696712"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WINDOWS · POWERSHELL</a:t>
            </a:r>
            <a:endParaRPr lang="en-US" sz="1200" dirty="0"/>
          </a:p>
        </p:txBody>
      </p:sp>
      <p:sp>
        <p:nvSpPr>
          <p:cNvPr id="17" name="text-459"/>
          <p:cNvSpPr txBox="1"/>
          <p:nvPr/>
        </p:nvSpPr>
        <p:spPr>
          <a:xfrm>
            <a:off x="5669280" y="2011680"/>
            <a:ext cx="5696712" cy="1371600"/>
          </a:xfrm>
          <a:prstGeom prst="rect">
            <a:avLst/>
          </a:prstGeom>
          <a:noFill/>
          <a:ln/>
        </p:spPr>
        <p:txBody>
          <a:bodyPr wrap="square" lIns="0" tIns="0" rIns="0" bIns="0" rtlCol="0" anchor="t"/>
          <a:lstStyle/>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.\workshop.ps1 start</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chemeClr val="accent6"/>
                </a:solidFill>
                <a:latin typeface="Courier New" pitchFamily="34" charset="0"/>
                <a:ea typeface="Courier New" pitchFamily="34" charset="-122"/>
                <a:cs typeface="Courier New" pitchFamily="34" charset="-120"/>
              </a:rPr>
              <a:t># If Windows blocks the script:</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Set-ExecutionPolicy -Scope Process -ExecutionPolicy Bypass</a:t>
            </a:r>
            <a:endParaRPr lang="en-US" sz="1200" dirty="0"/>
          </a:p>
        </p:txBody>
      </p:sp>
      <p:sp>
        <p:nvSpPr>
          <p:cNvPr id="18" name="code-panel-460"/>
          <p:cNvSpPr/>
          <p:nvPr/>
        </p:nvSpPr>
        <p:spPr>
          <a:xfrm>
            <a:off x="5394960" y="3840480"/>
            <a:ext cx="6245352" cy="2103120"/>
          </a:xfrm>
          <a:prstGeom prst="roundRect">
            <a:avLst>
              <a:gd name="adj" fmla="val 3478"/>
            </a:avLst>
          </a:prstGeom>
          <a:solidFill>
            <a:schemeClr val="tx1"/>
          </a:solidFill>
          <a:ln/>
          <a:effectLst>
            <a:outerShdw sx="100000" sy="100000" kx="0" ky="0" algn="bl" rotWithShape="0" blurRad="101600" dist="25400" dir="5400000">
              <a:srgbClr val="000000">
                <a:alpha val="12000"/>
              </a:srgbClr>
            </a:outerShdw>
          </a:effectLst>
        </p:spPr>
      </p:sp>
      <p:sp>
        <p:nvSpPr>
          <p:cNvPr id="19" name="text-461"/>
          <p:cNvSpPr txBox="1"/>
          <p:nvPr/>
        </p:nvSpPr>
        <p:spPr>
          <a:xfrm>
            <a:off x="5669280" y="4023360"/>
            <a:ext cx="5696712"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MACOS · TERMINAL</a:t>
            </a:r>
            <a:endParaRPr lang="en-US" sz="1200" dirty="0"/>
          </a:p>
        </p:txBody>
      </p:sp>
      <p:sp>
        <p:nvSpPr>
          <p:cNvPr id="20" name="text-462"/>
          <p:cNvSpPr txBox="1"/>
          <p:nvPr/>
        </p:nvSpPr>
        <p:spPr>
          <a:xfrm>
            <a:off x="5669280" y="4389120"/>
            <a:ext cx="5696712" cy="1371600"/>
          </a:xfrm>
          <a:prstGeom prst="rect">
            <a:avLst/>
          </a:prstGeom>
          <a:noFill/>
          <a:ln/>
        </p:spPr>
        <p:txBody>
          <a:bodyPr wrap="square" lIns="0" tIns="0" rIns="0" bIns="0" rtlCol="0" anchor="t"/>
          <a:lstStyle/>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./workshop.sh start</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chemeClr val="accent6"/>
                </a:solidFill>
                <a:latin typeface="Courier New" pitchFamily="34" charset="0"/>
                <a:ea typeface="Courier New" pitchFamily="34" charset="-122"/>
                <a:cs typeface="Courier New" pitchFamily="34" charset="-120"/>
              </a:rPr>
              <a:t># Apple silicon: enable Rosetta in Docker Desktop</a:t>
            </a:r>
            <a:endParaRPr lang="en-US" sz="1200" dirty="0"/>
          </a:p>
          <a:p>
            <a:pPr indent="0" marL="0">
              <a:lnSpc>
                <a:spcPct val="110000"/>
              </a:lnSpc>
              <a:buNone/>
            </a:pPr>
            <a:r>
              <a:rPr lang="en-US" sz="1200" dirty="0">
                <a:solidFill>
                  <a:schemeClr val="accent6"/>
                </a:solidFill>
                <a:latin typeface="Courier New" pitchFamily="34" charset="0"/>
                <a:ea typeface="Courier New" pitchFamily="34" charset="-122"/>
                <a:cs typeface="Courier New" pitchFamily="34" charset="-120"/>
              </a:rPr>
              <a:t># App blocked? Right-click it, choose Open</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Launcher cheat sheet</a:t>
            </a:r>
            <a:endParaRPr lang="en-US" sz="3600" dirty="0"/>
          </a:p>
        </p:txBody>
      </p:sp>
      <p:graphicFrame>
        <p:nvGraphicFramePr>
          <p:cNvPr id="19" name="cheat-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371600"/>
                <a:gridCol w="4114800"/>
                <a:gridCol w="3383280"/>
                <a:gridCol w="2221992"/>
              </a:tblGrid>
              <a:tr h="457200">
                <a:tc>
                  <a:txBody>
                    <a:bodyPr/>
                    <a:lstStyle/>
                    <a:p>
                      <a:pPr indent="0" marL="0">
                        <a:buNone/>
                      </a:pPr>
                      <a:r>
                        <a:rPr lang="en-US" sz="1400" b="1" dirty="0">
                          <a:solidFill>
                            <a:schemeClr val="bg1"/>
                          </a:solidFill>
                        </a:rPr>
                        <a:t>Goal</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Windows</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macOS</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it does</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tx1"/>
                    </a:solidFill>
                  </a:tcPr>
                </a:tc>
              </a:tr>
              <a:tr h="457200">
                <a:tc>
                  <a:txBody>
                    <a:bodyPr/>
                    <a:lstStyle/>
                    <a:p>
                      <a:pPr indent="0" marL="0">
                        <a:buNone/>
                      </a:pPr>
                      <a:r>
                        <a:rPr lang="en-US" sz="1400" b="1" dirty="0">
                          <a:solidFill>
                            <a:schemeClr val="tx2"/>
                          </a:solidFill>
                        </a:rPr>
                        <a:t>Start</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.\workshop.ps1 start</a:t>
                      </a:r>
                      <a:endParaRPr lang="en-US" sz="1200" dirty="0">
                        <a:latin typeface="Courier New" charset="0"/>
                        <a:ea typeface="Courier New" charset="0"/>
                        <a:cs typeface="Courier New" charset="0"/>
                      </a:endParaRPr>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./workshop.sh start</a:t>
                      </a:r>
                      <a:endParaRPr lang="en-US" sz="1200" dirty="0">
                        <a:latin typeface="Courier New" charset="0"/>
                        <a:ea typeface="Courier New" charset="0"/>
                        <a:cs typeface="Courier New" charset="0"/>
                      </a:endParaRPr>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Launch sim + containers</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Reload code</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.\workshop.ps1 restart -Controller starter</a:t>
                      </a:r>
                      <a:endParaRPr lang="en-US" sz="1200" dirty="0">
                        <a:latin typeface="Courier New" charset="0"/>
                        <a:ea typeface="Courier New" charset="0"/>
                        <a:cs typeface="Courier New" charset="0"/>
                      </a:endParaRPr>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./workshop.sh restart -c starter</a:t>
                      </a:r>
                      <a:endParaRPr lang="en-US" sz="1200" dirty="0">
                        <a:latin typeface="Courier New" charset="0"/>
                        <a:ea typeface="Courier New" charset="0"/>
                        <a:cs typeface="Courier New" charset="0"/>
                      </a:endParaRPr>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Reload your saved code</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Try example</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.\workshop.ps1 restart -Controller example</a:t>
                      </a:r>
                      <a:endParaRPr lang="en-US" sz="1200" dirty="0">
                        <a:latin typeface="Courier New" charset="0"/>
                        <a:ea typeface="Courier New" charset="0"/>
                        <a:cs typeface="Courier New" charset="0"/>
                      </a:endParaRPr>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./workshop.sh restart -c example</a:t>
                      </a:r>
                      <a:endParaRPr lang="en-US" sz="1200" dirty="0">
                        <a:latin typeface="Courier New" charset="0"/>
                        <a:ea typeface="Courier New" charset="0"/>
                        <a:cs typeface="Courier New" charset="0"/>
                      </a:endParaRPr>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Run Follow the Gap demo</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Pause</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.\workshop.ps1 pause</a:t>
                      </a:r>
                      <a:endParaRPr lang="en-US" sz="1200" dirty="0">
                        <a:latin typeface="Courier New" charset="0"/>
                        <a:ea typeface="Courier New" charset="0"/>
                        <a:cs typeface="Courier New" charset="0"/>
                      </a:endParaRPr>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./workshop.sh pause</a:t>
                      </a:r>
                      <a:endParaRPr lang="en-US" sz="1200" dirty="0">
                        <a:latin typeface="Courier New" charset="0"/>
                        <a:ea typeface="Courier New" charset="0"/>
                        <a:cs typeface="Courier New" charset="0"/>
                      </a:endParaRPr>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Stop driving, keep sim open</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Logs</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.\workshop.ps1 logs -Follow</a:t>
                      </a:r>
                      <a:endParaRPr lang="en-US" sz="1200" dirty="0">
                        <a:latin typeface="Courier New" charset="0"/>
                        <a:ea typeface="Courier New" charset="0"/>
                        <a:cs typeface="Courier New" charset="0"/>
                      </a:endParaRPr>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./workshop.sh logs -f</a:t>
                      </a:r>
                      <a:endParaRPr lang="en-US" sz="1200" dirty="0">
                        <a:latin typeface="Courier New" charset="0"/>
                        <a:ea typeface="Courier New" charset="0"/>
                        <a:cs typeface="Courier New" charset="0"/>
                      </a:endParaRPr>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See errors and messages</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Status</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.\workshop.ps1 status</a:t>
                      </a:r>
                      <a:endParaRPr lang="en-US" sz="1200" dirty="0">
                        <a:latin typeface="Courier New" charset="0"/>
                        <a:ea typeface="Courier New" charset="0"/>
                        <a:cs typeface="Courier New" charset="0"/>
                      </a:endParaRPr>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./workshop.sh status</a:t>
                      </a:r>
                      <a:endParaRPr lang="en-US" sz="1200" dirty="0">
                        <a:latin typeface="Courier New" charset="0"/>
                        <a:ea typeface="Courier New" charset="0"/>
                        <a:cs typeface="Courier New" charset="0"/>
                      </a:endParaRPr>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Show container state</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Test</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.\workshop.ps1 test</a:t>
                      </a:r>
                      <a:endParaRPr lang="en-US" sz="1200" dirty="0">
                        <a:latin typeface="Courier New" charset="0"/>
                        <a:ea typeface="Courier New" charset="0"/>
                        <a:cs typeface="Courier New" charset="0"/>
                      </a:endParaRPr>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./workshop.sh test</a:t>
                      </a:r>
                      <a:endParaRPr lang="en-US" sz="1200" dirty="0">
                        <a:latin typeface="Courier New" charset="0"/>
                        <a:ea typeface="Courier New" charset="0"/>
                        <a:cs typeface="Courier New" charset="0"/>
                      </a:endParaRPr>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Python checks, no driving</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Stop</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.\workshop.ps1 stop</a:t>
                      </a:r>
                      <a:endParaRPr lang="en-US" sz="1200" dirty="0">
                        <a:latin typeface="Courier New" charset="0"/>
                        <a:ea typeface="Courier New" charset="0"/>
                        <a:cs typeface="Courier New" charset="0"/>
                      </a:endParaRPr>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./workshop.sh stop</a:t>
                      </a:r>
                      <a:endParaRPr lang="en-US" sz="1200" dirty="0">
                        <a:latin typeface="Courier New" charset="0"/>
                        <a:ea typeface="Courier New" charset="0"/>
                        <a:cs typeface="Courier New" charset="0"/>
                      </a:endParaRPr>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Close sim, keep downloads</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r>
            </a:tbl>
          </a:graphicData>
        </a:graphic>
      </p:graphicFrame>
      <p:pic>
        <p:nvPicPr>
          <p:cNvPr id="4" name="tip-icon" descr="preencoded.png">    </p:cNvPr>
          <p:cNvPicPr>
            <a:picLocks noChangeAspect="1"/>
          </p:cNvPicPr>
          <p:nvPr/>
        </p:nvPicPr>
        <p:blipFill>
          <a:blip r:embed="rId1"/>
          <a:stretch>
            <a:fillRect/>
          </a:stretch>
        </p:blipFill>
        <p:spPr>
          <a:xfrm>
            <a:off x="548640" y="5788152"/>
            <a:ext cx="292608" cy="292608"/>
          </a:xfrm>
          <a:prstGeom prst="rect">
            <a:avLst/>
          </a:prstGeom>
        </p:spPr>
      </p:pic>
      <p:sp>
        <p:nvSpPr>
          <p:cNvPr id="5" name="text-463"/>
          <p:cNvSpPr txBox="1"/>
          <p:nvPr/>
        </p:nvSpPr>
        <p:spPr>
          <a:xfrm>
            <a:off x="960120" y="5760720"/>
            <a:ext cx="10058400" cy="365760"/>
          </a:xfrm>
          <a:prstGeom prst="rect">
            <a:avLst/>
          </a:prstGeom>
          <a:noFill/>
          <a:ln/>
        </p:spPr>
        <p:txBody>
          <a:bodyPr wrap="square" lIns="0" tIns="0" rIns="0" bIns="0" rtlCol="0" anchor="ctr"/>
          <a:lstStyle/>
          <a:p>
            <a:pPr indent="0" marL="0">
              <a:buNone/>
            </a:pPr>
            <a:r>
              <a:rPr lang="en-US" sz="1500" b="1" dirty="0">
                <a:solidFill>
                  <a:schemeClr val="tx1"/>
                </a:solidFill>
              </a:rPr>
              <a:t>Before switching controllers: pause, then reset the car in the simulator.</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464"/>
          <p:cNvSpPr txBox="1"/>
          <p:nvPr/>
        </p:nvSpPr>
        <p:spPr>
          <a:xfrm>
            <a:off x="731520" y="1417320"/>
            <a:ext cx="2743200" cy="1371600"/>
          </a:xfrm>
          <a:prstGeom prst="rect">
            <a:avLst/>
          </a:prstGeom>
          <a:noFill/>
          <a:ln/>
        </p:spPr>
        <p:txBody>
          <a:bodyPr wrap="square" lIns="0" tIns="0" rIns="0" bIns="0" rtlCol="0" anchor="b"/>
          <a:lstStyle/>
          <a:p>
            <a:pPr indent="0" marL="0">
              <a:buNone/>
            </a:pPr>
            <a:r>
              <a:rPr lang="en-US" sz="8000" b="1" dirty="0">
                <a:solidFill>
                  <a:schemeClr val="accent1"/>
                </a:solidFill>
                <a:latin typeface="Arial" pitchFamily="34" charset="0"/>
                <a:ea typeface="Arial" pitchFamily="34" charset="-122"/>
                <a:cs typeface="Arial" pitchFamily="34" charset="-120"/>
              </a:rPr>
              <a:t>03</a:t>
            </a:r>
            <a:endParaRPr lang="en-US" sz="8000" dirty="0"/>
          </a:p>
        </p:txBody>
      </p:sp>
      <p:sp>
        <p:nvSpPr>
          <p:cNvPr id="3" name="Text 0"/>
          <p:cNvSpPr/>
          <p:nvPr>
            <p:ph idx="100" type="title" hasCustomPrompt="1"/>
          </p:nvPr>
        </p:nvSpPr>
        <p:spPr>
          <a:xfrm>
            <a:off x="731520" y="2926080"/>
            <a:ext cx="7680960" cy="1005840"/>
          </a:xfrm>
          <a:prstGeom prst="rect">
            <a:avLst/>
          </a:prstGeom>
          <a:noFill/>
          <a:ln/>
        </p:spPr>
        <p:txBody>
          <a:bodyPr wrap="square" lIns="0" tIns="0" rIns="0" bIns="0" rtlCol="0" anchor="ctr"/>
          <a:lstStyle/>
          <a:p>
            <a:pPr algn="l" indent="0" marL="0">
              <a:buNone/>
            </a:pPr>
            <a:r>
              <a:rPr lang="en-US" sz="4000" b="1" dirty="0">
                <a:solidFill>
                  <a:schemeClr val="bg1"/>
                </a:solidFill>
              </a:rPr>
              <a:t>The drive() API</a:t>
            </a:r>
            <a:endParaRPr lang="en-US" sz="4000" dirty="0"/>
          </a:p>
        </p:txBody>
      </p:sp>
      <p:sp>
        <p:nvSpPr>
          <p:cNvPr id="4" name="Text 0"/>
          <p:cNvSpPr/>
          <p:nvPr>
            <p:ph idx="101" type="body" hasCustomPrompt="1"/>
          </p:nvPr>
        </p:nvSpPr>
        <p:spPr>
          <a:xfrm>
            <a:off x="731520" y="4023360"/>
            <a:ext cx="7315200" cy="914400"/>
          </a:xfrm>
          <a:prstGeom prst="rect">
            <a:avLst/>
          </a:prstGeom>
          <a:noFill/>
          <a:ln/>
        </p:spPr>
        <p:txBody>
          <a:bodyPr wrap="square" lIns="0" tIns="0" rIns="0" bIns="0" rtlCol="0" anchor="t"/>
          <a:lstStyle/>
          <a:p>
            <a:pPr algn="l" indent="0" marL="0">
              <a:buNone/>
            </a:pPr>
            <a:r>
              <a:rPr lang="en-US" sz="1800" dirty="0">
                <a:solidFill>
                  <a:schemeClr val="bg2"/>
                </a:solidFill>
              </a:rPr>
              <a:t>One function: a sensor snapshot comes in, a driving command goes out</a:t>
            </a:r>
            <a:endParaRPr lang="en-US" sz="1800" dirty="0"/>
          </a:p>
        </p:txBody>
      </p:sp>
      <p:sp>
        <p:nvSpPr>
          <p:cNvPr id="5" name="icon-circle-465"/>
          <p:cNvSpPr/>
          <p:nvPr/>
        </p:nvSpPr>
        <p:spPr>
          <a:xfrm>
            <a:off x="9052560" y="2240280"/>
            <a:ext cx="2194560" cy="2194560"/>
          </a:xfrm>
          <a:prstGeom prst="ellipse">
            <a:avLst/>
          </a:prstGeom>
          <a:solidFill>
            <a:schemeClr val="accent1"/>
          </a:solidFill>
          <a:ln/>
        </p:spPr>
      </p:sp>
      <p:pic>
        <p:nvPicPr>
          <p:cNvPr id="6" name="icon-466" descr="preencoded.png">    </p:cNvPr>
          <p:cNvPicPr>
            <a:picLocks noChangeAspect="1"/>
          </p:cNvPicPr>
          <p:nvPr/>
        </p:nvPicPr>
        <p:blipFill>
          <a:blip r:embed="rId1"/>
          <a:stretch>
            <a:fillRect/>
          </a:stretch>
        </p:blipFill>
        <p:spPr>
          <a:xfrm>
            <a:off x="9601200" y="2788920"/>
            <a:ext cx="1097280" cy="10972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one function you write</a:t>
            </a:r>
            <a:endParaRPr lang="en-US" sz="3600" dirty="0"/>
          </a:p>
        </p:txBody>
      </p:sp>
      <p:sp>
        <p:nvSpPr>
          <p:cNvPr id="3" name="code-panel-467"/>
          <p:cNvSpPr/>
          <p:nvPr/>
        </p:nvSpPr>
        <p:spPr>
          <a:xfrm>
            <a:off x="548640" y="1463040"/>
            <a:ext cx="6400800" cy="4526280"/>
          </a:xfrm>
          <a:prstGeom prst="roundRect">
            <a:avLst>
              <a:gd name="adj" fmla="val 1616"/>
            </a:avLst>
          </a:prstGeom>
          <a:solidFill>
            <a:schemeClr val="tx1"/>
          </a:solidFill>
          <a:ln/>
          <a:effectLst>
            <a:outerShdw sx="100000" sy="100000" kx="0" ky="0" algn="bl" rotWithShape="0" blurRad="101600" dist="25400" dir="5400000">
              <a:srgbClr val="000000">
                <a:alpha val="12000"/>
              </a:srgbClr>
            </a:outerShdw>
          </a:effectLst>
        </p:spPr>
      </p:sp>
      <p:sp>
        <p:nvSpPr>
          <p:cNvPr id="4" name="text-468"/>
          <p:cNvSpPr txBox="1"/>
          <p:nvPr/>
        </p:nvSpPr>
        <p:spPr>
          <a:xfrm>
            <a:off x="822960" y="1645920"/>
            <a:ext cx="585216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CONTROLLER.PY</a:t>
            </a:r>
            <a:endParaRPr lang="en-US" sz="1200" dirty="0"/>
          </a:p>
        </p:txBody>
      </p:sp>
      <p:sp>
        <p:nvSpPr>
          <p:cNvPr id="5" name="text-469"/>
          <p:cNvSpPr txBox="1"/>
          <p:nvPr/>
        </p:nvSpPr>
        <p:spPr>
          <a:xfrm>
            <a:off x="822960" y="2011680"/>
            <a:ext cx="5852160" cy="3794760"/>
          </a:xfrm>
          <a:prstGeom prst="rect">
            <a:avLst/>
          </a:prstGeom>
          <a:noFill/>
          <a:ln/>
        </p:spPr>
        <p:txBody>
          <a:bodyPr wrap="square" lIns="0" tIns="0" rIns="0" bIns="0" rtlCol="0" anchor="t"/>
          <a:lstStyle/>
          <a:p>
            <a:pPr indent="0" marL="0">
              <a:lnSpc>
                <a:spcPct val="110000"/>
              </a:lnSpc>
              <a:buNone/>
            </a:pPr>
            <a:r>
              <a:rPr lang="en-US" sz="1400" dirty="0">
                <a:solidFill>
                  <a:schemeClr val="accent2"/>
                </a:solidFill>
                <a:latin typeface="Courier New" pitchFamily="34" charset="0"/>
                <a:ea typeface="Courier New" pitchFamily="34" charset="-122"/>
                <a:cs typeface="Courier New" pitchFamily="34" charset="-120"/>
              </a:rPr>
              <a:t>from</a:t>
            </a:r>
            <a:pPr indent="0" marL="0">
              <a:lnSpc>
                <a:spcPct val="110000"/>
              </a:lnSpc>
              <a:buNone/>
            </a:pPr>
            <a:r>
              <a:rPr lang="en-US" sz="1400" dirty="0">
                <a:solidFill>
                  <a:schemeClr val="bg1"/>
                </a:solidFill>
                <a:latin typeface="Courier New" pitchFamily="34" charset="0"/>
                <a:ea typeface="Courier New" pitchFamily="34" charset="-122"/>
                <a:cs typeface="Courier New" pitchFamily="34" charset="-120"/>
              </a:rPr>
              <a:t> workshop_api </a:t>
            </a:r>
            <a:pPr indent="0" marL="0">
              <a:lnSpc>
                <a:spcPct val="110000"/>
              </a:lnSpc>
              <a:buNone/>
            </a:pPr>
            <a:r>
              <a:rPr lang="en-US" sz="1400" dirty="0">
                <a:solidFill>
                  <a:schemeClr val="accent2"/>
                </a:solidFill>
                <a:latin typeface="Courier New" pitchFamily="34" charset="0"/>
                <a:ea typeface="Courier New" pitchFamily="34" charset="-122"/>
                <a:cs typeface="Courier New" pitchFamily="34" charset="-120"/>
              </a:rPr>
              <a:t>import</a:t>
            </a:r>
            <a:pPr indent="0" marL="0">
              <a:lnSpc>
                <a:spcPct val="110000"/>
              </a:lnSpc>
              <a:buNone/>
            </a:pPr>
            <a:r>
              <a:rPr lang="en-US" sz="1400" dirty="0">
                <a:solidFill>
                  <a:schemeClr val="bg1"/>
                </a:solidFill>
                <a:latin typeface="Courier New" pitchFamily="34" charset="0"/>
                <a:ea typeface="Courier New" pitchFamily="34" charset="-122"/>
                <a:cs typeface="Courier New" pitchFamily="34" charset="-120"/>
              </a:rPr>
              <a:t> DriveCommand, Observation</a:t>
            </a:r>
            <a:endParaRPr lang="en-US" sz="1400" dirty="0"/>
          </a:p>
          <a:p>
            <a:pPr indent="0" marL="0">
              <a:lnSpc>
                <a:spcPct val="110000"/>
              </a:lnSpc>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lnSpc>
                <a:spcPct val="110000"/>
              </a:lnSpc>
              <a:buNone/>
            </a:pPr>
            <a:r>
              <a:rPr lang="en-US" sz="1400" dirty="0">
                <a:solidFill>
                  <a:schemeClr val="accent2"/>
                </a:solidFill>
                <a:latin typeface="Courier New" pitchFamily="34" charset="0"/>
                <a:ea typeface="Courier New" pitchFamily="34" charset="-122"/>
                <a:cs typeface="Courier New" pitchFamily="34" charset="-120"/>
              </a:rPr>
              <a:t>def</a:t>
            </a:r>
            <a:pPr indent="0" marL="0">
              <a:lnSpc>
                <a:spcPct val="110000"/>
              </a:lnSpc>
              <a:buNone/>
            </a:pPr>
            <a:r>
              <a:rPr lang="en-US" sz="1400" dirty="0">
                <a:solidFill>
                  <a:schemeClr val="bg1"/>
                </a:solidFill>
                <a:latin typeface="Courier New" pitchFamily="34" charset="0"/>
                <a:ea typeface="Courier New" pitchFamily="34" charset="-122"/>
                <a:cs typeface="Courier New" pitchFamily="34" charset="-120"/>
              </a:rPr>
              <a:t> drive(observation: Observation) -&gt; DriveCommand:</a:t>
            </a:r>
            <a:endParaRPr lang="en-US" sz="1400" dirty="0"/>
          </a:p>
          <a:p>
            <a:pPr indent="0" marL="0">
              <a:lnSpc>
                <a:spcPct val="110000"/>
              </a:lnSpc>
              <a:buNone/>
            </a:pPr>
            <a:r>
              <a:rPr lang="en-US" sz="1400" dirty="0">
                <a:solidFill>
                  <a:schemeClr val="bg1"/>
                </a:solidFill>
                <a:latin typeface="Courier New" pitchFamily="34" charset="0"/>
                <a:ea typeface="Courier New" pitchFamily="34" charset="-122"/>
                <a:cs typeface="Courier New" pitchFamily="34" charset="-120"/>
              </a:rPr>
              <a:t>    </a:t>
            </a:r>
            <a:pPr indent="0" marL="0">
              <a:lnSpc>
                <a:spcPct val="110000"/>
              </a:lnSpc>
              <a:buNone/>
            </a:pPr>
            <a:r>
              <a:rPr lang="en-US" sz="1400" dirty="0">
                <a:solidFill>
                  <a:schemeClr val="accent6"/>
                </a:solidFill>
                <a:latin typeface="Courier New" pitchFamily="34" charset="0"/>
                <a:ea typeface="Courier New" pitchFamily="34" charset="-122"/>
                <a:cs typeface="Courier New" pitchFamily="34" charset="-120"/>
              </a:rPr>
              <a:t># 1. Look at observation.ranges / .sector()</a:t>
            </a:r>
            <a:endParaRPr lang="en-US" sz="1400" dirty="0"/>
          </a:p>
          <a:p>
            <a:pPr indent="0" marL="0">
              <a:lnSpc>
                <a:spcPct val="110000"/>
              </a:lnSpc>
              <a:buNone/>
            </a:pPr>
            <a:r>
              <a:rPr lang="en-US" sz="1400" dirty="0">
                <a:solidFill>
                  <a:schemeClr val="bg1"/>
                </a:solidFill>
                <a:latin typeface="Courier New" pitchFamily="34" charset="0"/>
                <a:ea typeface="Courier New" pitchFamily="34" charset="-122"/>
                <a:cs typeface="Courier New" pitchFamily="34" charset="-120"/>
              </a:rPr>
              <a:t>    </a:t>
            </a:r>
            <a:pPr indent="0" marL="0">
              <a:lnSpc>
                <a:spcPct val="110000"/>
              </a:lnSpc>
              <a:buNone/>
            </a:pPr>
            <a:r>
              <a:rPr lang="en-US" sz="1400" dirty="0">
                <a:solidFill>
                  <a:schemeClr val="accent6"/>
                </a:solidFill>
                <a:latin typeface="Courier New" pitchFamily="34" charset="0"/>
                <a:ea typeface="Courier New" pitchFamily="34" charset="-122"/>
                <a:cs typeface="Courier New" pitchFamily="34" charset="-120"/>
              </a:rPr>
              <a:t># 2. Choose a steering angle from free space</a:t>
            </a:r>
            <a:endParaRPr lang="en-US" sz="1400" dirty="0"/>
          </a:p>
          <a:p>
            <a:pPr indent="0" marL="0">
              <a:lnSpc>
                <a:spcPct val="110000"/>
              </a:lnSpc>
              <a:buNone/>
            </a:pPr>
            <a:r>
              <a:rPr lang="en-US" sz="1400" dirty="0">
                <a:solidFill>
                  <a:schemeClr val="bg1"/>
                </a:solidFill>
                <a:latin typeface="Courier New" pitchFamily="34" charset="0"/>
                <a:ea typeface="Courier New" pitchFamily="34" charset="-122"/>
                <a:cs typeface="Courier New" pitchFamily="34" charset="-120"/>
              </a:rPr>
              <a:t>    </a:t>
            </a:r>
            <a:pPr indent="0" marL="0">
              <a:lnSpc>
                <a:spcPct val="110000"/>
              </a:lnSpc>
              <a:buNone/>
            </a:pPr>
            <a:r>
              <a:rPr lang="en-US" sz="1400" dirty="0">
                <a:solidFill>
                  <a:schemeClr val="accent6"/>
                </a:solidFill>
                <a:latin typeface="Courier New" pitchFamily="34" charset="0"/>
                <a:ea typeface="Courier New" pitchFamily="34" charset="-122"/>
                <a:cs typeface="Courier New" pitchFamily="34" charset="-120"/>
              </a:rPr>
              <a:t># 3. Choose a speed (slower in corners)</a:t>
            </a:r>
            <a:endParaRPr lang="en-US" sz="1400" dirty="0"/>
          </a:p>
          <a:p>
            <a:pPr indent="0" marL="0">
              <a:lnSpc>
                <a:spcPct val="110000"/>
              </a:lnSpc>
              <a:buNone/>
            </a:pPr>
            <a:r>
              <a:rPr lang="en-US" sz="1400" dirty="0">
                <a:solidFill>
                  <a:schemeClr val="bg1"/>
                </a:solidFill>
                <a:latin typeface="Courier New" pitchFamily="34" charset="0"/>
                <a:ea typeface="Courier New" pitchFamily="34" charset="-122"/>
                <a:cs typeface="Courier New" pitchFamily="34" charset="-120"/>
              </a:rPr>
              <a:t>    </a:t>
            </a:r>
            <a:pPr indent="0" marL="0">
              <a:lnSpc>
                <a:spcPct val="110000"/>
              </a:lnSpc>
              <a:buNone/>
            </a:pPr>
            <a:r>
              <a:rPr lang="en-US" sz="1400" dirty="0">
                <a:solidFill>
                  <a:schemeClr val="accent6"/>
                </a:solidFill>
                <a:latin typeface="Courier New" pitchFamily="34" charset="0"/>
                <a:ea typeface="Courier New" pitchFamily="34" charset="-122"/>
                <a:cs typeface="Courier New" pitchFamily="34" charset="-120"/>
              </a:rPr>
              <a:t># 4. Return one command, no loops or sleep</a:t>
            </a:r>
            <a:endParaRPr lang="en-US" sz="1400" dirty="0"/>
          </a:p>
          <a:p>
            <a:pPr indent="0" marL="0">
              <a:lnSpc>
                <a:spcPct val="110000"/>
              </a:lnSpc>
              <a:buNone/>
            </a:pPr>
            <a:r>
              <a:rPr lang="en-US" sz="1400" dirty="0">
                <a:solidFill>
                  <a:schemeClr val="bg1"/>
                </a:solidFill>
                <a:latin typeface="Courier New" pitchFamily="34" charset="0"/>
                <a:ea typeface="Courier New" pitchFamily="34" charset="-122"/>
                <a:cs typeface="Courier New" pitchFamily="34" charset="-120"/>
              </a:rPr>
              <a:t>    </a:t>
            </a:r>
            <a:pPr indent="0" marL="0">
              <a:lnSpc>
                <a:spcPct val="110000"/>
              </a:lnSpc>
              <a:buNone/>
            </a:pPr>
            <a:r>
              <a:rPr lang="en-US" sz="1400" dirty="0">
                <a:solidFill>
                  <a:schemeClr val="accent2"/>
                </a:solidFill>
                <a:latin typeface="Courier New" pitchFamily="34" charset="0"/>
                <a:ea typeface="Courier New" pitchFamily="34" charset="-122"/>
                <a:cs typeface="Courier New" pitchFamily="34" charset="-120"/>
              </a:rPr>
              <a:t>return</a:t>
            </a:r>
            <a:pPr indent="0" marL="0">
              <a:lnSpc>
                <a:spcPct val="110000"/>
              </a:lnSpc>
              <a:buNone/>
            </a:pPr>
            <a:r>
              <a:rPr lang="en-US" sz="1400" dirty="0">
                <a:solidFill>
                  <a:schemeClr val="bg1"/>
                </a:solidFill>
                <a:latin typeface="Courier New" pitchFamily="34" charset="0"/>
                <a:ea typeface="Courier New" pitchFamily="34" charset="-122"/>
                <a:cs typeface="Courier New" pitchFamily="34" charset="-120"/>
              </a:rPr>
              <a:t> DriveCommand(speed_mps=0.0,</a:t>
            </a:r>
            <a:endParaRPr lang="en-US" sz="1400" dirty="0"/>
          </a:p>
          <a:p>
            <a:pPr indent="0" marL="0">
              <a:lnSpc>
                <a:spcPct val="110000"/>
              </a:lnSpc>
              <a:buNone/>
            </a:pPr>
            <a:r>
              <a:rPr lang="en-US" sz="1400" dirty="0">
                <a:solidFill>
                  <a:schemeClr val="bg1"/>
                </a:solidFill>
                <a:latin typeface="Courier New" pitchFamily="34" charset="0"/>
                <a:ea typeface="Courier New" pitchFamily="34" charset="-122"/>
                <a:cs typeface="Courier New" pitchFamily="34" charset="-120"/>
              </a:rPr>
              <a:t>                        steering_rad=0.0)</a:t>
            </a:r>
            <a:endParaRPr lang="en-US" sz="1400" dirty="0"/>
          </a:p>
        </p:txBody>
      </p:sp>
      <p:sp>
        <p:nvSpPr>
          <p:cNvPr id="6" name="card-470"/>
          <p:cNvSpPr/>
          <p:nvPr/>
        </p:nvSpPr>
        <p:spPr>
          <a:xfrm>
            <a:off x="7269480" y="1463040"/>
            <a:ext cx="4370832" cy="1325880"/>
          </a:xfrm>
          <a:prstGeom prst="roundRect">
            <a:avLst>
              <a:gd name="adj" fmla="val 5517"/>
            </a:avLst>
          </a:prstGeom>
          <a:solidFill>
            <a:schemeClr val="bg1"/>
          </a:solidFill>
          <a:ln/>
          <a:effectLst>
            <a:outerShdw sx="100000" sy="100000" kx="0" ky="0" algn="bl" rotWithShape="0" blurRad="101600" dist="25400" dir="5400000">
              <a:srgbClr val="000000">
                <a:alpha val="12000"/>
              </a:srgbClr>
            </a:outerShdw>
          </a:effectLst>
        </p:spPr>
      </p:sp>
      <p:sp>
        <p:nvSpPr>
          <p:cNvPr id="7" name="icon-circle-471"/>
          <p:cNvSpPr/>
          <p:nvPr/>
        </p:nvSpPr>
        <p:spPr>
          <a:xfrm>
            <a:off x="7498080" y="1691640"/>
            <a:ext cx="548640" cy="548640"/>
          </a:xfrm>
          <a:prstGeom prst="ellipse">
            <a:avLst/>
          </a:prstGeom>
          <a:solidFill>
            <a:schemeClr val="accent1"/>
          </a:solidFill>
          <a:ln/>
        </p:spPr>
      </p:sp>
      <p:pic>
        <p:nvPicPr>
          <p:cNvPr id="8" name="icon-472" descr="preencoded.png">    </p:cNvPr>
          <p:cNvPicPr>
            <a:picLocks noChangeAspect="1"/>
          </p:cNvPicPr>
          <p:nvPr/>
        </p:nvPicPr>
        <p:blipFill>
          <a:blip r:embed="rId1"/>
          <a:stretch>
            <a:fillRect/>
          </a:stretch>
        </p:blipFill>
        <p:spPr>
          <a:xfrm>
            <a:off x="7635240" y="1828800"/>
            <a:ext cx="274320" cy="274320"/>
          </a:xfrm>
          <a:prstGeom prst="rect">
            <a:avLst/>
          </a:prstGeom>
        </p:spPr>
      </p:pic>
      <p:sp>
        <p:nvSpPr>
          <p:cNvPr id="9" name="text-473"/>
          <p:cNvSpPr txBox="1"/>
          <p:nvPr/>
        </p:nvSpPr>
        <p:spPr>
          <a:xfrm>
            <a:off x="8229600" y="1664208"/>
            <a:ext cx="3200400" cy="365760"/>
          </a:xfrm>
          <a:prstGeom prst="rect">
            <a:avLst/>
          </a:prstGeom>
          <a:noFill/>
          <a:ln/>
        </p:spPr>
        <p:txBody>
          <a:bodyPr wrap="square" lIns="0" tIns="0" rIns="0" bIns="0" rtlCol="0" anchor="t"/>
          <a:lstStyle/>
          <a:p>
            <a:pPr indent="0" marL="0">
              <a:buNone/>
            </a:pPr>
            <a:r>
              <a:rPr lang="en-US" sz="1700" b="1" dirty="0">
                <a:solidFill>
                  <a:schemeClr val="tx1"/>
                </a:solidFill>
              </a:rPr>
              <a:t>IN: Observation</a:t>
            </a:r>
            <a:endParaRPr lang="en-US" sz="1700" dirty="0"/>
          </a:p>
        </p:txBody>
      </p:sp>
      <p:sp>
        <p:nvSpPr>
          <p:cNvPr id="10" name="text-474"/>
          <p:cNvSpPr txBox="1"/>
          <p:nvPr/>
        </p:nvSpPr>
        <p:spPr>
          <a:xfrm>
            <a:off x="8229600" y="2029968"/>
            <a:ext cx="3246120" cy="685800"/>
          </a:xfrm>
          <a:prstGeom prst="rect">
            <a:avLst/>
          </a:prstGeom>
          <a:noFill/>
          <a:ln/>
        </p:spPr>
        <p:txBody>
          <a:bodyPr wrap="square" lIns="0" tIns="0" rIns="0" bIns="0" rtlCol="0" anchor="t"/>
          <a:lstStyle/>
          <a:p>
            <a:pPr indent="0" marL="0">
              <a:buNone/>
            </a:pPr>
            <a:r>
              <a:rPr lang="en-US" sz="1400" dirty="0">
                <a:solidFill>
                  <a:schemeClr val="tx2"/>
                </a:solidFill>
              </a:rPr>
              <a:t>A sensor snapshot: LiDAR ranges, measured speed, pose and dt.</a:t>
            </a:r>
            <a:endParaRPr lang="en-US" sz="1400" dirty="0"/>
          </a:p>
        </p:txBody>
      </p:sp>
      <p:sp>
        <p:nvSpPr>
          <p:cNvPr id="11" name="card-475"/>
          <p:cNvSpPr/>
          <p:nvPr/>
        </p:nvSpPr>
        <p:spPr>
          <a:xfrm>
            <a:off x="7269480" y="3063240"/>
            <a:ext cx="4370832" cy="1325880"/>
          </a:xfrm>
          <a:prstGeom prst="roundRect">
            <a:avLst>
              <a:gd name="adj" fmla="val 5517"/>
            </a:avLst>
          </a:prstGeom>
          <a:solidFill>
            <a:schemeClr val="bg1"/>
          </a:solidFill>
          <a:ln/>
          <a:effectLst>
            <a:outerShdw sx="100000" sy="100000" kx="0" ky="0" algn="bl" rotWithShape="0" blurRad="101600" dist="25400" dir="5400000">
              <a:srgbClr val="000000">
                <a:alpha val="12000"/>
              </a:srgbClr>
            </a:outerShdw>
          </a:effectLst>
        </p:spPr>
      </p:sp>
      <p:sp>
        <p:nvSpPr>
          <p:cNvPr id="12" name="icon-circle-476"/>
          <p:cNvSpPr/>
          <p:nvPr/>
        </p:nvSpPr>
        <p:spPr>
          <a:xfrm>
            <a:off x="7498080" y="3291840"/>
            <a:ext cx="548640" cy="548640"/>
          </a:xfrm>
          <a:prstGeom prst="ellipse">
            <a:avLst/>
          </a:prstGeom>
          <a:solidFill>
            <a:schemeClr val="accent1"/>
          </a:solidFill>
          <a:ln/>
        </p:spPr>
      </p:sp>
      <p:pic>
        <p:nvPicPr>
          <p:cNvPr id="13" name="icon-477" descr="preencoded.png">    </p:cNvPr>
          <p:cNvPicPr>
            <a:picLocks noChangeAspect="1"/>
          </p:cNvPicPr>
          <p:nvPr/>
        </p:nvPicPr>
        <p:blipFill>
          <a:blip r:embed="rId2"/>
          <a:stretch>
            <a:fillRect/>
          </a:stretch>
        </p:blipFill>
        <p:spPr>
          <a:xfrm>
            <a:off x="7635240" y="3429000"/>
            <a:ext cx="274320" cy="274320"/>
          </a:xfrm>
          <a:prstGeom prst="rect">
            <a:avLst/>
          </a:prstGeom>
        </p:spPr>
      </p:pic>
      <p:sp>
        <p:nvSpPr>
          <p:cNvPr id="14" name="text-478"/>
          <p:cNvSpPr txBox="1"/>
          <p:nvPr/>
        </p:nvSpPr>
        <p:spPr>
          <a:xfrm>
            <a:off x="8229600" y="3264408"/>
            <a:ext cx="3200400" cy="365760"/>
          </a:xfrm>
          <a:prstGeom prst="rect">
            <a:avLst/>
          </a:prstGeom>
          <a:noFill/>
          <a:ln/>
        </p:spPr>
        <p:txBody>
          <a:bodyPr wrap="square" lIns="0" tIns="0" rIns="0" bIns="0" rtlCol="0" anchor="t"/>
          <a:lstStyle/>
          <a:p>
            <a:pPr indent="0" marL="0">
              <a:buNone/>
            </a:pPr>
            <a:r>
              <a:rPr lang="en-US" sz="1700" b="1" dirty="0">
                <a:solidFill>
                  <a:schemeClr val="tx1"/>
                </a:solidFill>
              </a:rPr>
              <a:t>OUT: DriveCommand</a:t>
            </a:r>
            <a:endParaRPr lang="en-US" sz="1700" dirty="0"/>
          </a:p>
        </p:txBody>
      </p:sp>
      <p:sp>
        <p:nvSpPr>
          <p:cNvPr id="15" name="text-479"/>
          <p:cNvSpPr txBox="1"/>
          <p:nvPr/>
        </p:nvSpPr>
        <p:spPr>
          <a:xfrm>
            <a:off x="8229600" y="3630168"/>
            <a:ext cx="3246120" cy="685800"/>
          </a:xfrm>
          <a:prstGeom prst="rect">
            <a:avLst/>
          </a:prstGeom>
          <a:noFill/>
          <a:ln/>
        </p:spPr>
        <p:txBody>
          <a:bodyPr wrap="square" lIns="0" tIns="0" rIns="0" bIns="0" rtlCol="0" anchor="t"/>
          <a:lstStyle/>
          <a:p>
            <a:pPr indent="0" marL="0">
              <a:buNone/>
            </a:pPr>
            <a:r>
              <a:rPr lang="en-US" sz="1400" dirty="0">
                <a:solidFill>
                  <a:schemeClr val="tx2"/>
                </a:solidFill>
              </a:rPr>
              <a:t>speed_mps (up to 1 m/s) and steering_rad (±30°, positive = left).</a:t>
            </a:r>
            <a:endParaRPr lang="en-US" sz="1400" dirty="0"/>
          </a:p>
        </p:txBody>
      </p:sp>
      <p:sp>
        <p:nvSpPr>
          <p:cNvPr id="16" name="card-480"/>
          <p:cNvSpPr/>
          <p:nvPr/>
        </p:nvSpPr>
        <p:spPr>
          <a:xfrm>
            <a:off x="7269480" y="4663440"/>
            <a:ext cx="4370832" cy="1325880"/>
          </a:xfrm>
          <a:prstGeom prst="roundRect">
            <a:avLst>
              <a:gd name="adj" fmla="val 5517"/>
            </a:avLst>
          </a:prstGeom>
          <a:solidFill>
            <a:schemeClr val="bg1"/>
          </a:solidFill>
          <a:ln/>
          <a:effectLst>
            <a:outerShdw sx="100000" sy="100000" kx="0" ky="0" algn="bl" rotWithShape="0" blurRad="101600" dist="25400" dir="5400000">
              <a:srgbClr val="000000">
                <a:alpha val="12000"/>
              </a:srgbClr>
            </a:outerShdw>
          </a:effectLst>
        </p:spPr>
      </p:sp>
      <p:sp>
        <p:nvSpPr>
          <p:cNvPr id="17" name="icon-circle-481"/>
          <p:cNvSpPr/>
          <p:nvPr/>
        </p:nvSpPr>
        <p:spPr>
          <a:xfrm>
            <a:off x="7498080" y="4892040"/>
            <a:ext cx="548640" cy="548640"/>
          </a:xfrm>
          <a:prstGeom prst="ellipse">
            <a:avLst/>
          </a:prstGeom>
          <a:solidFill>
            <a:schemeClr val="tx1"/>
          </a:solidFill>
          <a:ln/>
        </p:spPr>
      </p:sp>
      <p:pic>
        <p:nvPicPr>
          <p:cNvPr id="18" name="icon-482" descr="preencoded.png">    </p:cNvPr>
          <p:cNvPicPr>
            <a:picLocks noChangeAspect="1"/>
          </p:cNvPicPr>
          <p:nvPr/>
        </p:nvPicPr>
        <p:blipFill>
          <a:blip r:embed="rId3"/>
          <a:stretch>
            <a:fillRect/>
          </a:stretch>
        </p:blipFill>
        <p:spPr>
          <a:xfrm>
            <a:off x="7635240" y="5029200"/>
            <a:ext cx="274320" cy="274320"/>
          </a:xfrm>
          <a:prstGeom prst="rect">
            <a:avLst/>
          </a:prstGeom>
        </p:spPr>
      </p:pic>
      <p:sp>
        <p:nvSpPr>
          <p:cNvPr id="19" name="text-483"/>
          <p:cNvSpPr txBox="1"/>
          <p:nvPr/>
        </p:nvSpPr>
        <p:spPr>
          <a:xfrm>
            <a:off x="8229600" y="4864608"/>
            <a:ext cx="3200400" cy="365760"/>
          </a:xfrm>
          <a:prstGeom prst="rect">
            <a:avLst/>
          </a:prstGeom>
          <a:noFill/>
          <a:ln/>
        </p:spPr>
        <p:txBody>
          <a:bodyPr wrap="square" lIns="0" tIns="0" rIns="0" bIns="0" rtlCol="0" anchor="t"/>
          <a:lstStyle/>
          <a:p>
            <a:pPr indent="0" marL="0">
              <a:buNone/>
            </a:pPr>
            <a:r>
              <a:rPr lang="en-US" sz="1700" b="1" dirty="0">
                <a:solidFill>
                  <a:schemeClr val="tx1"/>
                </a:solidFill>
              </a:rPr>
              <a:t>Starts stopped</a:t>
            </a:r>
            <a:endParaRPr lang="en-US" sz="1700" dirty="0"/>
          </a:p>
        </p:txBody>
      </p:sp>
      <p:sp>
        <p:nvSpPr>
          <p:cNvPr id="20" name="text-484"/>
          <p:cNvSpPr txBox="1"/>
          <p:nvPr/>
        </p:nvSpPr>
        <p:spPr>
          <a:xfrm>
            <a:off x="8229600" y="5230368"/>
            <a:ext cx="3246120" cy="685800"/>
          </a:xfrm>
          <a:prstGeom prst="rect">
            <a:avLst/>
          </a:prstGeom>
          <a:noFill/>
          <a:ln/>
        </p:spPr>
        <p:txBody>
          <a:bodyPr wrap="square" lIns="0" tIns="0" rIns="0" bIns="0" rtlCol="0" anchor="t"/>
          <a:lstStyle/>
          <a:p>
            <a:pPr indent="0" marL="0">
              <a:buNone/>
            </a:pPr>
            <a:r>
              <a:rPr lang="en-US" sz="1400" dirty="0">
                <a:solidFill>
                  <a:schemeClr val="tx2"/>
                </a:solidFill>
              </a:rPr>
              <a:t>The starter returns DriveCommand(), so the car waits until you edit it.</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Reading the LiDAR scan</a:t>
            </a:r>
            <a:endParaRPr lang="en-US" sz="3600" dirty="0"/>
          </a:p>
        </p:txBody>
      </p:sp>
      <p:sp>
        <p:nvSpPr>
          <p:cNvPr id="3" name="line-485"/>
          <p:cNvSpPr/>
          <p:nvPr/>
        </p:nvSpPr>
        <p:spPr>
          <a:xfrm>
            <a:off x="1737360" y="1463040"/>
            <a:ext cx="0" cy="4663440"/>
          </a:xfrm>
          <a:prstGeom prst="line">
            <a:avLst/>
          </a:prstGeom>
          <a:noFill/>
          <a:ln w="50800">
            <a:solidFill>
              <a:srgbClr val="2B2F38"/>
            </a:solidFill>
            <a:prstDash val="solid"/>
          </a:ln>
        </p:spPr>
      </p:sp>
      <p:sp>
        <p:nvSpPr>
          <p:cNvPr id="4" name="line-486"/>
          <p:cNvSpPr/>
          <p:nvPr/>
        </p:nvSpPr>
        <p:spPr>
          <a:xfrm>
            <a:off x="4846320" y="1463040"/>
            <a:ext cx="0" cy="4663440"/>
          </a:xfrm>
          <a:prstGeom prst="line">
            <a:avLst/>
          </a:prstGeom>
          <a:noFill/>
          <a:ln w="50800">
            <a:solidFill>
              <a:srgbClr val="2B2F38"/>
            </a:solidFill>
            <a:prstDash val="solid"/>
          </a:ln>
        </p:spPr>
      </p:sp>
      <p:sp>
        <p:nvSpPr>
          <p:cNvPr id="5" name="line-487"/>
          <p:cNvSpPr/>
          <p:nvPr/>
        </p:nvSpPr>
        <p:spPr>
          <a:xfrm>
            <a:off x="3291840" y="4709160"/>
            <a:ext cx="1554480" cy="897479"/>
          </a:xfrm>
          <a:prstGeom prst="line">
            <a:avLst/>
          </a:prstGeom>
          <a:noFill/>
          <a:ln w="12700">
            <a:solidFill>
              <a:srgbClr val="6C7A89"/>
            </a:solidFill>
            <a:prstDash val="solid"/>
          </a:ln>
        </p:spPr>
      </p:sp>
      <p:sp>
        <p:nvSpPr>
          <p:cNvPr id="6" name="dot-488"/>
          <p:cNvSpPr/>
          <p:nvPr/>
        </p:nvSpPr>
        <p:spPr>
          <a:xfrm>
            <a:off x="4796028" y="5556347"/>
            <a:ext cx="100584" cy="100584"/>
          </a:xfrm>
          <a:prstGeom prst="ellipse">
            <a:avLst/>
          </a:prstGeom>
          <a:solidFill>
            <a:schemeClr val="tx1"/>
          </a:solidFill>
          <a:ln/>
        </p:spPr>
      </p:sp>
      <p:sp>
        <p:nvSpPr>
          <p:cNvPr id="7" name="line-489"/>
          <p:cNvSpPr/>
          <p:nvPr/>
        </p:nvSpPr>
        <p:spPr>
          <a:xfrm>
            <a:off x="3291840" y="4709160"/>
            <a:ext cx="1554480" cy="565784"/>
          </a:xfrm>
          <a:prstGeom prst="line">
            <a:avLst/>
          </a:prstGeom>
          <a:noFill/>
          <a:ln w="12700">
            <a:solidFill>
              <a:srgbClr val="6C7A89"/>
            </a:solidFill>
            <a:prstDash val="solid"/>
          </a:ln>
        </p:spPr>
      </p:sp>
      <p:sp>
        <p:nvSpPr>
          <p:cNvPr id="8" name="dot-490"/>
          <p:cNvSpPr/>
          <p:nvPr/>
        </p:nvSpPr>
        <p:spPr>
          <a:xfrm>
            <a:off x="4796028" y="5224652"/>
            <a:ext cx="100584" cy="100584"/>
          </a:xfrm>
          <a:prstGeom prst="ellipse">
            <a:avLst/>
          </a:prstGeom>
          <a:solidFill>
            <a:schemeClr val="tx1"/>
          </a:solidFill>
          <a:ln/>
        </p:spPr>
      </p:sp>
      <p:sp>
        <p:nvSpPr>
          <p:cNvPr id="9" name="line-491"/>
          <p:cNvSpPr/>
          <p:nvPr/>
        </p:nvSpPr>
        <p:spPr>
          <a:xfrm>
            <a:off x="3291840" y="4709160"/>
            <a:ext cx="1554480" cy="274097"/>
          </a:xfrm>
          <a:prstGeom prst="line">
            <a:avLst/>
          </a:prstGeom>
          <a:noFill/>
          <a:ln w="12700">
            <a:solidFill>
              <a:srgbClr val="6C7A89"/>
            </a:solidFill>
            <a:prstDash val="solid"/>
          </a:ln>
        </p:spPr>
      </p:sp>
      <p:sp>
        <p:nvSpPr>
          <p:cNvPr id="10" name="dot-492"/>
          <p:cNvSpPr/>
          <p:nvPr/>
        </p:nvSpPr>
        <p:spPr>
          <a:xfrm>
            <a:off x="4796028" y="4932965"/>
            <a:ext cx="100584" cy="100584"/>
          </a:xfrm>
          <a:prstGeom prst="ellipse">
            <a:avLst/>
          </a:prstGeom>
          <a:solidFill>
            <a:schemeClr val="tx1"/>
          </a:solidFill>
          <a:ln/>
        </p:spPr>
      </p:sp>
      <p:sp>
        <p:nvSpPr>
          <p:cNvPr id="11" name="line-493"/>
          <p:cNvSpPr/>
          <p:nvPr/>
        </p:nvSpPr>
        <p:spPr>
          <a:xfrm>
            <a:off x="3291840" y="4709160"/>
            <a:ext cx="1554480" cy="0"/>
          </a:xfrm>
          <a:prstGeom prst="line">
            <a:avLst/>
          </a:prstGeom>
          <a:noFill/>
          <a:ln w="12700">
            <a:solidFill>
              <a:srgbClr val="6C7A89"/>
            </a:solidFill>
            <a:prstDash val="solid"/>
          </a:ln>
        </p:spPr>
      </p:sp>
      <p:sp>
        <p:nvSpPr>
          <p:cNvPr id="12" name="dot-494"/>
          <p:cNvSpPr/>
          <p:nvPr/>
        </p:nvSpPr>
        <p:spPr>
          <a:xfrm>
            <a:off x="4796028" y="4658868"/>
            <a:ext cx="100584" cy="100584"/>
          </a:xfrm>
          <a:prstGeom prst="ellipse">
            <a:avLst/>
          </a:prstGeom>
          <a:solidFill>
            <a:schemeClr val="tx1"/>
          </a:solidFill>
          <a:ln/>
        </p:spPr>
      </p:sp>
      <p:sp>
        <p:nvSpPr>
          <p:cNvPr id="13" name="line-495"/>
          <p:cNvSpPr/>
          <p:nvPr/>
        </p:nvSpPr>
        <p:spPr>
          <a:xfrm flipV="1">
            <a:off x="3291840" y="4435063"/>
            <a:ext cx="1554480" cy="274097"/>
          </a:xfrm>
          <a:prstGeom prst="line">
            <a:avLst/>
          </a:prstGeom>
          <a:noFill/>
          <a:ln w="12700">
            <a:solidFill>
              <a:srgbClr val="6C7A89"/>
            </a:solidFill>
            <a:prstDash val="solid"/>
          </a:ln>
        </p:spPr>
      </p:sp>
      <p:sp>
        <p:nvSpPr>
          <p:cNvPr id="14" name="dot-496"/>
          <p:cNvSpPr/>
          <p:nvPr/>
        </p:nvSpPr>
        <p:spPr>
          <a:xfrm>
            <a:off x="4796028" y="4384771"/>
            <a:ext cx="100584" cy="100584"/>
          </a:xfrm>
          <a:prstGeom prst="ellipse">
            <a:avLst/>
          </a:prstGeom>
          <a:solidFill>
            <a:schemeClr val="tx1"/>
          </a:solidFill>
          <a:ln/>
        </p:spPr>
      </p:sp>
      <p:sp>
        <p:nvSpPr>
          <p:cNvPr id="15" name="line-497"/>
          <p:cNvSpPr/>
          <p:nvPr/>
        </p:nvSpPr>
        <p:spPr>
          <a:xfrm flipV="1">
            <a:off x="3291840" y="4143376"/>
            <a:ext cx="1554480" cy="565784"/>
          </a:xfrm>
          <a:prstGeom prst="line">
            <a:avLst/>
          </a:prstGeom>
          <a:noFill/>
          <a:ln w="12700">
            <a:solidFill>
              <a:srgbClr val="6C7A89"/>
            </a:solidFill>
            <a:prstDash val="solid"/>
          </a:ln>
        </p:spPr>
      </p:sp>
      <p:sp>
        <p:nvSpPr>
          <p:cNvPr id="16" name="dot-498"/>
          <p:cNvSpPr/>
          <p:nvPr/>
        </p:nvSpPr>
        <p:spPr>
          <a:xfrm>
            <a:off x="4796028" y="4093084"/>
            <a:ext cx="100584" cy="100584"/>
          </a:xfrm>
          <a:prstGeom prst="ellipse">
            <a:avLst/>
          </a:prstGeom>
          <a:solidFill>
            <a:schemeClr val="tx1"/>
          </a:solidFill>
          <a:ln/>
        </p:spPr>
      </p:sp>
      <p:sp>
        <p:nvSpPr>
          <p:cNvPr id="17" name="line-499"/>
          <p:cNvSpPr/>
          <p:nvPr/>
        </p:nvSpPr>
        <p:spPr>
          <a:xfrm flipV="1">
            <a:off x="3291840" y="3811681"/>
            <a:ext cx="1554480" cy="897479"/>
          </a:xfrm>
          <a:prstGeom prst="line">
            <a:avLst/>
          </a:prstGeom>
          <a:noFill/>
          <a:ln w="12700">
            <a:solidFill>
              <a:srgbClr val="6C7A89"/>
            </a:solidFill>
            <a:prstDash val="solid"/>
          </a:ln>
        </p:spPr>
      </p:sp>
      <p:sp>
        <p:nvSpPr>
          <p:cNvPr id="18" name="dot-500"/>
          <p:cNvSpPr/>
          <p:nvPr/>
        </p:nvSpPr>
        <p:spPr>
          <a:xfrm>
            <a:off x="4796028" y="3761389"/>
            <a:ext cx="100584" cy="100584"/>
          </a:xfrm>
          <a:prstGeom prst="ellipse">
            <a:avLst/>
          </a:prstGeom>
          <a:solidFill>
            <a:schemeClr val="tx1"/>
          </a:solidFill>
          <a:ln/>
        </p:spPr>
      </p:sp>
      <p:sp>
        <p:nvSpPr>
          <p:cNvPr id="19" name="line-501"/>
          <p:cNvSpPr/>
          <p:nvPr/>
        </p:nvSpPr>
        <p:spPr>
          <a:xfrm flipV="1">
            <a:off x="3291840" y="3404796"/>
            <a:ext cx="1554480" cy="1304364"/>
          </a:xfrm>
          <a:prstGeom prst="line">
            <a:avLst/>
          </a:prstGeom>
          <a:noFill/>
          <a:ln w="12700">
            <a:solidFill>
              <a:srgbClr val="6C7A89"/>
            </a:solidFill>
            <a:prstDash val="solid"/>
          </a:ln>
        </p:spPr>
      </p:sp>
      <p:sp>
        <p:nvSpPr>
          <p:cNvPr id="20" name="dot-502"/>
          <p:cNvSpPr/>
          <p:nvPr/>
        </p:nvSpPr>
        <p:spPr>
          <a:xfrm>
            <a:off x="4796028" y="3354504"/>
            <a:ext cx="100584" cy="100584"/>
          </a:xfrm>
          <a:prstGeom prst="ellipse">
            <a:avLst/>
          </a:prstGeom>
          <a:solidFill>
            <a:schemeClr val="tx1"/>
          </a:solidFill>
          <a:ln/>
        </p:spPr>
      </p:sp>
      <p:sp>
        <p:nvSpPr>
          <p:cNvPr id="21" name="line-503"/>
          <p:cNvSpPr/>
          <p:nvPr/>
        </p:nvSpPr>
        <p:spPr>
          <a:xfrm flipV="1">
            <a:off x="3291840" y="2856603"/>
            <a:ext cx="1554480" cy="1852557"/>
          </a:xfrm>
          <a:prstGeom prst="line">
            <a:avLst/>
          </a:prstGeom>
          <a:noFill/>
          <a:ln w="12700">
            <a:solidFill>
              <a:srgbClr val="6C7A89"/>
            </a:solidFill>
            <a:prstDash val="solid"/>
          </a:ln>
        </p:spPr>
      </p:sp>
      <p:sp>
        <p:nvSpPr>
          <p:cNvPr id="22" name="dot-504"/>
          <p:cNvSpPr/>
          <p:nvPr/>
        </p:nvSpPr>
        <p:spPr>
          <a:xfrm>
            <a:off x="4796028" y="2806311"/>
            <a:ext cx="100584" cy="100584"/>
          </a:xfrm>
          <a:prstGeom prst="ellipse">
            <a:avLst/>
          </a:prstGeom>
          <a:solidFill>
            <a:schemeClr val="tx1"/>
          </a:solidFill>
          <a:ln/>
        </p:spPr>
      </p:sp>
      <p:sp>
        <p:nvSpPr>
          <p:cNvPr id="23" name="line-505"/>
          <p:cNvSpPr/>
          <p:nvPr/>
        </p:nvSpPr>
        <p:spPr>
          <a:xfrm flipV="1">
            <a:off x="3291840" y="2175100"/>
            <a:ext cx="1463040" cy="2534060"/>
          </a:xfrm>
          <a:prstGeom prst="line">
            <a:avLst/>
          </a:prstGeom>
          <a:noFill/>
          <a:ln w="12700">
            <a:solidFill>
              <a:srgbClr val="6C7A89"/>
            </a:solidFill>
            <a:prstDash val="solid"/>
          </a:ln>
        </p:spPr>
      </p:sp>
      <p:sp>
        <p:nvSpPr>
          <p:cNvPr id="24" name="max-dot-506"/>
          <p:cNvSpPr/>
          <p:nvPr/>
        </p:nvSpPr>
        <p:spPr>
          <a:xfrm>
            <a:off x="4700016" y="2120236"/>
            <a:ext cx="109728" cy="109728"/>
          </a:xfrm>
          <a:prstGeom prst="ellipse">
            <a:avLst/>
          </a:prstGeom>
          <a:solidFill>
            <a:schemeClr val="bg1"/>
          </a:solidFill>
          <a:ln w="15875">
            <a:solidFill>
              <a:srgbClr val="6C7A89"/>
            </a:solidFill>
            <a:prstDash val="solid"/>
          </a:ln>
        </p:spPr>
      </p:sp>
      <p:sp>
        <p:nvSpPr>
          <p:cNvPr id="25" name="line-507"/>
          <p:cNvSpPr/>
          <p:nvPr/>
        </p:nvSpPr>
        <p:spPr>
          <a:xfrm flipV="1">
            <a:off x="3291840" y="1959544"/>
            <a:ext cx="1000778" cy="2749616"/>
          </a:xfrm>
          <a:prstGeom prst="line">
            <a:avLst/>
          </a:prstGeom>
          <a:noFill/>
          <a:ln w="12700">
            <a:solidFill>
              <a:srgbClr val="6C7A89"/>
            </a:solidFill>
            <a:prstDash val="solid"/>
          </a:ln>
        </p:spPr>
      </p:sp>
      <p:sp>
        <p:nvSpPr>
          <p:cNvPr id="26" name="max-dot-508"/>
          <p:cNvSpPr/>
          <p:nvPr/>
        </p:nvSpPr>
        <p:spPr>
          <a:xfrm>
            <a:off x="4237754" y="1904680"/>
            <a:ext cx="109728" cy="109728"/>
          </a:xfrm>
          <a:prstGeom prst="ellipse">
            <a:avLst/>
          </a:prstGeom>
          <a:solidFill>
            <a:schemeClr val="bg1"/>
          </a:solidFill>
          <a:ln w="15875">
            <a:solidFill>
              <a:srgbClr val="6C7A89"/>
            </a:solidFill>
            <a:prstDash val="solid"/>
          </a:ln>
        </p:spPr>
      </p:sp>
      <p:sp>
        <p:nvSpPr>
          <p:cNvPr id="27" name="line-509"/>
          <p:cNvSpPr/>
          <p:nvPr/>
        </p:nvSpPr>
        <p:spPr>
          <a:xfrm flipV="1">
            <a:off x="3291840" y="1827534"/>
            <a:ext cx="508108" cy="2881626"/>
          </a:xfrm>
          <a:prstGeom prst="line">
            <a:avLst/>
          </a:prstGeom>
          <a:noFill/>
          <a:ln w="25400">
            <a:solidFill>
              <a:srgbClr val="E63946"/>
            </a:solidFill>
            <a:prstDash val="solid"/>
          </a:ln>
        </p:spPr>
      </p:sp>
      <p:sp>
        <p:nvSpPr>
          <p:cNvPr id="28" name="max-dot-510"/>
          <p:cNvSpPr/>
          <p:nvPr/>
        </p:nvSpPr>
        <p:spPr>
          <a:xfrm>
            <a:off x="3745084" y="1772670"/>
            <a:ext cx="109728" cy="109728"/>
          </a:xfrm>
          <a:prstGeom prst="ellipse">
            <a:avLst/>
          </a:prstGeom>
          <a:solidFill>
            <a:schemeClr val="bg1"/>
          </a:solidFill>
          <a:ln w="15875">
            <a:solidFill>
              <a:srgbClr val="E63946"/>
            </a:solidFill>
            <a:prstDash val="solid"/>
          </a:ln>
        </p:spPr>
      </p:sp>
      <p:sp>
        <p:nvSpPr>
          <p:cNvPr id="29" name="line-511"/>
          <p:cNvSpPr/>
          <p:nvPr/>
        </p:nvSpPr>
        <p:spPr>
          <a:xfrm>
            <a:off x="3291840" y="1783080"/>
            <a:ext cx="0" cy="2926080"/>
          </a:xfrm>
          <a:prstGeom prst="line">
            <a:avLst/>
          </a:prstGeom>
          <a:noFill/>
          <a:ln w="25400">
            <a:solidFill>
              <a:srgbClr val="E63946"/>
            </a:solidFill>
            <a:prstDash val="solid"/>
          </a:ln>
        </p:spPr>
      </p:sp>
      <p:sp>
        <p:nvSpPr>
          <p:cNvPr id="30" name="max-dot-512"/>
          <p:cNvSpPr/>
          <p:nvPr/>
        </p:nvSpPr>
        <p:spPr>
          <a:xfrm>
            <a:off x="3236976" y="1728216"/>
            <a:ext cx="109728" cy="109728"/>
          </a:xfrm>
          <a:prstGeom prst="ellipse">
            <a:avLst/>
          </a:prstGeom>
          <a:solidFill>
            <a:schemeClr val="bg1"/>
          </a:solidFill>
          <a:ln w="15875">
            <a:solidFill>
              <a:srgbClr val="E63946"/>
            </a:solidFill>
            <a:prstDash val="solid"/>
          </a:ln>
        </p:spPr>
      </p:sp>
      <p:sp>
        <p:nvSpPr>
          <p:cNvPr id="31" name="line-513"/>
          <p:cNvSpPr/>
          <p:nvPr/>
        </p:nvSpPr>
        <p:spPr>
          <a:xfrm>
            <a:off x="2783732" y="1827534"/>
            <a:ext cx="508108" cy="2881626"/>
          </a:xfrm>
          <a:prstGeom prst="line">
            <a:avLst/>
          </a:prstGeom>
          <a:noFill/>
          <a:ln w="25400">
            <a:solidFill>
              <a:srgbClr val="E63946"/>
            </a:solidFill>
            <a:prstDash val="solid"/>
          </a:ln>
        </p:spPr>
      </p:sp>
      <p:sp>
        <p:nvSpPr>
          <p:cNvPr id="32" name="max-dot-514"/>
          <p:cNvSpPr/>
          <p:nvPr/>
        </p:nvSpPr>
        <p:spPr>
          <a:xfrm>
            <a:off x="2728868" y="1772670"/>
            <a:ext cx="109728" cy="109728"/>
          </a:xfrm>
          <a:prstGeom prst="ellipse">
            <a:avLst/>
          </a:prstGeom>
          <a:solidFill>
            <a:schemeClr val="bg1"/>
          </a:solidFill>
          <a:ln w="15875">
            <a:solidFill>
              <a:srgbClr val="E63946"/>
            </a:solidFill>
            <a:prstDash val="solid"/>
          </a:ln>
        </p:spPr>
      </p:sp>
      <p:sp>
        <p:nvSpPr>
          <p:cNvPr id="33" name="line-515"/>
          <p:cNvSpPr/>
          <p:nvPr/>
        </p:nvSpPr>
        <p:spPr>
          <a:xfrm>
            <a:off x="2291062" y="1959544"/>
            <a:ext cx="1000778" cy="2749616"/>
          </a:xfrm>
          <a:prstGeom prst="line">
            <a:avLst/>
          </a:prstGeom>
          <a:noFill/>
          <a:ln w="12700">
            <a:solidFill>
              <a:srgbClr val="6C7A89"/>
            </a:solidFill>
            <a:prstDash val="solid"/>
          </a:ln>
        </p:spPr>
      </p:sp>
      <p:sp>
        <p:nvSpPr>
          <p:cNvPr id="34" name="max-dot-516"/>
          <p:cNvSpPr/>
          <p:nvPr/>
        </p:nvSpPr>
        <p:spPr>
          <a:xfrm>
            <a:off x="2236198" y="1904680"/>
            <a:ext cx="109728" cy="109728"/>
          </a:xfrm>
          <a:prstGeom prst="ellipse">
            <a:avLst/>
          </a:prstGeom>
          <a:solidFill>
            <a:schemeClr val="bg1"/>
          </a:solidFill>
          <a:ln w="15875">
            <a:solidFill>
              <a:srgbClr val="6C7A89"/>
            </a:solidFill>
            <a:prstDash val="solid"/>
          </a:ln>
        </p:spPr>
      </p:sp>
      <p:sp>
        <p:nvSpPr>
          <p:cNvPr id="35" name="line-517"/>
          <p:cNvSpPr/>
          <p:nvPr/>
        </p:nvSpPr>
        <p:spPr>
          <a:xfrm>
            <a:off x="1828800" y="2175100"/>
            <a:ext cx="1463040" cy="2534060"/>
          </a:xfrm>
          <a:prstGeom prst="line">
            <a:avLst/>
          </a:prstGeom>
          <a:noFill/>
          <a:ln w="12700">
            <a:solidFill>
              <a:srgbClr val="6C7A89"/>
            </a:solidFill>
            <a:prstDash val="solid"/>
          </a:ln>
        </p:spPr>
      </p:sp>
      <p:sp>
        <p:nvSpPr>
          <p:cNvPr id="36" name="max-dot-518"/>
          <p:cNvSpPr/>
          <p:nvPr/>
        </p:nvSpPr>
        <p:spPr>
          <a:xfrm>
            <a:off x="1773936" y="2120236"/>
            <a:ext cx="109728" cy="109728"/>
          </a:xfrm>
          <a:prstGeom prst="ellipse">
            <a:avLst/>
          </a:prstGeom>
          <a:solidFill>
            <a:schemeClr val="bg1"/>
          </a:solidFill>
          <a:ln w="15875">
            <a:solidFill>
              <a:srgbClr val="6C7A89"/>
            </a:solidFill>
            <a:prstDash val="solid"/>
          </a:ln>
        </p:spPr>
      </p:sp>
      <p:sp>
        <p:nvSpPr>
          <p:cNvPr id="37" name="line-519"/>
          <p:cNvSpPr/>
          <p:nvPr/>
        </p:nvSpPr>
        <p:spPr>
          <a:xfrm>
            <a:off x="1737360" y="2856603"/>
            <a:ext cx="1554480" cy="1852557"/>
          </a:xfrm>
          <a:prstGeom prst="line">
            <a:avLst/>
          </a:prstGeom>
          <a:noFill/>
          <a:ln w="12700">
            <a:solidFill>
              <a:srgbClr val="6C7A89"/>
            </a:solidFill>
            <a:prstDash val="solid"/>
          </a:ln>
        </p:spPr>
      </p:sp>
      <p:sp>
        <p:nvSpPr>
          <p:cNvPr id="38" name="dot-520"/>
          <p:cNvSpPr/>
          <p:nvPr/>
        </p:nvSpPr>
        <p:spPr>
          <a:xfrm>
            <a:off x="1687068" y="2806311"/>
            <a:ext cx="100584" cy="100584"/>
          </a:xfrm>
          <a:prstGeom prst="ellipse">
            <a:avLst/>
          </a:prstGeom>
          <a:solidFill>
            <a:schemeClr val="tx1"/>
          </a:solidFill>
          <a:ln/>
        </p:spPr>
      </p:sp>
      <p:sp>
        <p:nvSpPr>
          <p:cNvPr id="39" name="line-521"/>
          <p:cNvSpPr/>
          <p:nvPr/>
        </p:nvSpPr>
        <p:spPr>
          <a:xfrm>
            <a:off x="1737360" y="3404796"/>
            <a:ext cx="1554480" cy="1304364"/>
          </a:xfrm>
          <a:prstGeom prst="line">
            <a:avLst/>
          </a:prstGeom>
          <a:noFill/>
          <a:ln w="12700">
            <a:solidFill>
              <a:srgbClr val="6C7A89"/>
            </a:solidFill>
            <a:prstDash val="solid"/>
          </a:ln>
        </p:spPr>
      </p:sp>
      <p:sp>
        <p:nvSpPr>
          <p:cNvPr id="40" name="dot-522"/>
          <p:cNvSpPr/>
          <p:nvPr/>
        </p:nvSpPr>
        <p:spPr>
          <a:xfrm>
            <a:off x="1687068" y="3354504"/>
            <a:ext cx="100584" cy="100584"/>
          </a:xfrm>
          <a:prstGeom prst="ellipse">
            <a:avLst/>
          </a:prstGeom>
          <a:solidFill>
            <a:schemeClr val="tx1"/>
          </a:solidFill>
          <a:ln/>
        </p:spPr>
      </p:sp>
      <p:sp>
        <p:nvSpPr>
          <p:cNvPr id="41" name="line-523"/>
          <p:cNvSpPr/>
          <p:nvPr/>
        </p:nvSpPr>
        <p:spPr>
          <a:xfrm>
            <a:off x="1737360" y="3811681"/>
            <a:ext cx="1554480" cy="897479"/>
          </a:xfrm>
          <a:prstGeom prst="line">
            <a:avLst/>
          </a:prstGeom>
          <a:noFill/>
          <a:ln w="12700">
            <a:solidFill>
              <a:srgbClr val="6C7A89"/>
            </a:solidFill>
            <a:prstDash val="solid"/>
          </a:ln>
        </p:spPr>
      </p:sp>
      <p:sp>
        <p:nvSpPr>
          <p:cNvPr id="42" name="dot-524"/>
          <p:cNvSpPr/>
          <p:nvPr/>
        </p:nvSpPr>
        <p:spPr>
          <a:xfrm>
            <a:off x="1687068" y="3761389"/>
            <a:ext cx="100584" cy="100584"/>
          </a:xfrm>
          <a:prstGeom prst="ellipse">
            <a:avLst/>
          </a:prstGeom>
          <a:solidFill>
            <a:schemeClr val="tx1"/>
          </a:solidFill>
          <a:ln/>
        </p:spPr>
      </p:sp>
      <p:sp>
        <p:nvSpPr>
          <p:cNvPr id="43" name="line-525"/>
          <p:cNvSpPr/>
          <p:nvPr/>
        </p:nvSpPr>
        <p:spPr>
          <a:xfrm>
            <a:off x="1737360" y="4143376"/>
            <a:ext cx="1554480" cy="565784"/>
          </a:xfrm>
          <a:prstGeom prst="line">
            <a:avLst/>
          </a:prstGeom>
          <a:noFill/>
          <a:ln w="12700">
            <a:solidFill>
              <a:srgbClr val="6C7A89"/>
            </a:solidFill>
            <a:prstDash val="solid"/>
          </a:ln>
        </p:spPr>
      </p:sp>
      <p:sp>
        <p:nvSpPr>
          <p:cNvPr id="44" name="dot-526"/>
          <p:cNvSpPr/>
          <p:nvPr/>
        </p:nvSpPr>
        <p:spPr>
          <a:xfrm>
            <a:off x="1687068" y="4093084"/>
            <a:ext cx="100584" cy="100584"/>
          </a:xfrm>
          <a:prstGeom prst="ellipse">
            <a:avLst/>
          </a:prstGeom>
          <a:solidFill>
            <a:schemeClr val="tx1"/>
          </a:solidFill>
          <a:ln/>
        </p:spPr>
      </p:sp>
      <p:sp>
        <p:nvSpPr>
          <p:cNvPr id="45" name="line-527"/>
          <p:cNvSpPr/>
          <p:nvPr/>
        </p:nvSpPr>
        <p:spPr>
          <a:xfrm>
            <a:off x="1737360" y="4435063"/>
            <a:ext cx="1554480" cy="274097"/>
          </a:xfrm>
          <a:prstGeom prst="line">
            <a:avLst/>
          </a:prstGeom>
          <a:noFill/>
          <a:ln w="12700">
            <a:solidFill>
              <a:srgbClr val="6C7A89"/>
            </a:solidFill>
            <a:prstDash val="solid"/>
          </a:ln>
        </p:spPr>
      </p:sp>
      <p:sp>
        <p:nvSpPr>
          <p:cNvPr id="46" name="dot-528"/>
          <p:cNvSpPr/>
          <p:nvPr/>
        </p:nvSpPr>
        <p:spPr>
          <a:xfrm>
            <a:off x="1687068" y="4384771"/>
            <a:ext cx="100584" cy="100584"/>
          </a:xfrm>
          <a:prstGeom prst="ellipse">
            <a:avLst/>
          </a:prstGeom>
          <a:solidFill>
            <a:schemeClr val="tx1"/>
          </a:solidFill>
          <a:ln/>
        </p:spPr>
      </p:sp>
      <p:sp>
        <p:nvSpPr>
          <p:cNvPr id="47" name="line-529"/>
          <p:cNvSpPr/>
          <p:nvPr/>
        </p:nvSpPr>
        <p:spPr>
          <a:xfrm>
            <a:off x="1737360" y="4709160"/>
            <a:ext cx="1554480" cy="0"/>
          </a:xfrm>
          <a:prstGeom prst="line">
            <a:avLst/>
          </a:prstGeom>
          <a:noFill/>
          <a:ln w="12700">
            <a:solidFill>
              <a:srgbClr val="6C7A89"/>
            </a:solidFill>
            <a:prstDash val="solid"/>
          </a:ln>
        </p:spPr>
      </p:sp>
      <p:sp>
        <p:nvSpPr>
          <p:cNvPr id="48" name="dot-530"/>
          <p:cNvSpPr/>
          <p:nvPr/>
        </p:nvSpPr>
        <p:spPr>
          <a:xfrm>
            <a:off x="1687068" y="4658868"/>
            <a:ext cx="100584" cy="100584"/>
          </a:xfrm>
          <a:prstGeom prst="ellipse">
            <a:avLst/>
          </a:prstGeom>
          <a:solidFill>
            <a:schemeClr val="tx1"/>
          </a:solidFill>
          <a:ln/>
        </p:spPr>
      </p:sp>
      <p:sp>
        <p:nvSpPr>
          <p:cNvPr id="49" name="line-531"/>
          <p:cNvSpPr/>
          <p:nvPr/>
        </p:nvSpPr>
        <p:spPr>
          <a:xfrm flipV="1">
            <a:off x="1737360" y="4709160"/>
            <a:ext cx="1554480" cy="274097"/>
          </a:xfrm>
          <a:prstGeom prst="line">
            <a:avLst/>
          </a:prstGeom>
          <a:noFill/>
          <a:ln w="12700">
            <a:solidFill>
              <a:srgbClr val="6C7A89"/>
            </a:solidFill>
            <a:prstDash val="solid"/>
          </a:ln>
        </p:spPr>
      </p:sp>
      <p:sp>
        <p:nvSpPr>
          <p:cNvPr id="50" name="dot-532"/>
          <p:cNvSpPr/>
          <p:nvPr/>
        </p:nvSpPr>
        <p:spPr>
          <a:xfrm>
            <a:off x="1687068" y="4932965"/>
            <a:ext cx="100584" cy="100584"/>
          </a:xfrm>
          <a:prstGeom prst="ellipse">
            <a:avLst/>
          </a:prstGeom>
          <a:solidFill>
            <a:schemeClr val="tx1"/>
          </a:solidFill>
          <a:ln/>
        </p:spPr>
      </p:sp>
      <p:sp>
        <p:nvSpPr>
          <p:cNvPr id="51" name="line-533"/>
          <p:cNvSpPr/>
          <p:nvPr/>
        </p:nvSpPr>
        <p:spPr>
          <a:xfrm flipV="1">
            <a:off x="1737360" y="4709160"/>
            <a:ext cx="1554480" cy="565784"/>
          </a:xfrm>
          <a:prstGeom prst="line">
            <a:avLst/>
          </a:prstGeom>
          <a:noFill/>
          <a:ln w="12700">
            <a:solidFill>
              <a:srgbClr val="6C7A89"/>
            </a:solidFill>
            <a:prstDash val="solid"/>
          </a:ln>
        </p:spPr>
      </p:sp>
      <p:sp>
        <p:nvSpPr>
          <p:cNvPr id="52" name="dot-534"/>
          <p:cNvSpPr/>
          <p:nvPr/>
        </p:nvSpPr>
        <p:spPr>
          <a:xfrm>
            <a:off x="1687068" y="5224652"/>
            <a:ext cx="100584" cy="100584"/>
          </a:xfrm>
          <a:prstGeom prst="ellipse">
            <a:avLst/>
          </a:prstGeom>
          <a:solidFill>
            <a:schemeClr val="tx1"/>
          </a:solidFill>
          <a:ln/>
        </p:spPr>
      </p:sp>
      <p:sp>
        <p:nvSpPr>
          <p:cNvPr id="53" name="line-535"/>
          <p:cNvSpPr/>
          <p:nvPr/>
        </p:nvSpPr>
        <p:spPr>
          <a:xfrm flipV="1">
            <a:off x="1737360" y="4709160"/>
            <a:ext cx="1554480" cy="897479"/>
          </a:xfrm>
          <a:prstGeom prst="line">
            <a:avLst/>
          </a:prstGeom>
          <a:noFill/>
          <a:ln w="12700">
            <a:solidFill>
              <a:srgbClr val="6C7A89"/>
            </a:solidFill>
            <a:prstDash val="solid"/>
          </a:ln>
        </p:spPr>
      </p:sp>
      <p:sp>
        <p:nvSpPr>
          <p:cNvPr id="54" name="dot-536"/>
          <p:cNvSpPr/>
          <p:nvPr/>
        </p:nvSpPr>
        <p:spPr>
          <a:xfrm>
            <a:off x="1687068" y="5556347"/>
            <a:ext cx="100584" cy="100584"/>
          </a:xfrm>
          <a:prstGeom prst="ellipse">
            <a:avLst/>
          </a:prstGeom>
          <a:solidFill>
            <a:schemeClr val="tx1"/>
          </a:solidFill>
          <a:ln/>
        </p:spPr>
      </p:sp>
      <p:sp>
        <p:nvSpPr>
          <p:cNvPr id="55" name="lidar-car"/>
          <p:cNvSpPr/>
          <p:nvPr/>
        </p:nvSpPr>
        <p:spPr>
          <a:xfrm>
            <a:off x="3090672" y="4361688"/>
            <a:ext cx="402336" cy="694944"/>
          </a:xfrm>
          <a:prstGeom prst="roundRect">
            <a:avLst>
              <a:gd name="adj" fmla="val 18182"/>
            </a:avLst>
          </a:prstGeom>
          <a:solidFill>
            <a:schemeClr val="tx1"/>
          </a:solidFill>
          <a:ln/>
        </p:spPr>
      </p:sp>
      <p:sp>
        <p:nvSpPr>
          <p:cNvPr id="56" name="dot-537"/>
          <p:cNvSpPr/>
          <p:nvPr/>
        </p:nvSpPr>
        <p:spPr>
          <a:xfrm>
            <a:off x="3227832" y="4507992"/>
            <a:ext cx="128016" cy="128016"/>
          </a:xfrm>
          <a:prstGeom prst="ellipse">
            <a:avLst/>
          </a:prstGeom>
          <a:solidFill>
            <a:schemeClr val="accent1"/>
          </a:solidFill>
          <a:ln/>
        </p:spPr>
      </p:sp>
      <p:sp>
        <p:nvSpPr>
          <p:cNvPr id="57" name="text-538"/>
          <p:cNvSpPr txBox="1"/>
          <p:nvPr/>
        </p:nvSpPr>
        <p:spPr>
          <a:xfrm>
            <a:off x="2377440" y="1298448"/>
            <a:ext cx="1828800" cy="274320"/>
          </a:xfrm>
          <a:prstGeom prst="rect">
            <a:avLst/>
          </a:prstGeom>
          <a:noFill/>
          <a:ln/>
        </p:spPr>
        <p:txBody>
          <a:bodyPr wrap="square" lIns="0" tIns="0" rIns="0" bIns="0" rtlCol="0" anchor="t"/>
          <a:lstStyle/>
          <a:p>
            <a:pPr algn="ctr" indent="0" marL="0">
              <a:buNone/>
            </a:pPr>
            <a:r>
              <a:rPr lang="en-US" sz="1200" b="1" dirty="0">
                <a:solidFill>
                  <a:schemeClr val="accent1"/>
                </a:solidFill>
              </a:rPr>
              <a:t>0 rad (ahead)</a:t>
            </a:r>
            <a:endParaRPr lang="en-US" sz="1200" dirty="0"/>
          </a:p>
        </p:txBody>
      </p:sp>
      <p:sp>
        <p:nvSpPr>
          <p:cNvPr id="58" name="text-539"/>
          <p:cNvSpPr txBox="1"/>
          <p:nvPr/>
        </p:nvSpPr>
        <p:spPr>
          <a:xfrm>
            <a:off x="548640" y="4389120"/>
            <a:ext cx="1005840" cy="548640"/>
          </a:xfrm>
          <a:prstGeom prst="rect">
            <a:avLst/>
          </a:prstGeom>
          <a:noFill/>
          <a:ln/>
        </p:spPr>
        <p:txBody>
          <a:bodyPr wrap="square" lIns="0" tIns="0" rIns="0" bIns="0" rtlCol="0" anchor="t"/>
          <a:lstStyle/>
          <a:p>
            <a:pPr algn="ctr" indent="0" marL="0">
              <a:buNone/>
            </a:pPr>
            <a:r>
              <a:rPr lang="en-US" sz="1200" b="1" dirty="0">
                <a:solidFill>
                  <a:schemeClr val="tx1"/>
                </a:solidFill>
              </a:rPr>
              <a:t>+π/2</a:t>
            </a:r>
            <a:endParaRPr lang="en-US" sz="1200" dirty="0"/>
          </a:p>
          <a:p>
            <a:pPr algn="ctr" indent="0" marL="0">
              <a:buNone/>
            </a:pPr>
            <a:r>
              <a:rPr lang="en-US" sz="1200" b="1" dirty="0">
                <a:solidFill>
                  <a:schemeClr val="tx1"/>
                </a:solidFill>
              </a:rPr>
              <a:t>left</a:t>
            </a:r>
            <a:endParaRPr lang="en-US" sz="1200" dirty="0"/>
          </a:p>
        </p:txBody>
      </p:sp>
      <p:sp>
        <p:nvSpPr>
          <p:cNvPr id="59" name="text-540"/>
          <p:cNvSpPr txBox="1"/>
          <p:nvPr/>
        </p:nvSpPr>
        <p:spPr>
          <a:xfrm>
            <a:off x="4937760" y="4389120"/>
            <a:ext cx="1005840" cy="548640"/>
          </a:xfrm>
          <a:prstGeom prst="rect">
            <a:avLst/>
          </a:prstGeom>
          <a:noFill/>
          <a:ln/>
        </p:spPr>
        <p:txBody>
          <a:bodyPr wrap="square" lIns="0" tIns="0" rIns="0" bIns="0" rtlCol="0" anchor="t"/>
          <a:lstStyle/>
          <a:p>
            <a:pPr algn="ctr" indent="0" marL="0">
              <a:buNone/>
            </a:pPr>
            <a:r>
              <a:rPr lang="en-US" sz="1200" b="1" dirty="0">
                <a:solidFill>
                  <a:schemeClr val="tx1"/>
                </a:solidFill>
              </a:rPr>
              <a:t>−π/2</a:t>
            </a:r>
            <a:endParaRPr lang="en-US" sz="1200" dirty="0"/>
          </a:p>
          <a:p>
            <a:pPr algn="ctr" indent="0" marL="0">
              <a:buNone/>
            </a:pPr>
            <a:r>
              <a:rPr lang="en-US" sz="1200" b="1" dirty="0">
                <a:solidFill>
                  <a:schemeClr val="tx1"/>
                </a:solidFill>
              </a:rPr>
              <a:t>right</a:t>
            </a:r>
            <a:endParaRPr lang="en-US" sz="1200" dirty="0"/>
          </a:p>
        </p:txBody>
      </p:sp>
      <p:sp>
        <p:nvSpPr>
          <p:cNvPr id="60" name="formula"/>
          <p:cNvSpPr/>
          <p:nvPr/>
        </p:nvSpPr>
        <p:spPr>
          <a:xfrm>
            <a:off x="6309360" y="1463040"/>
            <a:ext cx="5330952" cy="566928"/>
          </a:xfrm>
          <a:prstGeom prst="roundRect">
            <a:avLst>
              <a:gd name="adj" fmla="val 12903"/>
            </a:avLst>
          </a:prstGeom>
          <a:solidFill>
            <a:schemeClr val="tx1"/>
          </a:solidFill>
          <a:ln/>
        </p:spPr>
      </p:sp>
      <p:sp>
        <p:nvSpPr>
          <p:cNvPr id="61" name="text-541"/>
          <p:cNvSpPr txBox="1"/>
          <p:nvPr/>
        </p:nvSpPr>
        <p:spPr>
          <a:xfrm>
            <a:off x="6492240" y="1463040"/>
            <a:ext cx="5029200" cy="56692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angle_i = angle_min + i * angle_increment</a:t>
            </a:r>
            <a:endParaRPr lang="en-US" sz="1400" dirty="0"/>
          </a:p>
        </p:txBody>
      </p:sp>
      <p:sp>
        <p:nvSpPr>
          <p:cNvPr id="62" name="icon-circle-542"/>
          <p:cNvSpPr/>
          <p:nvPr/>
        </p:nvSpPr>
        <p:spPr>
          <a:xfrm>
            <a:off x="6309360" y="2331720"/>
            <a:ext cx="457200" cy="457200"/>
          </a:xfrm>
          <a:prstGeom prst="ellipse">
            <a:avLst/>
          </a:prstGeom>
          <a:solidFill>
            <a:schemeClr val="tx1"/>
          </a:solidFill>
          <a:ln/>
        </p:spPr>
      </p:sp>
      <p:pic>
        <p:nvPicPr>
          <p:cNvPr id="63" name="icon-543" descr="preencoded.png">    </p:cNvPr>
          <p:cNvPicPr>
            <a:picLocks noChangeAspect="1"/>
          </p:cNvPicPr>
          <p:nvPr/>
        </p:nvPicPr>
        <p:blipFill>
          <a:blip r:embed="rId1"/>
          <a:stretch>
            <a:fillRect/>
          </a:stretch>
        </p:blipFill>
        <p:spPr>
          <a:xfrm>
            <a:off x="6423660" y="2446020"/>
            <a:ext cx="228600" cy="228600"/>
          </a:xfrm>
          <a:prstGeom prst="rect">
            <a:avLst/>
          </a:prstGeom>
        </p:spPr>
      </p:pic>
      <p:sp>
        <p:nvSpPr>
          <p:cNvPr id="64" name="text-544"/>
          <p:cNvSpPr txBox="1"/>
          <p:nvPr/>
        </p:nvSpPr>
        <p:spPr>
          <a:xfrm>
            <a:off x="6949440" y="2286000"/>
            <a:ext cx="4663440" cy="320040"/>
          </a:xfrm>
          <a:prstGeom prst="rect">
            <a:avLst/>
          </a:prstGeom>
          <a:noFill/>
          <a:ln/>
        </p:spPr>
        <p:txBody>
          <a:bodyPr wrap="square" lIns="0" tIns="0" rIns="0" bIns="0" rtlCol="0" anchor="t"/>
          <a:lstStyle/>
          <a:p>
            <a:pPr indent="0" marL="0">
              <a:buNone/>
            </a:pPr>
            <a:r>
              <a:rPr lang="en-US" sz="1600" b="1" dirty="0">
                <a:solidFill>
                  <a:schemeClr val="tx1"/>
                </a:solidFill>
              </a:rPr>
              <a:t>ranges[i] is a distance in metres</a:t>
            </a:r>
            <a:endParaRPr lang="en-US" sz="1600" dirty="0"/>
          </a:p>
        </p:txBody>
      </p:sp>
      <p:sp>
        <p:nvSpPr>
          <p:cNvPr id="65" name="text-545"/>
          <p:cNvSpPr txBox="1"/>
          <p:nvPr/>
        </p:nvSpPr>
        <p:spPr>
          <a:xfrm>
            <a:off x="6949440" y="2615184"/>
            <a:ext cx="4663440" cy="365760"/>
          </a:xfrm>
          <a:prstGeom prst="rect">
            <a:avLst/>
          </a:prstGeom>
          <a:noFill/>
          <a:ln/>
        </p:spPr>
        <p:txBody>
          <a:bodyPr wrap="square" lIns="0" tIns="0" rIns="0" bIns="0" rtlCol="0" anchor="t"/>
          <a:lstStyle/>
          <a:p>
            <a:pPr indent="0" marL="0">
              <a:buNone/>
            </a:pPr>
            <a:r>
              <a:rPr lang="en-US" sz="1400" dirty="0">
                <a:solidFill>
                  <a:schemeClr val="tx2"/>
                </a:solidFill>
              </a:rPr>
              <a:t>One reading per ray, swept around the car.</a:t>
            </a:r>
            <a:endParaRPr lang="en-US" sz="1400" dirty="0"/>
          </a:p>
        </p:txBody>
      </p:sp>
      <p:sp>
        <p:nvSpPr>
          <p:cNvPr id="66" name="icon-circle-546"/>
          <p:cNvSpPr/>
          <p:nvPr/>
        </p:nvSpPr>
        <p:spPr>
          <a:xfrm>
            <a:off x="6309360" y="3136392"/>
            <a:ext cx="457200" cy="457200"/>
          </a:xfrm>
          <a:prstGeom prst="ellipse">
            <a:avLst/>
          </a:prstGeom>
          <a:solidFill>
            <a:schemeClr val="accent1"/>
          </a:solidFill>
          <a:ln/>
        </p:spPr>
      </p:sp>
      <p:pic>
        <p:nvPicPr>
          <p:cNvPr id="67" name="icon-547" descr="preencoded.png">    </p:cNvPr>
          <p:cNvPicPr>
            <a:picLocks noChangeAspect="1"/>
          </p:cNvPicPr>
          <p:nvPr/>
        </p:nvPicPr>
        <p:blipFill>
          <a:blip r:embed="rId2"/>
          <a:stretch>
            <a:fillRect/>
          </a:stretch>
        </p:blipFill>
        <p:spPr>
          <a:xfrm>
            <a:off x="6423660" y="3250692"/>
            <a:ext cx="228600" cy="228600"/>
          </a:xfrm>
          <a:prstGeom prst="rect">
            <a:avLst/>
          </a:prstGeom>
        </p:spPr>
      </p:pic>
      <p:sp>
        <p:nvSpPr>
          <p:cNvPr id="68" name="text-548"/>
          <p:cNvSpPr txBox="1"/>
          <p:nvPr/>
        </p:nvSpPr>
        <p:spPr>
          <a:xfrm>
            <a:off x="6949440" y="3090672"/>
            <a:ext cx="4663440" cy="320040"/>
          </a:xfrm>
          <a:prstGeom prst="rect">
            <a:avLst/>
          </a:prstGeom>
          <a:noFill/>
          <a:ln/>
        </p:spPr>
        <p:txBody>
          <a:bodyPr wrap="square" lIns="0" tIns="0" rIns="0" bIns="0" rtlCol="0" anchor="t"/>
          <a:lstStyle/>
          <a:p>
            <a:pPr indent="0" marL="0">
              <a:buNone/>
            </a:pPr>
            <a:r>
              <a:rPr lang="en-US" sz="1600" b="1" dirty="0">
                <a:solidFill>
                  <a:schemeClr val="tx1"/>
                </a:solidFill>
              </a:rPr>
              <a:t>0 means unknown</a:t>
            </a:r>
            <a:endParaRPr lang="en-US" sz="1600" dirty="0"/>
          </a:p>
        </p:txBody>
      </p:sp>
      <p:sp>
        <p:nvSpPr>
          <p:cNvPr id="69" name="text-549"/>
          <p:cNvSpPr txBox="1"/>
          <p:nvPr/>
        </p:nvSpPr>
        <p:spPr>
          <a:xfrm>
            <a:off x="6949440" y="3419856"/>
            <a:ext cx="4663440" cy="365760"/>
          </a:xfrm>
          <a:prstGeom prst="rect">
            <a:avLst/>
          </a:prstGeom>
          <a:noFill/>
          <a:ln/>
        </p:spPr>
        <p:txBody>
          <a:bodyPr wrap="square" lIns="0" tIns="0" rIns="0" bIns="0" rtlCol="0" anchor="t"/>
          <a:lstStyle/>
          <a:p>
            <a:pPr indent="0" marL="0">
              <a:buNone/>
            </a:pPr>
            <a:r>
              <a:rPr lang="en-US" sz="1400" dirty="0">
                <a:solidFill>
                  <a:schemeClr val="tx2"/>
                </a:solidFill>
              </a:rPr>
              <a:t>Not evidence of a clear road: treat it as blocked.</a:t>
            </a:r>
            <a:endParaRPr lang="en-US" sz="1400" dirty="0"/>
          </a:p>
        </p:txBody>
      </p:sp>
      <p:sp>
        <p:nvSpPr>
          <p:cNvPr id="70" name="icon-circle-550"/>
          <p:cNvSpPr/>
          <p:nvPr/>
        </p:nvSpPr>
        <p:spPr>
          <a:xfrm>
            <a:off x="6309360" y="3941064"/>
            <a:ext cx="457200" cy="457200"/>
          </a:xfrm>
          <a:prstGeom prst="ellipse">
            <a:avLst/>
          </a:prstGeom>
          <a:solidFill>
            <a:schemeClr val="tx1"/>
          </a:solidFill>
          <a:ln/>
        </p:spPr>
      </p:sp>
      <p:pic>
        <p:nvPicPr>
          <p:cNvPr id="71" name="icon-551" descr="preencoded.png">    </p:cNvPr>
          <p:cNvPicPr>
            <a:picLocks noChangeAspect="1"/>
          </p:cNvPicPr>
          <p:nvPr/>
        </p:nvPicPr>
        <p:blipFill>
          <a:blip r:embed="rId3"/>
          <a:stretch>
            <a:fillRect/>
          </a:stretch>
        </p:blipFill>
        <p:spPr>
          <a:xfrm>
            <a:off x="6423660" y="4055364"/>
            <a:ext cx="228600" cy="228600"/>
          </a:xfrm>
          <a:prstGeom prst="rect">
            <a:avLst/>
          </a:prstGeom>
        </p:spPr>
      </p:pic>
      <p:sp>
        <p:nvSpPr>
          <p:cNvPr id="72" name="text-552"/>
          <p:cNvSpPr txBox="1"/>
          <p:nvPr/>
        </p:nvSpPr>
        <p:spPr>
          <a:xfrm>
            <a:off x="6949440" y="3895344"/>
            <a:ext cx="4663440" cy="320040"/>
          </a:xfrm>
          <a:prstGeom prst="rect">
            <a:avLst/>
          </a:prstGeom>
          <a:noFill/>
          <a:ln/>
        </p:spPr>
        <p:txBody>
          <a:bodyPr wrap="square" lIns="0" tIns="0" rIns="0" bIns="0" rtlCol="0" anchor="t"/>
          <a:lstStyle/>
          <a:p>
            <a:pPr indent="0" marL="0">
              <a:buNone/>
            </a:pPr>
            <a:r>
              <a:rPr lang="en-US" sz="1600" b="1" dirty="0">
                <a:solidFill>
                  <a:schemeClr val="tx1"/>
                </a:solidFill>
              </a:rPr>
              <a:t>range_max means clear</a:t>
            </a:r>
            <a:endParaRPr lang="en-US" sz="1600" dirty="0"/>
          </a:p>
        </p:txBody>
      </p:sp>
      <p:sp>
        <p:nvSpPr>
          <p:cNvPr id="73" name="text-553"/>
          <p:cNvSpPr txBox="1"/>
          <p:nvPr/>
        </p:nvSpPr>
        <p:spPr>
          <a:xfrm>
            <a:off x="6949440" y="4224528"/>
            <a:ext cx="4663440" cy="365760"/>
          </a:xfrm>
          <a:prstGeom prst="rect">
            <a:avLst/>
          </a:prstGeom>
          <a:noFill/>
          <a:ln/>
        </p:spPr>
        <p:txBody>
          <a:bodyPr wrap="square" lIns="0" tIns="0" rIns="0" bIns="0" rtlCol="0" anchor="t"/>
          <a:lstStyle/>
          <a:p>
            <a:pPr indent="0" marL="0">
              <a:buNone/>
            </a:pPr>
            <a:r>
              <a:rPr lang="en-US" sz="1400" dirty="0">
                <a:solidFill>
                  <a:schemeClr val="tx2"/>
                </a:solidFill>
              </a:rPr>
              <a:t>Nothing hit within the sensor limit (hollow dots).</a:t>
            </a:r>
            <a:endParaRPr lang="en-US" sz="1400" dirty="0"/>
          </a:p>
        </p:txBody>
      </p:sp>
      <p:sp>
        <p:nvSpPr>
          <p:cNvPr id="74" name="icon-circle-554"/>
          <p:cNvSpPr/>
          <p:nvPr/>
        </p:nvSpPr>
        <p:spPr>
          <a:xfrm>
            <a:off x="6309360" y="4745736"/>
            <a:ext cx="457200" cy="457200"/>
          </a:xfrm>
          <a:prstGeom prst="ellipse">
            <a:avLst/>
          </a:prstGeom>
          <a:solidFill>
            <a:schemeClr val="tx1"/>
          </a:solidFill>
          <a:ln/>
        </p:spPr>
      </p:sp>
      <p:pic>
        <p:nvPicPr>
          <p:cNvPr id="75" name="icon-555" descr="preencoded.png">    </p:cNvPr>
          <p:cNvPicPr>
            <a:picLocks noChangeAspect="1"/>
          </p:cNvPicPr>
          <p:nvPr/>
        </p:nvPicPr>
        <p:blipFill>
          <a:blip r:embed="rId4"/>
          <a:stretch>
            <a:fillRect/>
          </a:stretch>
        </p:blipFill>
        <p:spPr>
          <a:xfrm>
            <a:off x="6423660" y="4860036"/>
            <a:ext cx="228600" cy="228600"/>
          </a:xfrm>
          <a:prstGeom prst="rect">
            <a:avLst/>
          </a:prstGeom>
        </p:spPr>
      </p:pic>
      <p:sp>
        <p:nvSpPr>
          <p:cNvPr id="76" name="text-556"/>
          <p:cNvSpPr txBox="1"/>
          <p:nvPr/>
        </p:nvSpPr>
        <p:spPr>
          <a:xfrm>
            <a:off x="6949440" y="4700016"/>
            <a:ext cx="4663440" cy="320040"/>
          </a:xfrm>
          <a:prstGeom prst="rect">
            <a:avLst/>
          </a:prstGeom>
          <a:noFill/>
          <a:ln/>
        </p:spPr>
        <p:txBody>
          <a:bodyPr wrap="square" lIns="0" tIns="0" rIns="0" bIns="0" rtlCol="0" anchor="t"/>
          <a:lstStyle/>
          <a:p>
            <a:pPr indent="0" marL="0">
              <a:buNone/>
            </a:pPr>
            <a:r>
              <a:rPr lang="en-US" sz="1600" b="1" dirty="0">
                <a:solidFill>
                  <a:schemeClr val="tx1"/>
                </a:solidFill>
              </a:rPr>
              <a:t>Angles are radians</a:t>
            </a:r>
            <a:endParaRPr lang="en-US" sz="1600" dirty="0"/>
          </a:p>
        </p:txBody>
      </p:sp>
      <p:sp>
        <p:nvSpPr>
          <p:cNvPr id="77" name="text-557"/>
          <p:cNvSpPr txBox="1"/>
          <p:nvPr/>
        </p:nvSpPr>
        <p:spPr>
          <a:xfrm>
            <a:off x="6949440" y="5029200"/>
            <a:ext cx="4663440" cy="365760"/>
          </a:xfrm>
          <a:prstGeom prst="rect">
            <a:avLst/>
          </a:prstGeom>
          <a:noFill/>
          <a:ln/>
        </p:spPr>
        <p:txBody>
          <a:bodyPr wrap="square" lIns="0" tIns="0" rIns="0" bIns="0" rtlCol="0" anchor="t"/>
          <a:lstStyle/>
          <a:p>
            <a:pPr indent="0" marL="0">
              <a:buNone/>
            </a:pPr>
            <a:r>
              <a:rPr lang="en-US" sz="1400" dirty="0">
                <a:solidFill>
                  <a:schemeClr val="tx2"/>
                </a:solidFill>
              </a:rPr>
              <a:t>0 is straight ahead, positive is left, negative is right.</a:t>
            </a:r>
            <a:endParaRPr lang="en-US" sz="1400" dirty="0"/>
          </a:p>
        </p:txBody>
      </p:sp>
      <p:sp>
        <p:nvSpPr>
          <p:cNvPr id="78" name="text-558"/>
          <p:cNvSpPr txBox="1"/>
          <p:nvPr/>
        </p:nvSpPr>
        <p:spPr>
          <a:xfrm>
            <a:off x="6309360" y="5596128"/>
            <a:ext cx="5330952" cy="365760"/>
          </a:xfrm>
          <a:prstGeom prst="rect">
            <a:avLst/>
          </a:prstGeom>
          <a:noFill/>
          <a:ln/>
        </p:spPr>
        <p:txBody>
          <a:bodyPr wrap="square" lIns="0" tIns="0" rIns="0" bIns="0" rtlCol="0" anchor="ctr"/>
          <a:lstStyle/>
          <a:p>
            <a:pPr indent="0" marL="0">
              <a:buNone/>
            </a:pPr>
            <a:r>
              <a:rPr lang="en-US" sz="1500" b="1" dirty="0">
                <a:solidFill>
                  <a:schemeClr val="accent1"/>
                </a:solidFill>
              </a:rPr>
              <a:t>Forward cone: </a:t>
            </a:r>
            <a:pPr indent="0" marL="0">
              <a:buNone/>
            </a:pPr>
            <a:r>
              <a:rPr lang="en-US" sz="1500" dirty="0">
                <a:solidFill>
                  <a:schemeClr val="tx1"/>
                </a:solidFill>
                <a:latin typeface="Courier New" pitchFamily="34" charset="0"/>
                <a:ea typeface="Courier New" pitchFamily="34" charset="-122"/>
                <a:cs typeface="Courier New" pitchFamily="34" charset="-120"/>
              </a:rPr>
              <a:t>observation.sector(-0.2, 0.2)</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Observation and command reference</a:t>
            </a:r>
            <a:endParaRPr lang="en-US" sz="3600" dirty="0"/>
          </a:p>
        </p:txBody>
      </p:sp>
      <p:graphicFrame>
        <p:nvGraphicFramePr>
          <p:cNvPr id="23" name="obs-table"/>
          <p:cNvGraphicFramePr>
            <a:graphicFrameLocks noGrp="1"/>
          </p:cNvGraphicFramePr>
          <p:nvPr>
            <p:extLst>
              <p:ext uri="{D42A27DB-BD31-4B8C-83A1-F6EECF244321}">
                <p14:modId xmlns:p14="http://schemas.microsoft.com/office/powerpoint/2010/main" val="1579011935"/>
              </p:ext>
            </p:extLst>
          </p:nvPr>
        </p:nvGraphicFramePr>
        <p:xfrm>
          <a:off x="548640" y="1463040"/>
          <a:ext cx="7315200" cy="914400"/>
        </p:xfrm>
        <a:graphic>
          <a:graphicData uri="http://schemas.openxmlformats.org/drawingml/2006/table">
            <a:tbl>
              <a:tblPr/>
              <a:tblGrid>
                <a:gridCol w="2377440"/>
                <a:gridCol w="4023360"/>
                <a:gridCol w="914400"/>
              </a:tblGrid>
              <a:tr h="457200">
                <a:tc>
                  <a:txBody>
                    <a:bodyPr/>
                    <a:lstStyle/>
                    <a:p>
                      <a:pPr indent="0" marL="0">
                        <a:buNone/>
                      </a:pPr>
                      <a:r>
                        <a:rPr lang="en-US" sz="1400" b="1" dirty="0">
                          <a:solidFill>
                            <a:schemeClr val="bg1"/>
                          </a:solidFill>
                        </a:rPr>
                        <a:t>observation.</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Meaning</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Units</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tx1"/>
                    </a:solidFill>
                  </a:tcPr>
                </a:tc>
              </a:tr>
              <a:tr h="594360">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ranges</a:t>
                      </a:r>
                      <a:endParaRPr lang="en-US" sz="1300" dirty="0">
                        <a:latin typeface="Courier New" charset="0"/>
                        <a:ea typeface="Courier New" charset="0"/>
                        <a:cs typeface="Courier New" charset="0"/>
                      </a:endParaRPr>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LiDAR distances; 0 = unknown, range_max = clear</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m</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r>
              <a:tr h="685800">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angle_min</a:t>
                      </a:r>
                      <a:endParaRPr lang="en-US" sz="1300" dirty="0">
                        <a:latin typeface="Courier New" charset="0"/>
                        <a:ea typeface="Courier New" charset="0"/>
                        <a:cs typeface="Courier New" charset="0"/>
                      </a:endParaRPr>
                    </a:p>
                    <a:p>
                      <a:pPr indent="0" marL="0">
                        <a:buNone/>
                      </a:pPr>
                      <a:r>
                        <a:rPr lang="en-US" sz="1300" b="1" dirty="0">
                          <a:solidFill>
                            <a:schemeClr val="tx1"/>
                          </a:solidFill>
                          <a:latin typeface="Courier New" pitchFamily="34" charset="0"/>
                          <a:ea typeface="Courier New" pitchFamily="34" charset="-122"/>
                          <a:cs typeface="Courier New" pitchFamily="34" charset="-120"/>
                        </a:rPr>
                        <a:t>angle_increment</a:t>
                      </a:r>
                      <a:endParaRPr lang="en-US" sz="1300" dirty="0">
                        <a:latin typeface="Courier New" charset="0"/>
                        <a:ea typeface="Courier New" charset="0"/>
                        <a:cs typeface="Courier New" charset="0"/>
                      </a:endParaRPr>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Angle of ray i = angle_min + i × angle_increment</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rad</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r>
              <a:tr h="594360">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sector(low, high)</a:t>
                      </a:r>
                      <a:endParaRPr lang="en-US" sz="1300" dirty="0">
                        <a:latin typeface="Courier New" charset="0"/>
                        <a:ea typeface="Courier New" charset="0"/>
                        <a:cs typeface="Courier New" charset="0"/>
                      </a:endParaRPr>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Ranges between two angles in [−π, π]</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m</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r>
              <a:tr h="594360">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speed_mps</a:t>
                      </a:r>
                      <a:endParaRPr lang="en-US" sz="1300" dirty="0">
                        <a:latin typeface="Courier New" charset="0"/>
                        <a:ea typeface="Courier New" charset="0"/>
                        <a:cs typeface="Courier New" charset="0"/>
                      </a:endParaRPr>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Measured forward speed (not throttle)</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m/s</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r>
              <a:tr h="594360">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x, y, yaw</a:t>
                      </a:r>
                      <a:endParaRPr lang="en-US" sz="1300" dirty="0">
                        <a:latin typeface="Courier New" charset="0"/>
                        <a:ea typeface="Courier New" charset="0"/>
                        <a:cs typeface="Courier New" charset="0"/>
                      </a:endParaRPr>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Car position and heading in the simulator world</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m, rad</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r>
              <a:tr h="594360">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dt</a:t>
                      </a:r>
                      <a:endParaRPr lang="en-US" sz="1300" dirty="0">
                        <a:latin typeface="Courier New" charset="0"/>
                        <a:ea typeface="Courier New" charset="0"/>
                        <a:cs typeface="Courier New" charset="0"/>
                      </a:endParaRPr>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Time since the previous control tick</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s</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r>
            </a:tbl>
          </a:graphicData>
        </a:graphic>
      </p:graphicFrame>
      <p:sp>
        <p:nvSpPr>
          <p:cNvPr id="4" name="card-559"/>
          <p:cNvSpPr/>
          <p:nvPr/>
        </p:nvSpPr>
        <p:spPr>
          <a:xfrm>
            <a:off x="8183880" y="1463040"/>
            <a:ext cx="3456432" cy="4526280"/>
          </a:xfrm>
          <a:prstGeom prst="roundRect">
            <a:avLst>
              <a:gd name="adj" fmla="val 2116"/>
            </a:avLst>
          </a:prstGeom>
          <a:solidFill>
            <a:schemeClr val="bg1"/>
          </a:solidFill>
          <a:ln/>
          <a:effectLst>
            <a:outerShdw sx="100000" sy="100000" kx="0" ky="0" algn="bl" rotWithShape="0" blurRad="101600" dist="25400" dir="5400000">
              <a:srgbClr val="000000">
                <a:alpha val="12000"/>
              </a:srgbClr>
            </a:outerShdw>
          </a:effectLst>
        </p:spPr>
      </p:sp>
      <p:sp>
        <p:nvSpPr>
          <p:cNvPr id="5" name="text-560"/>
          <p:cNvSpPr txBox="1"/>
          <p:nvPr/>
        </p:nvSpPr>
        <p:spPr>
          <a:xfrm>
            <a:off x="8458200" y="1691640"/>
            <a:ext cx="3017520" cy="365760"/>
          </a:xfrm>
          <a:prstGeom prst="rect">
            <a:avLst/>
          </a:prstGeom>
          <a:noFill/>
          <a:ln/>
        </p:spPr>
        <p:txBody>
          <a:bodyPr wrap="square" lIns="0" tIns="0" rIns="0" bIns="0" rtlCol="0" anchor="t"/>
          <a:lstStyle/>
          <a:p>
            <a:pPr indent="0" marL="0">
              <a:buNone/>
            </a:pPr>
            <a:r>
              <a:rPr lang="en-US" sz="1500" b="1" dirty="0">
                <a:solidFill>
                  <a:schemeClr val="accent1"/>
                </a:solidFill>
                <a:latin typeface="Courier New" pitchFamily="34" charset="0"/>
                <a:ea typeface="Courier New" pitchFamily="34" charset="-122"/>
                <a:cs typeface="Courier New" pitchFamily="34" charset="-120"/>
              </a:rPr>
              <a:t>DriveCommand(...)</a:t>
            </a:r>
            <a:endParaRPr lang="en-US" sz="1500" dirty="0"/>
          </a:p>
        </p:txBody>
      </p:sp>
      <p:sp>
        <p:nvSpPr>
          <p:cNvPr id="6" name="icon-circle-561"/>
          <p:cNvSpPr/>
          <p:nvPr/>
        </p:nvSpPr>
        <p:spPr>
          <a:xfrm>
            <a:off x="8458200" y="2331720"/>
            <a:ext cx="548640" cy="548640"/>
          </a:xfrm>
          <a:prstGeom prst="ellipse">
            <a:avLst/>
          </a:prstGeom>
          <a:solidFill>
            <a:schemeClr val="accent1"/>
          </a:solidFill>
          <a:ln/>
        </p:spPr>
      </p:sp>
      <p:pic>
        <p:nvPicPr>
          <p:cNvPr id="7" name="icon-562" descr="preencoded.png">    </p:cNvPr>
          <p:cNvPicPr>
            <a:picLocks noChangeAspect="1"/>
          </p:cNvPicPr>
          <p:nvPr/>
        </p:nvPicPr>
        <p:blipFill>
          <a:blip r:embed="rId1"/>
          <a:stretch>
            <a:fillRect/>
          </a:stretch>
        </p:blipFill>
        <p:spPr>
          <a:xfrm>
            <a:off x="8595360" y="2468880"/>
            <a:ext cx="274320" cy="274320"/>
          </a:xfrm>
          <a:prstGeom prst="rect">
            <a:avLst/>
          </a:prstGeom>
        </p:spPr>
      </p:pic>
      <p:sp>
        <p:nvSpPr>
          <p:cNvPr id="8" name="text-563"/>
          <p:cNvSpPr txBox="1"/>
          <p:nvPr/>
        </p:nvSpPr>
        <p:spPr>
          <a:xfrm>
            <a:off x="9144000" y="2331720"/>
            <a:ext cx="2377440" cy="32004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speed_mps</a:t>
            </a:r>
            <a:endParaRPr lang="en-US" sz="1400" dirty="0"/>
          </a:p>
        </p:txBody>
      </p:sp>
      <p:sp>
        <p:nvSpPr>
          <p:cNvPr id="9" name="text-564"/>
          <p:cNvSpPr txBox="1"/>
          <p:nvPr/>
        </p:nvSpPr>
        <p:spPr>
          <a:xfrm>
            <a:off x="8458200" y="2971800"/>
            <a:ext cx="2926080" cy="640080"/>
          </a:xfrm>
          <a:prstGeom prst="rect">
            <a:avLst/>
          </a:prstGeom>
          <a:noFill/>
          <a:ln/>
        </p:spPr>
        <p:txBody>
          <a:bodyPr wrap="square" lIns="0" tIns="0" rIns="0" bIns="0" rtlCol="0" anchor="t"/>
          <a:lstStyle/>
          <a:p>
            <a:pPr indent="0" marL="0">
              <a:buNone/>
            </a:pPr>
            <a:r>
              <a:rPr lang="en-US" sz="1400" dirty="0">
                <a:solidFill>
                  <a:schemeClr val="tx2"/>
                </a:solidFill>
              </a:rPr>
              <a:t>Requested forward speed. Capped at 1 m/s.</a:t>
            </a:r>
            <a:endParaRPr lang="en-US" sz="1400" dirty="0"/>
          </a:p>
        </p:txBody>
      </p:sp>
      <p:sp>
        <p:nvSpPr>
          <p:cNvPr id="10" name="icon-circle-565"/>
          <p:cNvSpPr/>
          <p:nvPr/>
        </p:nvSpPr>
        <p:spPr>
          <a:xfrm>
            <a:off x="8458200" y="3794760"/>
            <a:ext cx="548640" cy="548640"/>
          </a:xfrm>
          <a:prstGeom prst="ellipse">
            <a:avLst/>
          </a:prstGeom>
          <a:solidFill>
            <a:schemeClr val="accent1"/>
          </a:solidFill>
          <a:ln/>
        </p:spPr>
      </p:sp>
      <p:pic>
        <p:nvPicPr>
          <p:cNvPr id="11" name="icon-566" descr="preencoded.png">    </p:cNvPr>
          <p:cNvPicPr>
            <a:picLocks noChangeAspect="1"/>
          </p:cNvPicPr>
          <p:nvPr/>
        </p:nvPicPr>
        <p:blipFill>
          <a:blip r:embed="rId2"/>
          <a:stretch>
            <a:fillRect/>
          </a:stretch>
        </p:blipFill>
        <p:spPr>
          <a:xfrm>
            <a:off x="8595360" y="3931920"/>
            <a:ext cx="274320" cy="274320"/>
          </a:xfrm>
          <a:prstGeom prst="rect">
            <a:avLst/>
          </a:prstGeom>
        </p:spPr>
      </p:pic>
      <p:sp>
        <p:nvSpPr>
          <p:cNvPr id="12" name="text-567"/>
          <p:cNvSpPr txBox="1"/>
          <p:nvPr/>
        </p:nvSpPr>
        <p:spPr>
          <a:xfrm>
            <a:off x="9144000" y="3794760"/>
            <a:ext cx="2377440" cy="32004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steering_rad</a:t>
            </a:r>
            <a:endParaRPr lang="en-US" sz="1400" dirty="0"/>
          </a:p>
        </p:txBody>
      </p:sp>
      <p:sp>
        <p:nvSpPr>
          <p:cNvPr id="13" name="text-568"/>
          <p:cNvSpPr txBox="1"/>
          <p:nvPr/>
        </p:nvSpPr>
        <p:spPr>
          <a:xfrm>
            <a:off x="8458200" y="4434840"/>
            <a:ext cx="2926080" cy="685800"/>
          </a:xfrm>
          <a:prstGeom prst="rect">
            <a:avLst/>
          </a:prstGeom>
          <a:noFill/>
          <a:ln/>
        </p:spPr>
        <p:txBody>
          <a:bodyPr wrap="square" lIns="0" tIns="0" rIns="0" bIns="0" rtlCol="0" anchor="t"/>
          <a:lstStyle/>
          <a:p>
            <a:pPr indent="0" marL="0">
              <a:buNone/>
            </a:pPr>
            <a:r>
              <a:rPr lang="en-US" sz="1400" dirty="0">
                <a:solidFill>
                  <a:schemeClr val="tx2"/>
                </a:solidFill>
              </a:rPr>
              <a:t>Front wheel angle. Capped at ±30°, positive turns left.</a:t>
            </a:r>
            <a:endParaRPr lang="en-US" sz="1400" dirty="0"/>
          </a:p>
        </p:txBody>
      </p:sp>
      <p:sp>
        <p:nvSpPr>
          <p:cNvPr id="14" name="text-569"/>
          <p:cNvSpPr txBox="1"/>
          <p:nvPr/>
        </p:nvSpPr>
        <p:spPr>
          <a:xfrm>
            <a:off x="8458200" y="5349240"/>
            <a:ext cx="2926080" cy="365760"/>
          </a:xfrm>
          <a:prstGeom prst="rect">
            <a:avLst/>
          </a:prstGeom>
          <a:noFill/>
          <a:ln/>
        </p:spPr>
        <p:txBody>
          <a:bodyPr wrap="square" lIns="0" tIns="0" rIns="0" bIns="0" rtlCol="0" anchor="t"/>
          <a:lstStyle/>
          <a:p>
            <a:pPr indent="0" marL="0">
              <a:buNone/>
            </a:pPr>
            <a:r>
              <a:rPr lang="en-US" sz="1300" dirty="0">
                <a:solidFill>
                  <a:schemeClr val="accent4"/>
                </a:solidFill>
                <a:latin typeface="Courier New" pitchFamily="34" charset="0"/>
                <a:ea typeface="Courier New" pitchFamily="34" charset="-122"/>
                <a:cs typeface="Courier New" pitchFamily="34" charset="-120"/>
              </a:rPr>
              <a:t>DriveCommand() = stop</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Rules of the loop and safety nets</a:t>
            </a:r>
            <a:endParaRPr lang="en-US" sz="3600" dirty="0"/>
          </a:p>
        </p:txBody>
      </p:sp>
      <p:sp>
        <p:nvSpPr>
          <p:cNvPr id="3" name="card-570"/>
          <p:cNvSpPr/>
          <p:nvPr/>
        </p:nvSpPr>
        <p:spPr>
          <a:xfrm>
            <a:off x="548640" y="1463040"/>
            <a:ext cx="5408676" cy="4572000"/>
          </a:xfrm>
          <a:prstGeom prst="roundRect">
            <a:avLst>
              <a:gd name="adj" fmla="val 1600"/>
            </a:avLst>
          </a:prstGeom>
          <a:solidFill>
            <a:schemeClr val="bg1"/>
          </a:solidFill>
          <a:ln/>
          <a:effectLst>
            <a:outerShdw sx="100000" sy="100000" kx="0" ky="0" algn="bl" rotWithShape="0" blurRad="101600" dist="25400" dir="5400000">
              <a:srgbClr val="000000">
                <a:alpha val="12000"/>
              </a:srgbClr>
            </a:outerShdw>
          </a:effectLst>
        </p:spPr>
      </p:sp>
      <p:sp>
        <p:nvSpPr>
          <p:cNvPr id="4" name="text-571"/>
          <p:cNvSpPr txBox="1"/>
          <p:nvPr/>
        </p:nvSpPr>
        <p:spPr>
          <a:xfrm>
            <a:off x="868680" y="1645920"/>
            <a:ext cx="4768596" cy="411480"/>
          </a:xfrm>
          <a:prstGeom prst="rect">
            <a:avLst/>
          </a:prstGeom>
          <a:noFill/>
          <a:ln/>
        </p:spPr>
        <p:txBody>
          <a:bodyPr wrap="square" lIns="0" tIns="0" rIns="0" bIns="0" rtlCol="0" anchor="t"/>
          <a:lstStyle/>
          <a:p>
            <a:pPr indent="0" marL="0">
              <a:buNone/>
            </a:pPr>
            <a:r>
              <a:rPr lang="en-US" sz="2000" b="1" dirty="0">
                <a:solidFill>
                  <a:schemeClr val="accent1"/>
                </a:solidFill>
                <a:latin typeface="Arial" pitchFamily="34" charset="0"/>
                <a:ea typeface="Arial" pitchFamily="34" charset="-122"/>
                <a:cs typeface="Arial" pitchFamily="34" charset="-120"/>
              </a:rPr>
              <a:t>Your rules</a:t>
            </a:r>
            <a:endParaRPr lang="en-US" sz="2000" dirty="0"/>
          </a:p>
        </p:txBody>
      </p:sp>
      <p:sp>
        <p:nvSpPr>
          <p:cNvPr id="5" name="icon-circle-572"/>
          <p:cNvSpPr/>
          <p:nvPr/>
        </p:nvSpPr>
        <p:spPr>
          <a:xfrm>
            <a:off x="868680" y="2331720"/>
            <a:ext cx="502920" cy="502920"/>
          </a:xfrm>
          <a:prstGeom prst="ellipse">
            <a:avLst/>
          </a:prstGeom>
          <a:solidFill>
            <a:schemeClr val="accent1"/>
          </a:solidFill>
          <a:ln/>
        </p:spPr>
      </p:sp>
      <p:pic>
        <p:nvPicPr>
          <p:cNvPr id="6" name="icon-573" descr="preencoded.png">    </p:cNvPr>
          <p:cNvPicPr>
            <a:picLocks noChangeAspect="1"/>
          </p:cNvPicPr>
          <p:nvPr/>
        </p:nvPicPr>
        <p:blipFill>
          <a:blip r:embed="rId1"/>
          <a:stretch>
            <a:fillRect/>
          </a:stretch>
        </p:blipFill>
        <p:spPr>
          <a:xfrm>
            <a:off x="994410" y="2457450"/>
            <a:ext cx="251460" cy="251460"/>
          </a:xfrm>
          <a:prstGeom prst="rect">
            <a:avLst/>
          </a:prstGeom>
        </p:spPr>
      </p:pic>
      <p:sp>
        <p:nvSpPr>
          <p:cNvPr id="7" name="text-574"/>
          <p:cNvSpPr txBox="1"/>
          <p:nvPr/>
        </p:nvSpPr>
        <p:spPr>
          <a:xfrm>
            <a:off x="1554480" y="2286000"/>
            <a:ext cx="4128516" cy="320040"/>
          </a:xfrm>
          <a:prstGeom prst="rect">
            <a:avLst/>
          </a:prstGeom>
          <a:noFill/>
          <a:ln/>
        </p:spPr>
        <p:txBody>
          <a:bodyPr wrap="square" lIns="0" tIns="0" rIns="0" bIns="0" rtlCol="0" anchor="t"/>
          <a:lstStyle/>
          <a:p>
            <a:pPr indent="0" marL="0">
              <a:buNone/>
            </a:pPr>
            <a:r>
              <a:rPr lang="en-US" sz="1600" b="1" dirty="0">
                <a:solidFill>
                  <a:schemeClr val="tx1"/>
                </a:solidFill>
              </a:rPr>
              <a:t>Return within 0.1 s</a:t>
            </a:r>
            <a:endParaRPr lang="en-US" sz="1600" dirty="0"/>
          </a:p>
        </p:txBody>
      </p:sp>
      <p:sp>
        <p:nvSpPr>
          <p:cNvPr id="8" name="text-575"/>
          <p:cNvSpPr txBox="1"/>
          <p:nvPr/>
        </p:nvSpPr>
        <p:spPr>
          <a:xfrm>
            <a:off x="1554480" y="2615184"/>
            <a:ext cx="4128516" cy="502920"/>
          </a:xfrm>
          <a:prstGeom prst="rect">
            <a:avLst/>
          </a:prstGeom>
          <a:noFill/>
          <a:ln/>
        </p:spPr>
        <p:txBody>
          <a:bodyPr wrap="square" lIns="0" tIns="0" rIns="0" bIns="0" rtlCol="0" anchor="t"/>
          <a:lstStyle/>
          <a:p>
            <a:pPr indent="0" marL="0">
              <a:buNone/>
            </a:pPr>
            <a:r>
              <a:rPr lang="en-US" sz="1400" dirty="0">
                <a:solidFill>
                  <a:schemeClr val="tx2"/>
                </a:solidFill>
              </a:rPr>
              <a:t>Slower calls stop the controller.</a:t>
            </a:r>
            <a:endParaRPr lang="en-US" sz="1400" dirty="0"/>
          </a:p>
        </p:txBody>
      </p:sp>
      <p:sp>
        <p:nvSpPr>
          <p:cNvPr id="9" name="icon-circle-576"/>
          <p:cNvSpPr/>
          <p:nvPr/>
        </p:nvSpPr>
        <p:spPr>
          <a:xfrm>
            <a:off x="868680" y="3246120"/>
            <a:ext cx="502920" cy="502920"/>
          </a:xfrm>
          <a:prstGeom prst="ellipse">
            <a:avLst/>
          </a:prstGeom>
          <a:solidFill>
            <a:schemeClr val="accent1"/>
          </a:solidFill>
          <a:ln/>
        </p:spPr>
      </p:sp>
      <p:pic>
        <p:nvPicPr>
          <p:cNvPr id="10" name="icon-577" descr="preencoded.png">    </p:cNvPr>
          <p:cNvPicPr>
            <a:picLocks noChangeAspect="1"/>
          </p:cNvPicPr>
          <p:nvPr/>
        </p:nvPicPr>
        <p:blipFill>
          <a:blip r:embed="rId2"/>
          <a:stretch>
            <a:fillRect/>
          </a:stretch>
        </p:blipFill>
        <p:spPr>
          <a:xfrm>
            <a:off x="994410" y="3371850"/>
            <a:ext cx="251460" cy="251460"/>
          </a:xfrm>
          <a:prstGeom prst="rect">
            <a:avLst/>
          </a:prstGeom>
        </p:spPr>
      </p:pic>
      <p:sp>
        <p:nvSpPr>
          <p:cNvPr id="11" name="text-578"/>
          <p:cNvSpPr txBox="1"/>
          <p:nvPr/>
        </p:nvSpPr>
        <p:spPr>
          <a:xfrm>
            <a:off x="1554480" y="3200400"/>
            <a:ext cx="4128516" cy="320040"/>
          </a:xfrm>
          <a:prstGeom prst="rect">
            <a:avLst/>
          </a:prstGeom>
          <a:noFill/>
          <a:ln/>
        </p:spPr>
        <p:txBody>
          <a:bodyPr wrap="square" lIns="0" tIns="0" rIns="0" bIns="0" rtlCol="0" anchor="t"/>
          <a:lstStyle/>
          <a:p>
            <a:pPr indent="0" marL="0">
              <a:buNone/>
            </a:pPr>
            <a:r>
              <a:rPr lang="en-US" sz="1600" b="1" dirty="0">
                <a:solidFill>
                  <a:schemeClr val="tx1"/>
                </a:solidFill>
              </a:rPr>
              <a:t>No loops or sleep</a:t>
            </a:r>
            <a:endParaRPr lang="en-US" sz="1600" dirty="0"/>
          </a:p>
        </p:txBody>
      </p:sp>
      <p:sp>
        <p:nvSpPr>
          <p:cNvPr id="12" name="text-579"/>
          <p:cNvSpPr txBox="1"/>
          <p:nvPr/>
        </p:nvSpPr>
        <p:spPr>
          <a:xfrm>
            <a:off x="1554480" y="3529584"/>
            <a:ext cx="4128516" cy="502920"/>
          </a:xfrm>
          <a:prstGeom prst="rect">
            <a:avLst/>
          </a:prstGeom>
          <a:noFill/>
          <a:ln/>
        </p:spPr>
        <p:txBody>
          <a:bodyPr wrap="square" lIns="0" tIns="0" rIns="0" bIns="0" rtlCol="0" anchor="t"/>
          <a:lstStyle/>
          <a:p>
            <a:pPr indent="0" marL="0">
              <a:buNone/>
            </a:pPr>
            <a:r>
              <a:rPr lang="en-US" sz="1400" dirty="0">
                <a:solidFill>
                  <a:schemeClr val="tx2"/>
                </a:solidFill>
              </a:rPr>
              <a:t>Return one command per call; the runtime runs the loop.</a:t>
            </a:r>
            <a:endParaRPr lang="en-US" sz="1400" dirty="0"/>
          </a:p>
        </p:txBody>
      </p:sp>
      <p:sp>
        <p:nvSpPr>
          <p:cNvPr id="13" name="icon-circle-580"/>
          <p:cNvSpPr/>
          <p:nvPr/>
        </p:nvSpPr>
        <p:spPr>
          <a:xfrm>
            <a:off x="868680" y="4160520"/>
            <a:ext cx="502920" cy="502920"/>
          </a:xfrm>
          <a:prstGeom prst="ellipse">
            <a:avLst/>
          </a:prstGeom>
          <a:solidFill>
            <a:schemeClr val="accent1"/>
          </a:solidFill>
          <a:ln/>
        </p:spPr>
      </p:sp>
      <p:pic>
        <p:nvPicPr>
          <p:cNvPr id="14" name="icon-581" descr="preencoded.png">    </p:cNvPr>
          <p:cNvPicPr>
            <a:picLocks noChangeAspect="1"/>
          </p:cNvPicPr>
          <p:nvPr/>
        </p:nvPicPr>
        <p:blipFill>
          <a:blip r:embed="rId3"/>
          <a:stretch>
            <a:fillRect/>
          </a:stretch>
        </p:blipFill>
        <p:spPr>
          <a:xfrm>
            <a:off x="994410" y="4286250"/>
            <a:ext cx="251460" cy="251460"/>
          </a:xfrm>
          <a:prstGeom prst="rect">
            <a:avLst/>
          </a:prstGeom>
        </p:spPr>
      </p:pic>
      <p:sp>
        <p:nvSpPr>
          <p:cNvPr id="15" name="text-582"/>
          <p:cNvSpPr txBox="1"/>
          <p:nvPr/>
        </p:nvSpPr>
        <p:spPr>
          <a:xfrm>
            <a:off x="1554480" y="4114800"/>
            <a:ext cx="4128516" cy="320040"/>
          </a:xfrm>
          <a:prstGeom prst="rect">
            <a:avLst/>
          </a:prstGeom>
          <a:noFill/>
          <a:ln/>
        </p:spPr>
        <p:txBody>
          <a:bodyPr wrap="square" lIns="0" tIns="0" rIns="0" bIns="0" rtlCol="0" anchor="t"/>
          <a:lstStyle/>
          <a:p>
            <a:pPr indent="0" marL="0">
              <a:buNone/>
            </a:pPr>
            <a:r>
              <a:rPr lang="en-US" sz="1600" b="1" dirty="0">
                <a:solidFill>
                  <a:schemeClr val="tx1"/>
                </a:solidFill>
              </a:rPr>
              <a:t>Unsure? Stop.</a:t>
            </a:r>
            <a:endParaRPr lang="en-US" sz="1600" dirty="0"/>
          </a:p>
        </p:txBody>
      </p:sp>
      <p:sp>
        <p:nvSpPr>
          <p:cNvPr id="16" name="text-583"/>
          <p:cNvSpPr txBox="1"/>
          <p:nvPr/>
        </p:nvSpPr>
        <p:spPr>
          <a:xfrm>
            <a:off x="1554480" y="4443984"/>
            <a:ext cx="4128516" cy="502920"/>
          </a:xfrm>
          <a:prstGeom prst="rect">
            <a:avLst/>
          </a:prstGeom>
          <a:noFill/>
          <a:ln/>
        </p:spPr>
        <p:txBody>
          <a:bodyPr wrap="square" lIns="0" tIns="0" rIns="0" bIns="0" rtlCol="0" anchor="t"/>
          <a:lstStyle/>
          <a:p>
            <a:pPr indent="0" marL="0">
              <a:buNone/>
            </a:pPr>
            <a:r>
              <a:rPr lang="en-US" sz="1400" dirty="0">
                <a:solidFill>
                  <a:schemeClr val="tx2"/>
                </a:solidFill>
              </a:rPr>
              <a:t>Return DriveCommand() when no valid choice exists.</a:t>
            </a:r>
            <a:endParaRPr lang="en-US" sz="1400" dirty="0"/>
          </a:p>
        </p:txBody>
      </p:sp>
      <p:sp>
        <p:nvSpPr>
          <p:cNvPr id="17" name="icon-circle-584"/>
          <p:cNvSpPr/>
          <p:nvPr/>
        </p:nvSpPr>
        <p:spPr>
          <a:xfrm>
            <a:off x="868680" y="5074920"/>
            <a:ext cx="502920" cy="502920"/>
          </a:xfrm>
          <a:prstGeom prst="ellipse">
            <a:avLst/>
          </a:prstGeom>
          <a:solidFill>
            <a:schemeClr val="accent1"/>
          </a:solidFill>
          <a:ln/>
        </p:spPr>
      </p:sp>
      <p:pic>
        <p:nvPicPr>
          <p:cNvPr id="18" name="icon-585" descr="preencoded.png">    </p:cNvPr>
          <p:cNvPicPr>
            <a:picLocks noChangeAspect="1"/>
          </p:cNvPicPr>
          <p:nvPr/>
        </p:nvPicPr>
        <p:blipFill>
          <a:blip r:embed="rId4"/>
          <a:stretch>
            <a:fillRect/>
          </a:stretch>
        </p:blipFill>
        <p:spPr>
          <a:xfrm>
            <a:off x="994410" y="5200650"/>
            <a:ext cx="251460" cy="251460"/>
          </a:xfrm>
          <a:prstGeom prst="rect">
            <a:avLst/>
          </a:prstGeom>
        </p:spPr>
      </p:pic>
      <p:sp>
        <p:nvSpPr>
          <p:cNvPr id="19" name="text-586"/>
          <p:cNvSpPr txBox="1"/>
          <p:nvPr/>
        </p:nvSpPr>
        <p:spPr>
          <a:xfrm>
            <a:off x="1554480" y="5029200"/>
            <a:ext cx="4128516" cy="320040"/>
          </a:xfrm>
          <a:prstGeom prst="rect">
            <a:avLst/>
          </a:prstGeom>
          <a:noFill/>
          <a:ln/>
        </p:spPr>
        <p:txBody>
          <a:bodyPr wrap="square" lIns="0" tIns="0" rIns="0" bIns="0" rtlCol="0" anchor="t"/>
          <a:lstStyle/>
          <a:p>
            <a:pPr indent="0" marL="0">
              <a:buNone/>
            </a:pPr>
            <a:r>
              <a:rPr lang="en-US" sz="1600" b="1" dirty="0">
                <a:solidFill>
                  <a:schemeClr val="tx1"/>
                </a:solidFill>
              </a:rPr>
              <a:t>Errors stop the car</a:t>
            </a:r>
            <a:endParaRPr lang="en-US" sz="1600" dirty="0"/>
          </a:p>
        </p:txBody>
      </p:sp>
      <p:sp>
        <p:nvSpPr>
          <p:cNvPr id="20" name="text-587"/>
          <p:cNvSpPr txBox="1"/>
          <p:nvPr/>
        </p:nvSpPr>
        <p:spPr>
          <a:xfrm>
            <a:off x="1554480" y="5358384"/>
            <a:ext cx="4128516" cy="502920"/>
          </a:xfrm>
          <a:prstGeom prst="rect">
            <a:avLst/>
          </a:prstGeom>
          <a:noFill/>
          <a:ln/>
        </p:spPr>
        <p:txBody>
          <a:bodyPr wrap="square" lIns="0" tIns="0" rIns="0" bIns="0" rtlCol="0" anchor="t"/>
          <a:lstStyle/>
          <a:p>
            <a:pPr indent="0" marL="0">
              <a:buNone/>
            </a:pPr>
            <a:r>
              <a:rPr lang="en-US" sz="1400" dirty="0">
                <a:solidFill>
                  <a:schemeClr val="tx2"/>
                </a:solidFill>
              </a:rPr>
              <a:t>Exceptions or invalid output halt it until you fix and restart.</a:t>
            </a:r>
            <a:endParaRPr lang="en-US" sz="1400" dirty="0"/>
          </a:p>
        </p:txBody>
      </p:sp>
      <p:sp>
        <p:nvSpPr>
          <p:cNvPr id="21" name="card-588"/>
          <p:cNvSpPr/>
          <p:nvPr/>
        </p:nvSpPr>
        <p:spPr>
          <a:xfrm>
            <a:off x="6231636" y="1463040"/>
            <a:ext cx="5408676" cy="4572000"/>
          </a:xfrm>
          <a:prstGeom prst="roundRect">
            <a:avLst>
              <a:gd name="adj" fmla="val 1600"/>
            </a:avLst>
          </a:prstGeom>
          <a:solidFill>
            <a:schemeClr val="bg1"/>
          </a:solidFill>
          <a:ln/>
          <a:effectLst>
            <a:outerShdw sx="100000" sy="100000" kx="0" ky="0" algn="bl" rotWithShape="0" blurRad="101600" dist="25400" dir="5400000">
              <a:srgbClr val="000000">
                <a:alpha val="12000"/>
              </a:srgbClr>
            </a:outerShdw>
          </a:effectLst>
        </p:spPr>
      </p:sp>
      <p:sp>
        <p:nvSpPr>
          <p:cNvPr id="22" name="text-589"/>
          <p:cNvSpPr txBox="1"/>
          <p:nvPr/>
        </p:nvSpPr>
        <p:spPr>
          <a:xfrm>
            <a:off x="6551676" y="1645920"/>
            <a:ext cx="4768596"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Runtime safety nets</a:t>
            </a:r>
            <a:endParaRPr lang="en-US" sz="2000" dirty="0"/>
          </a:p>
        </p:txBody>
      </p:sp>
      <p:sp>
        <p:nvSpPr>
          <p:cNvPr id="23" name="icon-circle-590"/>
          <p:cNvSpPr/>
          <p:nvPr/>
        </p:nvSpPr>
        <p:spPr>
          <a:xfrm>
            <a:off x="6551676" y="2331720"/>
            <a:ext cx="502920" cy="502920"/>
          </a:xfrm>
          <a:prstGeom prst="ellipse">
            <a:avLst/>
          </a:prstGeom>
          <a:solidFill>
            <a:schemeClr val="tx1"/>
          </a:solidFill>
          <a:ln/>
        </p:spPr>
      </p:sp>
      <p:pic>
        <p:nvPicPr>
          <p:cNvPr id="24" name="icon-591" descr="preencoded.png">    </p:cNvPr>
          <p:cNvPicPr>
            <a:picLocks noChangeAspect="1"/>
          </p:cNvPicPr>
          <p:nvPr/>
        </p:nvPicPr>
        <p:blipFill>
          <a:blip r:embed="rId5"/>
          <a:stretch>
            <a:fillRect/>
          </a:stretch>
        </p:blipFill>
        <p:spPr>
          <a:xfrm>
            <a:off x="6677406" y="2457450"/>
            <a:ext cx="251460" cy="251460"/>
          </a:xfrm>
          <a:prstGeom prst="rect">
            <a:avLst/>
          </a:prstGeom>
        </p:spPr>
      </p:pic>
      <p:sp>
        <p:nvSpPr>
          <p:cNvPr id="25" name="text-592"/>
          <p:cNvSpPr txBox="1"/>
          <p:nvPr/>
        </p:nvSpPr>
        <p:spPr>
          <a:xfrm>
            <a:off x="7237476" y="2286000"/>
            <a:ext cx="4128516" cy="320040"/>
          </a:xfrm>
          <a:prstGeom prst="rect">
            <a:avLst/>
          </a:prstGeom>
          <a:noFill/>
          <a:ln/>
        </p:spPr>
        <p:txBody>
          <a:bodyPr wrap="square" lIns="0" tIns="0" rIns="0" bIns="0" rtlCol="0" anchor="t"/>
          <a:lstStyle/>
          <a:p>
            <a:pPr indent="0" marL="0">
              <a:buNone/>
            </a:pPr>
            <a:r>
              <a:rPr lang="en-US" sz="1600" b="1" dirty="0">
                <a:solidFill>
                  <a:schemeClr val="tx1"/>
                </a:solidFill>
              </a:rPr>
              <a:t>Hard limits</a:t>
            </a:r>
            <a:endParaRPr lang="en-US" sz="1600" dirty="0"/>
          </a:p>
        </p:txBody>
      </p:sp>
      <p:sp>
        <p:nvSpPr>
          <p:cNvPr id="26" name="text-593"/>
          <p:cNvSpPr txBox="1"/>
          <p:nvPr/>
        </p:nvSpPr>
        <p:spPr>
          <a:xfrm>
            <a:off x="7237476" y="2615184"/>
            <a:ext cx="4128516" cy="502920"/>
          </a:xfrm>
          <a:prstGeom prst="rect">
            <a:avLst/>
          </a:prstGeom>
          <a:noFill/>
          <a:ln/>
        </p:spPr>
        <p:txBody>
          <a:bodyPr wrap="square" lIns="0" tIns="0" rIns="0" bIns="0" rtlCol="0" anchor="t"/>
          <a:lstStyle/>
          <a:p>
            <a:pPr indent="0" marL="0">
              <a:buNone/>
            </a:pPr>
            <a:r>
              <a:rPr lang="en-US" sz="1400" dirty="0">
                <a:solidFill>
                  <a:schemeClr val="tx2"/>
                </a:solidFill>
              </a:rPr>
              <a:t>Speed capped at 1 m/s, steering at ±30°.</a:t>
            </a:r>
            <a:endParaRPr lang="en-US" sz="1400" dirty="0"/>
          </a:p>
        </p:txBody>
      </p:sp>
      <p:sp>
        <p:nvSpPr>
          <p:cNvPr id="27" name="icon-circle-594"/>
          <p:cNvSpPr/>
          <p:nvPr/>
        </p:nvSpPr>
        <p:spPr>
          <a:xfrm>
            <a:off x="6551676" y="3246120"/>
            <a:ext cx="502920" cy="502920"/>
          </a:xfrm>
          <a:prstGeom prst="ellipse">
            <a:avLst/>
          </a:prstGeom>
          <a:solidFill>
            <a:schemeClr val="tx1"/>
          </a:solidFill>
          <a:ln/>
        </p:spPr>
      </p:sp>
      <p:pic>
        <p:nvPicPr>
          <p:cNvPr id="28" name="icon-595" descr="preencoded.png">    </p:cNvPr>
          <p:cNvPicPr>
            <a:picLocks noChangeAspect="1"/>
          </p:cNvPicPr>
          <p:nvPr/>
        </p:nvPicPr>
        <p:blipFill>
          <a:blip r:embed="rId6"/>
          <a:stretch>
            <a:fillRect/>
          </a:stretch>
        </p:blipFill>
        <p:spPr>
          <a:xfrm>
            <a:off x="6677406" y="3371850"/>
            <a:ext cx="251460" cy="251460"/>
          </a:xfrm>
          <a:prstGeom prst="rect">
            <a:avLst/>
          </a:prstGeom>
        </p:spPr>
      </p:pic>
      <p:sp>
        <p:nvSpPr>
          <p:cNvPr id="29" name="text-596"/>
          <p:cNvSpPr txBox="1"/>
          <p:nvPr/>
        </p:nvSpPr>
        <p:spPr>
          <a:xfrm>
            <a:off x="7237476" y="3200400"/>
            <a:ext cx="4128516" cy="320040"/>
          </a:xfrm>
          <a:prstGeom prst="rect">
            <a:avLst/>
          </a:prstGeom>
          <a:noFill/>
          <a:ln/>
        </p:spPr>
        <p:txBody>
          <a:bodyPr wrap="square" lIns="0" tIns="0" rIns="0" bIns="0" rtlCol="0" anchor="t"/>
          <a:lstStyle/>
          <a:p>
            <a:pPr indent="0" marL="0">
              <a:buNone/>
            </a:pPr>
            <a:r>
              <a:rPr lang="en-US" sz="1600" b="1" dirty="0">
                <a:solidFill>
                  <a:schemeClr val="tx1"/>
                </a:solidFill>
              </a:rPr>
              <a:t>Command expiry</a:t>
            </a:r>
            <a:endParaRPr lang="en-US" sz="1600" dirty="0"/>
          </a:p>
        </p:txBody>
      </p:sp>
      <p:sp>
        <p:nvSpPr>
          <p:cNvPr id="30" name="text-597"/>
          <p:cNvSpPr txBox="1"/>
          <p:nvPr/>
        </p:nvSpPr>
        <p:spPr>
          <a:xfrm>
            <a:off x="7237476" y="3529584"/>
            <a:ext cx="4128516" cy="502920"/>
          </a:xfrm>
          <a:prstGeom prst="rect">
            <a:avLst/>
          </a:prstGeom>
          <a:noFill/>
          <a:ln/>
        </p:spPr>
        <p:txBody>
          <a:bodyPr wrap="square" lIns="0" tIns="0" rIns="0" bIns="0" rtlCol="0" anchor="t"/>
          <a:lstStyle/>
          <a:p>
            <a:pPr indent="0" marL="0">
              <a:buNone/>
            </a:pPr>
            <a:r>
              <a:rPr lang="en-US" sz="1400" dirty="0">
                <a:solidFill>
                  <a:schemeClr val="tx2"/>
                </a:solidFill>
              </a:rPr>
              <a:t>The bridge drops commands older than 0.5 s, even if your code hangs.</a:t>
            </a:r>
            <a:endParaRPr lang="en-US" sz="1400" dirty="0"/>
          </a:p>
        </p:txBody>
      </p:sp>
      <p:sp>
        <p:nvSpPr>
          <p:cNvPr id="31" name="icon-circle-598"/>
          <p:cNvSpPr/>
          <p:nvPr/>
        </p:nvSpPr>
        <p:spPr>
          <a:xfrm>
            <a:off x="6551676" y="4160520"/>
            <a:ext cx="502920" cy="502920"/>
          </a:xfrm>
          <a:prstGeom prst="ellipse">
            <a:avLst/>
          </a:prstGeom>
          <a:solidFill>
            <a:schemeClr val="tx1"/>
          </a:solidFill>
          <a:ln/>
        </p:spPr>
      </p:sp>
      <p:pic>
        <p:nvPicPr>
          <p:cNvPr id="32" name="icon-599" descr="preencoded.png">    </p:cNvPr>
          <p:cNvPicPr>
            <a:picLocks noChangeAspect="1"/>
          </p:cNvPicPr>
          <p:nvPr/>
        </p:nvPicPr>
        <p:blipFill>
          <a:blip r:embed="rId7"/>
          <a:stretch>
            <a:fillRect/>
          </a:stretch>
        </p:blipFill>
        <p:spPr>
          <a:xfrm>
            <a:off x="6677406" y="4286250"/>
            <a:ext cx="251460" cy="251460"/>
          </a:xfrm>
          <a:prstGeom prst="rect">
            <a:avLst/>
          </a:prstGeom>
        </p:spPr>
      </p:pic>
      <p:sp>
        <p:nvSpPr>
          <p:cNvPr id="33" name="text-600"/>
          <p:cNvSpPr txBox="1"/>
          <p:nvPr/>
        </p:nvSpPr>
        <p:spPr>
          <a:xfrm>
            <a:off x="7237476" y="4114800"/>
            <a:ext cx="4128516" cy="320040"/>
          </a:xfrm>
          <a:prstGeom prst="rect">
            <a:avLst/>
          </a:prstGeom>
          <a:noFill/>
          <a:ln/>
        </p:spPr>
        <p:txBody>
          <a:bodyPr wrap="square" lIns="0" tIns="0" rIns="0" bIns="0" rtlCol="0" anchor="t"/>
          <a:lstStyle/>
          <a:p>
            <a:pPr indent="0" marL="0">
              <a:buNone/>
            </a:pPr>
            <a:r>
              <a:rPr lang="en-US" sz="1600" b="1" dirty="0">
                <a:solidFill>
                  <a:schemeClr val="tx1"/>
                </a:solidFill>
              </a:rPr>
              <a:t>Front guard</a:t>
            </a:r>
            <a:endParaRPr lang="en-US" sz="1600" dirty="0"/>
          </a:p>
        </p:txBody>
      </p:sp>
      <p:sp>
        <p:nvSpPr>
          <p:cNvPr id="34" name="text-601"/>
          <p:cNvSpPr txBox="1"/>
          <p:nvPr/>
        </p:nvSpPr>
        <p:spPr>
          <a:xfrm>
            <a:off x="7237476" y="4443984"/>
            <a:ext cx="4128516" cy="502920"/>
          </a:xfrm>
          <a:prstGeom prst="rect">
            <a:avLst/>
          </a:prstGeom>
          <a:noFill/>
          <a:ln/>
        </p:spPr>
        <p:txBody>
          <a:bodyPr wrap="square" lIns="0" tIns="0" rIns="0" bIns="0" rtlCol="0" anchor="t"/>
          <a:lstStyle/>
          <a:p>
            <a:pPr indent="0" marL="0">
              <a:buNone/>
            </a:pPr>
            <a:r>
              <a:rPr lang="en-US" sz="1400" dirty="0">
                <a:solidFill>
                  <a:schemeClr val="tx2"/>
                </a:solidFill>
              </a:rPr>
              <a:t>Throttle is cut if anything is within 0.35 m in the ±12° front cone.</a:t>
            </a:r>
            <a:endParaRPr lang="en-US" sz="1400" dirty="0"/>
          </a:p>
        </p:txBody>
      </p:sp>
      <p:sp>
        <p:nvSpPr>
          <p:cNvPr id="35" name="icon-circle-602"/>
          <p:cNvSpPr/>
          <p:nvPr/>
        </p:nvSpPr>
        <p:spPr>
          <a:xfrm>
            <a:off x="6551676" y="5074920"/>
            <a:ext cx="502920" cy="502920"/>
          </a:xfrm>
          <a:prstGeom prst="ellipse">
            <a:avLst/>
          </a:prstGeom>
          <a:solidFill>
            <a:schemeClr val="tx1"/>
          </a:solidFill>
          <a:ln/>
        </p:spPr>
      </p:sp>
      <p:pic>
        <p:nvPicPr>
          <p:cNvPr id="36" name="icon-603" descr="preencoded.png">    </p:cNvPr>
          <p:cNvPicPr>
            <a:picLocks noChangeAspect="1"/>
          </p:cNvPicPr>
          <p:nvPr/>
        </p:nvPicPr>
        <p:blipFill>
          <a:blip r:embed="rId8"/>
          <a:stretch>
            <a:fillRect/>
          </a:stretch>
        </p:blipFill>
        <p:spPr>
          <a:xfrm>
            <a:off x="6677406" y="5200650"/>
            <a:ext cx="251460" cy="251460"/>
          </a:xfrm>
          <a:prstGeom prst="rect">
            <a:avLst/>
          </a:prstGeom>
        </p:spPr>
      </p:pic>
      <p:sp>
        <p:nvSpPr>
          <p:cNvPr id="37" name="text-604"/>
          <p:cNvSpPr txBox="1"/>
          <p:nvPr/>
        </p:nvSpPr>
        <p:spPr>
          <a:xfrm>
            <a:off x="7237476" y="5029200"/>
            <a:ext cx="4128516" cy="320040"/>
          </a:xfrm>
          <a:prstGeom prst="rect">
            <a:avLst/>
          </a:prstGeom>
          <a:noFill/>
          <a:ln/>
        </p:spPr>
        <p:txBody>
          <a:bodyPr wrap="square" lIns="0" tIns="0" rIns="0" bIns="0" rtlCol="0" anchor="t"/>
          <a:lstStyle/>
          <a:p>
            <a:pPr indent="0" marL="0">
              <a:buNone/>
            </a:pPr>
            <a:r>
              <a:rPr lang="en-US" sz="1600" b="1" dirty="0">
                <a:solidFill>
                  <a:schemeClr val="tx1"/>
                </a:solidFill>
              </a:rPr>
              <a:t>Not a crash shield</a:t>
            </a:r>
            <a:endParaRPr lang="en-US" sz="1600" dirty="0"/>
          </a:p>
        </p:txBody>
      </p:sp>
      <p:sp>
        <p:nvSpPr>
          <p:cNvPr id="38" name="text-605"/>
          <p:cNvSpPr txBox="1"/>
          <p:nvPr/>
        </p:nvSpPr>
        <p:spPr>
          <a:xfrm>
            <a:off x="7237476" y="5358384"/>
            <a:ext cx="4128516" cy="502920"/>
          </a:xfrm>
          <a:prstGeom prst="rect">
            <a:avLst/>
          </a:prstGeom>
          <a:noFill/>
          <a:ln/>
        </p:spPr>
        <p:txBody>
          <a:bodyPr wrap="square" lIns="0" tIns="0" rIns="0" bIns="0" rtlCol="0" anchor="t"/>
          <a:lstStyle/>
          <a:p>
            <a:pPr indent="0" marL="0">
              <a:buNone/>
            </a:pPr>
            <a:r>
              <a:rPr lang="en-US" sz="1400" dirty="0">
                <a:solidFill>
                  <a:schemeClr val="tx2"/>
                </a:solidFill>
              </a:rPr>
              <a:t>Zero throttle is not an instant stop. Brake early yourself.</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606"/>
          <p:cNvSpPr txBox="1"/>
          <p:nvPr/>
        </p:nvSpPr>
        <p:spPr>
          <a:xfrm>
            <a:off x="731520" y="1417320"/>
            <a:ext cx="2743200" cy="1371600"/>
          </a:xfrm>
          <a:prstGeom prst="rect">
            <a:avLst/>
          </a:prstGeom>
          <a:noFill/>
          <a:ln/>
        </p:spPr>
        <p:txBody>
          <a:bodyPr wrap="square" lIns="0" tIns="0" rIns="0" bIns="0" rtlCol="0" anchor="b"/>
          <a:lstStyle/>
          <a:p>
            <a:pPr indent="0" marL="0">
              <a:buNone/>
            </a:pPr>
            <a:r>
              <a:rPr lang="en-US" sz="8000" b="1" dirty="0">
                <a:solidFill>
                  <a:schemeClr val="accent1"/>
                </a:solidFill>
                <a:latin typeface="Arial" pitchFamily="34" charset="0"/>
                <a:ea typeface="Arial" pitchFamily="34" charset="-122"/>
                <a:cs typeface="Arial" pitchFamily="34" charset="-120"/>
              </a:rPr>
              <a:t>04</a:t>
            </a:r>
            <a:endParaRPr lang="en-US" sz="8000" dirty="0"/>
          </a:p>
        </p:txBody>
      </p:sp>
      <p:sp>
        <p:nvSpPr>
          <p:cNvPr id="3" name="Text 0"/>
          <p:cNvSpPr/>
          <p:nvPr>
            <p:ph idx="100" type="title" hasCustomPrompt="1"/>
          </p:nvPr>
        </p:nvSpPr>
        <p:spPr>
          <a:xfrm>
            <a:off x="731520" y="2926080"/>
            <a:ext cx="7680960" cy="1005840"/>
          </a:xfrm>
          <a:prstGeom prst="rect">
            <a:avLst/>
          </a:prstGeom>
          <a:noFill/>
          <a:ln/>
        </p:spPr>
        <p:txBody>
          <a:bodyPr wrap="square" lIns="0" tIns="0" rIns="0" bIns="0" rtlCol="0" anchor="ctr"/>
          <a:lstStyle/>
          <a:p>
            <a:pPr algn="l" indent="0" marL="0">
              <a:buNone/>
            </a:pPr>
            <a:r>
              <a:rPr lang="en-US" sz="4000" b="1" dirty="0">
                <a:solidFill>
                  <a:schemeClr val="bg1"/>
                </a:solidFill>
              </a:rPr>
              <a:t>Driving algorithms</a:t>
            </a:r>
            <a:endParaRPr lang="en-US" sz="4000" dirty="0"/>
          </a:p>
        </p:txBody>
      </p:sp>
      <p:sp>
        <p:nvSpPr>
          <p:cNvPr id="4" name="Text 0"/>
          <p:cNvSpPr/>
          <p:nvPr>
            <p:ph idx="101" type="body" hasCustomPrompt="1"/>
          </p:nvPr>
        </p:nvSpPr>
        <p:spPr>
          <a:xfrm>
            <a:off x="731520" y="4023360"/>
            <a:ext cx="7315200" cy="914400"/>
          </a:xfrm>
          <a:prstGeom prst="rect">
            <a:avLst/>
          </a:prstGeom>
          <a:noFill/>
          <a:ln/>
        </p:spPr>
        <p:txBody>
          <a:bodyPr wrap="square" lIns="0" tIns="0" rIns="0" bIns="0" rtlCol="0" anchor="t"/>
          <a:lstStyle/>
          <a:p>
            <a:pPr algn="l" indent="0" marL="0">
              <a:buNone/>
            </a:pPr>
            <a:r>
              <a:rPr lang="en-US" sz="1800" dirty="0">
                <a:solidFill>
                  <a:schemeClr val="bg2"/>
                </a:solidFill>
              </a:rPr>
              <a:t>The classic RoboRacer toolkit: brake, follow a wall, follow the gap, steer smoothly</a:t>
            </a:r>
            <a:endParaRPr lang="en-US" sz="1800" dirty="0"/>
          </a:p>
        </p:txBody>
      </p:sp>
      <p:sp>
        <p:nvSpPr>
          <p:cNvPr id="5" name="icon-circle-607"/>
          <p:cNvSpPr/>
          <p:nvPr/>
        </p:nvSpPr>
        <p:spPr>
          <a:xfrm>
            <a:off x="9052560" y="2240280"/>
            <a:ext cx="2194560" cy="2194560"/>
          </a:xfrm>
          <a:prstGeom prst="ellipse">
            <a:avLst/>
          </a:prstGeom>
          <a:solidFill>
            <a:schemeClr val="accent1"/>
          </a:solidFill>
          <a:ln/>
        </p:spPr>
      </p:sp>
      <p:pic>
        <p:nvPicPr>
          <p:cNvPr id="6" name="icon-608" descr="preencoded.png">    </p:cNvPr>
          <p:cNvPicPr>
            <a:picLocks noChangeAspect="1"/>
          </p:cNvPicPr>
          <p:nvPr/>
        </p:nvPicPr>
        <p:blipFill>
          <a:blip r:embed="rId1"/>
          <a:stretch>
            <a:fillRect/>
          </a:stretch>
        </p:blipFill>
        <p:spPr>
          <a:xfrm>
            <a:off x="9601200" y="2788920"/>
            <a:ext cx="1097280" cy="109728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Safety first: time to collision</a:t>
            </a:r>
            <a:endParaRPr lang="en-US" sz="3600" dirty="0"/>
          </a:p>
        </p:txBody>
      </p:sp>
      <p:sp>
        <p:nvSpPr>
          <p:cNvPr id="3" name="ttc-formula"/>
          <p:cNvSpPr/>
          <p:nvPr/>
        </p:nvSpPr>
        <p:spPr>
          <a:xfrm>
            <a:off x="548640" y="1463040"/>
            <a:ext cx="3931920" cy="1325880"/>
          </a:xfrm>
          <a:prstGeom prst="roundRect">
            <a:avLst>
              <a:gd name="adj" fmla="val 5517"/>
            </a:avLst>
          </a:prstGeom>
          <a:solidFill>
            <a:schemeClr val="tx1"/>
          </a:solidFill>
          <a:ln/>
          <a:effectLst>
            <a:outerShdw sx="100000" sy="100000" kx="0" ky="0" algn="bl" rotWithShape="0" blurRad="101600" dist="25400" dir="5400000">
              <a:srgbClr val="000000">
                <a:alpha val="12000"/>
              </a:srgbClr>
            </a:outerShdw>
          </a:effectLst>
        </p:spPr>
      </p:sp>
      <p:sp>
        <p:nvSpPr>
          <p:cNvPr id="4" name="text-609"/>
          <p:cNvSpPr txBox="1"/>
          <p:nvPr/>
        </p:nvSpPr>
        <p:spPr>
          <a:xfrm>
            <a:off x="777240" y="1600200"/>
            <a:ext cx="3566160" cy="640080"/>
          </a:xfrm>
          <a:prstGeom prst="rect">
            <a:avLst/>
          </a:prstGeom>
          <a:noFill/>
          <a:ln/>
        </p:spPr>
        <p:txBody>
          <a:bodyPr wrap="square" lIns="0" tIns="0" rIns="0" bIns="0" rtlCol="0" anchor="ctr"/>
          <a:lstStyle/>
          <a:p>
            <a:pPr indent="0" marL="0">
              <a:buNone/>
            </a:pPr>
            <a:r>
              <a:rPr lang="en-US" sz="2100" b="1" dirty="0">
                <a:solidFill>
                  <a:schemeClr val="bg1"/>
                </a:solidFill>
                <a:latin typeface="Arial" pitchFamily="34" charset="0"/>
                <a:ea typeface="Arial" pitchFamily="34" charset="-122"/>
                <a:cs typeface="Arial" pitchFamily="34" charset="-120"/>
              </a:rPr>
              <a:t>TTC = r / max(v·cos θ, 0)</a:t>
            </a:r>
            <a:endParaRPr lang="en-US" sz="2100" dirty="0"/>
          </a:p>
        </p:txBody>
      </p:sp>
      <p:sp>
        <p:nvSpPr>
          <p:cNvPr id="5" name="text-610"/>
          <p:cNvSpPr txBox="1"/>
          <p:nvPr/>
        </p:nvSpPr>
        <p:spPr>
          <a:xfrm>
            <a:off x="777240" y="2240280"/>
            <a:ext cx="3566160" cy="365760"/>
          </a:xfrm>
          <a:prstGeom prst="rect">
            <a:avLst/>
          </a:prstGeom>
          <a:noFill/>
          <a:ln/>
        </p:spPr>
        <p:txBody>
          <a:bodyPr wrap="square" lIns="0" tIns="0" rIns="0" bIns="0" rtlCol="0" anchor="t"/>
          <a:lstStyle/>
          <a:p>
            <a:pPr indent="0" marL="0">
              <a:buNone/>
            </a:pPr>
            <a:r>
              <a:rPr lang="en-US" sz="1400" dirty="0">
                <a:solidFill>
                  <a:schemeClr val="accent6"/>
                </a:solidFill>
              </a:rPr>
              <a:t>Seconds until we reach what this ray sees</a:t>
            </a:r>
            <a:endParaRPr lang="en-US" sz="1400" dirty="0"/>
          </a:p>
        </p:txBody>
      </p:sp>
      <p:sp>
        <p:nvSpPr>
          <p:cNvPr id="6" name="card-611"/>
          <p:cNvSpPr/>
          <p:nvPr/>
        </p:nvSpPr>
        <p:spPr>
          <a:xfrm>
            <a:off x="548640" y="3063240"/>
            <a:ext cx="3931920" cy="822960"/>
          </a:xfrm>
          <a:prstGeom prst="roundRect">
            <a:avLst>
              <a:gd name="adj" fmla="val 8889"/>
            </a:avLst>
          </a:prstGeom>
          <a:solidFill>
            <a:schemeClr val="bg1"/>
          </a:solidFill>
          <a:ln/>
          <a:effectLst>
            <a:outerShdw sx="100000" sy="100000" kx="0" ky="0" algn="bl" rotWithShape="0" blurRad="101600" dist="25400" dir="5400000">
              <a:srgbClr val="000000">
                <a:alpha val="12000"/>
              </a:srgbClr>
            </a:outerShdw>
          </a:effectLst>
        </p:spPr>
      </p:sp>
      <p:sp>
        <p:nvSpPr>
          <p:cNvPr id="7" name="text-612"/>
          <p:cNvSpPr txBox="1"/>
          <p:nvPr/>
        </p:nvSpPr>
        <p:spPr>
          <a:xfrm>
            <a:off x="777240" y="3063240"/>
            <a:ext cx="1097280" cy="822960"/>
          </a:xfrm>
          <a:prstGeom prst="rect">
            <a:avLst/>
          </a:prstGeom>
          <a:noFill/>
          <a:ln/>
        </p:spPr>
        <p:txBody>
          <a:bodyPr wrap="square" lIns="0" tIns="0" rIns="0" bIns="0" rtlCol="0" anchor="ctr"/>
          <a:lstStyle/>
          <a:p>
            <a:pPr indent="0" marL="0">
              <a:buNone/>
            </a:pPr>
            <a:r>
              <a:rPr lang="en-US" sz="1700" b="1" dirty="0">
                <a:solidFill>
                  <a:schemeClr val="tx1"/>
                </a:solidFill>
              </a:rPr>
              <a:t>r</a:t>
            </a:r>
            <a:endParaRPr lang="en-US" sz="1700" dirty="0"/>
          </a:p>
        </p:txBody>
      </p:sp>
      <p:sp>
        <p:nvSpPr>
          <p:cNvPr id="8" name="text-613"/>
          <p:cNvSpPr txBox="1"/>
          <p:nvPr/>
        </p:nvSpPr>
        <p:spPr>
          <a:xfrm>
            <a:off x="1874520" y="3063240"/>
            <a:ext cx="2468880" cy="822960"/>
          </a:xfrm>
          <a:prstGeom prst="rect">
            <a:avLst/>
          </a:prstGeom>
          <a:noFill/>
          <a:ln/>
        </p:spPr>
        <p:txBody>
          <a:bodyPr wrap="square" lIns="0" tIns="0" rIns="0" bIns="0" rtlCol="0" anchor="ctr"/>
          <a:lstStyle/>
          <a:p>
            <a:pPr indent="0" marL="0">
              <a:buNone/>
            </a:pPr>
            <a:r>
              <a:rPr lang="en-US" sz="1400" dirty="0">
                <a:solidFill>
                  <a:schemeClr val="tx2"/>
                </a:solidFill>
              </a:rPr>
              <a:t>Range of the ray, in metres</a:t>
            </a:r>
            <a:endParaRPr lang="en-US" sz="1400" dirty="0"/>
          </a:p>
        </p:txBody>
      </p:sp>
      <p:sp>
        <p:nvSpPr>
          <p:cNvPr id="9" name="card-614"/>
          <p:cNvSpPr/>
          <p:nvPr/>
        </p:nvSpPr>
        <p:spPr>
          <a:xfrm>
            <a:off x="548640" y="4069080"/>
            <a:ext cx="3931920" cy="822960"/>
          </a:xfrm>
          <a:prstGeom prst="roundRect">
            <a:avLst>
              <a:gd name="adj" fmla="val 8889"/>
            </a:avLst>
          </a:prstGeom>
          <a:solidFill>
            <a:schemeClr val="bg1"/>
          </a:solidFill>
          <a:ln/>
          <a:effectLst>
            <a:outerShdw sx="100000" sy="100000" kx="0" ky="0" algn="bl" rotWithShape="0" blurRad="101600" dist="25400" dir="5400000">
              <a:srgbClr val="000000">
                <a:alpha val="12000"/>
              </a:srgbClr>
            </a:outerShdw>
          </a:effectLst>
        </p:spPr>
      </p:sp>
      <p:sp>
        <p:nvSpPr>
          <p:cNvPr id="10" name="text-615"/>
          <p:cNvSpPr txBox="1"/>
          <p:nvPr/>
        </p:nvSpPr>
        <p:spPr>
          <a:xfrm>
            <a:off x="777240" y="4069080"/>
            <a:ext cx="1097280" cy="822960"/>
          </a:xfrm>
          <a:prstGeom prst="rect">
            <a:avLst/>
          </a:prstGeom>
          <a:noFill/>
          <a:ln/>
        </p:spPr>
        <p:txBody>
          <a:bodyPr wrap="square" lIns="0" tIns="0" rIns="0" bIns="0" rtlCol="0" anchor="ctr"/>
          <a:lstStyle/>
          <a:p>
            <a:pPr indent="0" marL="0">
              <a:buNone/>
            </a:pPr>
            <a:r>
              <a:rPr lang="en-US" sz="1700" b="1" dirty="0">
                <a:solidFill>
                  <a:schemeClr val="tx1"/>
                </a:solidFill>
              </a:rPr>
              <a:t>v · cos θ</a:t>
            </a:r>
            <a:endParaRPr lang="en-US" sz="1700" dirty="0"/>
          </a:p>
        </p:txBody>
      </p:sp>
      <p:sp>
        <p:nvSpPr>
          <p:cNvPr id="11" name="text-616"/>
          <p:cNvSpPr txBox="1"/>
          <p:nvPr/>
        </p:nvSpPr>
        <p:spPr>
          <a:xfrm>
            <a:off x="1874520" y="4069080"/>
            <a:ext cx="2468880" cy="822960"/>
          </a:xfrm>
          <a:prstGeom prst="rect">
            <a:avLst/>
          </a:prstGeom>
          <a:noFill/>
          <a:ln/>
        </p:spPr>
        <p:txBody>
          <a:bodyPr wrap="square" lIns="0" tIns="0" rIns="0" bIns="0" rtlCol="0" anchor="ctr"/>
          <a:lstStyle/>
          <a:p>
            <a:pPr indent="0" marL="0">
              <a:buNone/>
            </a:pPr>
            <a:r>
              <a:rPr lang="en-US" sz="1400" dirty="0">
                <a:solidFill>
                  <a:schemeClr val="tx2"/>
                </a:solidFill>
              </a:rPr>
              <a:t>How fast we close in along that ray</a:t>
            </a:r>
            <a:endParaRPr lang="en-US" sz="1400" dirty="0"/>
          </a:p>
        </p:txBody>
      </p:sp>
      <p:sp>
        <p:nvSpPr>
          <p:cNvPr id="12" name="card-617"/>
          <p:cNvSpPr/>
          <p:nvPr/>
        </p:nvSpPr>
        <p:spPr>
          <a:xfrm>
            <a:off x="548640" y="5074920"/>
            <a:ext cx="3931920" cy="822960"/>
          </a:xfrm>
          <a:prstGeom prst="roundRect">
            <a:avLst>
              <a:gd name="adj" fmla="val 8889"/>
            </a:avLst>
          </a:prstGeom>
          <a:solidFill>
            <a:schemeClr val="bg1"/>
          </a:solidFill>
          <a:ln/>
          <a:effectLst>
            <a:outerShdw sx="100000" sy="100000" kx="0" ky="0" algn="bl" rotWithShape="0" blurRad="101600" dist="25400" dir="5400000">
              <a:srgbClr val="000000">
                <a:alpha val="12000"/>
              </a:srgbClr>
            </a:outerShdw>
          </a:effectLst>
        </p:spPr>
      </p:sp>
      <p:sp>
        <p:nvSpPr>
          <p:cNvPr id="13" name="text-618"/>
          <p:cNvSpPr txBox="1"/>
          <p:nvPr/>
        </p:nvSpPr>
        <p:spPr>
          <a:xfrm>
            <a:off x="777240" y="5074920"/>
            <a:ext cx="1097280" cy="822960"/>
          </a:xfrm>
          <a:prstGeom prst="rect">
            <a:avLst/>
          </a:prstGeom>
          <a:noFill/>
          <a:ln/>
        </p:spPr>
        <p:txBody>
          <a:bodyPr wrap="square" lIns="0" tIns="0" rIns="0" bIns="0" rtlCol="0" anchor="ctr"/>
          <a:lstStyle/>
          <a:p>
            <a:pPr indent="0" marL="0">
              <a:buNone/>
            </a:pPr>
            <a:r>
              <a:rPr lang="en-US" sz="1700" b="1" dirty="0">
                <a:solidFill>
                  <a:schemeClr val="accent1"/>
                </a:solidFill>
              </a:rPr>
              <a:t>Brake</a:t>
            </a:r>
            <a:endParaRPr lang="en-US" sz="1700" dirty="0"/>
          </a:p>
        </p:txBody>
      </p:sp>
      <p:sp>
        <p:nvSpPr>
          <p:cNvPr id="14" name="text-619"/>
          <p:cNvSpPr txBox="1"/>
          <p:nvPr/>
        </p:nvSpPr>
        <p:spPr>
          <a:xfrm>
            <a:off x="1874520" y="5074920"/>
            <a:ext cx="2468880" cy="822960"/>
          </a:xfrm>
          <a:prstGeom prst="rect">
            <a:avLst/>
          </a:prstGeom>
          <a:noFill/>
          <a:ln/>
        </p:spPr>
        <p:txBody>
          <a:bodyPr wrap="square" lIns="0" tIns="0" rIns="0" bIns="0" rtlCol="0" anchor="ctr"/>
          <a:lstStyle/>
          <a:p>
            <a:pPr indent="0" marL="0">
              <a:buNone/>
            </a:pPr>
            <a:r>
              <a:rPr lang="en-US" sz="1400" dirty="0">
                <a:solidFill>
                  <a:schemeClr val="tx2"/>
                </a:solidFill>
              </a:rPr>
              <a:t>If a front ray reads 0 or its TTC drops below a limit (e.g. 0.8 s)</a:t>
            </a:r>
            <a:endParaRPr lang="en-US" sz="1400" dirty="0"/>
          </a:p>
        </p:txBody>
      </p:sp>
      <p:sp>
        <p:nvSpPr>
          <p:cNvPr id="15" name="code-panel-620"/>
          <p:cNvSpPr/>
          <p:nvPr/>
        </p:nvSpPr>
        <p:spPr>
          <a:xfrm>
            <a:off x="4754880" y="1463040"/>
            <a:ext cx="6885432" cy="4526280"/>
          </a:xfrm>
          <a:prstGeom prst="roundRect">
            <a:avLst>
              <a:gd name="adj" fmla="val 1616"/>
            </a:avLst>
          </a:prstGeom>
          <a:solidFill>
            <a:schemeClr val="tx1"/>
          </a:solidFill>
          <a:ln/>
          <a:effectLst>
            <a:outerShdw sx="100000" sy="100000" kx="0" ky="0" algn="bl" rotWithShape="0" blurRad="101600" dist="25400" dir="5400000">
              <a:srgbClr val="000000">
                <a:alpha val="12000"/>
              </a:srgbClr>
            </a:outerShdw>
          </a:effectLst>
        </p:spPr>
      </p:sp>
      <p:sp>
        <p:nvSpPr>
          <p:cNvPr id="16" name="text-621"/>
          <p:cNvSpPr txBox="1"/>
          <p:nvPr/>
        </p:nvSpPr>
        <p:spPr>
          <a:xfrm>
            <a:off x="5029200" y="1645920"/>
            <a:ext cx="6336792"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AUTOMATIC EMERGENCY BRAKING</a:t>
            </a:r>
            <a:endParaRPr lang="en-US" sz="1200" dirty="0"/>
          </a:p>
        </p:txBody>
      </p:sp>
      <p:sp>
        <p:nvSpPr>
          <p:cNvPr id="17" name="text-622"/>
          <p:cNvSpPr txBox="1"/>
          <p:nvPr/>
        </p:nvSpPr>
        <p:spPr>
          <a:xfrm>
            <a:off x="5029200" y="2011680"/>
            <a:ext cx="6336792" cy="3794760"/>
          </a:xfrm>
          <a:prstGeom prst="rect">
            <a:avLst/>
          </a:prstGeom>
          <a:noFill/>
          <a:ln/>
        </p:spPr>
        <p:txBody>
          <a:bodyPr wrap="square" lIns="0" tIns="0" rIns="0" bIns="0" rtlCol="0" anchor="t"/>
          <a:lstStyle/>
          <a:p>
            <a:pPr indent="0" marL="0">
              <a:lnSpc>
                <a:spcPct val="110000"/>
              </a:lnSpc>
              <a:buNone/>
            </a:pPr>
            <a:r>
              <a:rPr lang="en-US" sz="1300" dirty="0">
                <a:solidFill>
                  <a:schemeClr val="accent2"/>
                </a:solidFill>
                <a:latin typeface="Courier New" pitchFamily="34" charset="0"/>
                <a:ea typeface="Courier New" pitchFamily="34" charset="-122"/>
                <a:cs typeface="Courier New" pitchFamily="34" charset="-120"/>
              </a:rPr>
              <a:t>import</a:t>
            </a:r>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math</a:t>
            </a:r>
            <a:endParaRPr lang="en-US" sz="1300" dirty="0"/>
          </a:p>
          <a:p>
            <a:pPr indent="0" marL="0">
              <a:lnSpc>
                <a:spcPct val="110000"/>
              </a:lnSpc>
              <a:buNone/>
            </a:pPr>
            <a:r>
              <a:rPr lang="en-US" sz="1300" dirty="0">
                <a:solidFill>
                  <a:schemeClr val="accent2"/>
                </a:solidFill>
                <a:latin typeface="Courier New" pitchFamily="34" charset="0"/>
                <a:ea typeface="Courier New" pitchFamily="34" charset="-122"/>
                <a:cs typeface="Courier New" pitchFamily="34" charset="-120"/>
              </a:rPr>
              <a:t>from</a:t>
            </a:r>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workshop_api </a:t>
            </a:r>
            <a:pPr indent="0" marL="0">
              <a:lnSpc>
                <a:spcPct val="110000"/>
              </a:lnSpc>
              <a:buNone/>
            </a:pPr>
            <a:r>
              <a:rPr lang="en-US" sz="1300" dirty="0">
                <a:solidFill>
                  <a:schemeClr val="accent2"/>
                </a:solidFill>
                <a:latin typeface="Courier New" pitchFamily="34" charset="0"/>
                <a:ea typeface="Courier New" pitchFamily="34" charset="-122"/>
                <a:cs typeface="Courier New" pitchFamily="34" charset="-120"/>
              </a:rPr>
              <a:t>import</a:t>
            </a:r>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DriveCommand, wrap_angle</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lnSpc>
                <a:spcPct val="110000"/>
              </a:lnSpc>
              <a:buNone/>
            </a:pPr>
            <a:r>
              <a:rPr lang="en-US" sz="1300" dirty="0">
                <a:solidFill>
                  <a:schemeClr val="accent2"/>
                </a:solidFill>
                <a:latin typeface="Courier New" pitchFamily="34" charset="0"/>
                <a:ea typeface="Courier New" pitchFamily="34" charset="-122"/>
                <a:cs typeface="Courier New" pitchFamily="34" charset="-120"/>
              </a:rPr>
              <a:t>def</a:t>
            </a:r>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too_close(obs, ttc_limit=0.8):</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a:t>
            </a:r>
            <a:pPr indent="0" marL="0">
              <a:lnSpc>
                <a:spcPct val="110000"/>
              </a:lnSpc>
              <a:buNone/>
            </a:pPr>
            <a:r>
              <a:rPr lang="en-US" sz="1300" dirty="0">
                <a:solidFill>
                  <a:schemeClr val="accent2"/>
                </a:solidFill>
                <a:latin typeface="Courier New" pitchFamily="34" charset="0"/>
                <a:ea typeface="Courier New" pitchFamily="34" charset="-122"/>
                <a:cs typeface="Courier New" pitchFamily="34" charset="-120"/>
              </a:rPr>
              <a:t>for</a:t>
            </a:r>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i, r </a:t>
            </a:r>
            <a:pPr indent="0" marL="0">
              <a:lnSpc>
                <a:spcPct val="110000"/>
              </a:lnSpc>
              <a:buNone/>
            </a:pPr>
            <a:r>
              <a:rPr lang="en-US" sz="1300" dirty="0">
                <a:solidFill>
                  <a:schemeClr val="accent2"/>
                </a:solidFill>
                <a:latin typeface="Courier New" pitchFamily="34" charset="0"/>
                <a:ea typeface="Courier New" pitchFamily="34" charset="-122"/>
                <a:cs typeface="Courier New" pitchFamily="34" charset="-120"/>
              </a:rPr>
              <a:t>in</a:t>
            </a:r>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enumerate(obs.ranges):</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a = wrap_angle(obs.angle_min + i * obs.angle_increment)</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a:t>
            </a:r>
            <a:pPr indent="0" marL="0">
              <a:lnSpc>
                <a:spcPct val="110000"/>
              </a:lnSpc>
              <a:buNone/>
            </a:pPr>
            <a:r>
              <a:rPr lang="en-US" sz="1300" dirty="0">
                <a:solidFill>
                  <a:schemeClr val="accent2"/>
                </a:solidFill>
                <a:latin typeface="Courier New" pitchFamily="34" charset="0"/>
                <a:ea typeface="Courier New" pitchFamily="34" charset="-122"/>
                <a:cs typeface="Courier New" pitchFamily="34" charset="-120"/>
              </a:rPr>
              <a:t>if</a:t>
            </a:r>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abs(a) &gt; math.radians(45):</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a:t>
            </a:r>
            <a:pPr indent="0" marL="0">
              <a:lnSpc>
                <a:spcPct val="110000"/>
              </a:lnSpc>
              <a:buNone/>
            </a:pPr>
            <a:r>
              <a:rPr lang="en-US" sz="1300" dirty="0">
                <a:solidFill>
                  <a:schemeClr val="accent2"/>
                </a:solidFill>
                <a:latin typeface="Courier New" pitchFamily="34" charset="0"/>
                <a:ea typeface="Courier New" pitchFamily="34" charset="-122"/>
                <a:cs typeface="Courier New" pitchFamily="34" charset="-120"/>
              </a:rPr>
              <a:t>continue</a:t>
            </a:r>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a:t>
            </a:r>
            <a:pPr indent="0" marL="0">
              <a:lnSpc>
                <a:spcPct val="110000"/>
              </a:lnSpc>
              <a:buNone/>
            </a:pPr>
            <a:r>
              <a:rPr lang="en-US" sz="1300" dirty="0">
                <a:solidFill>
                  <a:schemeClr val="accent6"/>
                </a:solidFill>
                <a:latin typeface="Courier New" pitchFamily="34" charset="0"/>
                <a:ea typeface="Courier New" pitchFamily="34" charset="-122"/>
                <a:cs typeface="Courier New" pitchFamily="34" charset="-120"/>
              </a:rPr>
              <a:t># only look ahead</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closing = obs.speed_mps * math.cos(a)</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a:t>
            </a:r>
            <a:pPr indent="0" marL="0">
              <a:lnSpc>
                <a:spcPct val="110000"/>
              </a:lnSpc>
              <a:buNone/>
            </a:pPr>
            <a:r>
              <a:rPr lang="en-US" sz="1300" dirty="0">
                <a:solidFill>
                  <a:schemeClr val="accent2"/>
                </a:solidFill>
                <a:latin typeface="Courier New" pitchFamily="34" charset="0"/>
                <a:ea typeface="Courier New" pitchFamily="34" charset="-122"/>
                <a:cs typeface="Courier New" pitchFamily="34" charset="-120"/>
              </a:rPr>
              <a:t>if</a:t>
            </a:r>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r == 0 </a:t>
            </a:r>
            <a:pPr indent="0" marL="0">
              <a:lnSpc>
                <a:spcPct val="110000"/>
              </a:lnSpc>
              <a:buNone/>
            </a:pPr>
            <a:r>
              <a:rPr lang="en-US" sz="1300" dirty="0">
                <a:solidFill>
                  <a:schemeClr val="accent2"/>
                </a:solidFill>
                <a:latin typeface="Courier New" pitchFamily="34" charset="0"/>
                <a:ea typeface="Courier New" pitchFamily="34" charset="-122"/>
                <a:cs typeface="Courier New" pitchFamily="34" charset="-120"/>
              </a:rPr>
              <a:t>or</a:t>
            </a:r>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(closing &gt; 0 </a:t>
            </a:r>
            <a:pPr indent="0" marL="0">
              <a:lnSpc>
                <a:spcPct val="110000"/>
              </a:lnSpc>
              <a:buNone/>
            </a:pPr>
            <a:r>
              <a:rPr lang="en-US" sz="1300" dirty="0">
                <a:solidFill>
                  <a:schemeClr val="accent2"/>
                </a:solidFill>
                <a:latin typeface="Courier New" pitchFamily="34" charset="0"/>
                <a:ea typeface="Courier New" pitchFamily="34" charset="-122"/>
                <a:cs typeface="Courier New" pitchFamily="34" charset="-120"/>
              </a:rPr>
              <a:t>and</a:t>
            </a:r>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r / closing &lt; ttc_limit):</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a:t>
            </a:r>
            <a:pPr indent="0" marL="0">
              <a:lnSpc>
                <a:spcPct val="110000"/>
              </a:lnSpc>
              <a:buNone/>
            </a:pPr>
            <a:r>
              <a:rPr lang="en-US" sz="1300" dirty="0">
                <a:solidFill>
                  <a:schemeClr val="accent2"/>
                </a:solidFill>
                <a:latin typeface="Courier New" pitchFamily="34" charset="0"/>
                <a:ea typeface="Courier New" pitchFamily="34" charset="-122"/>
                <a:cs typeface="Courier New" pitchFamily="34" charset="-120"/>
              </a:rPr>
              <a:t>return</a:t>
            </a:r>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True       </a:t>
            </a:r>
            <a:pPr indent="0" marL="0">
              <a:lnSpc>
                <a:spcPct val="110000"/>
              </a:lnSpc>
              <a:buNone/>
            </a:pPr>
            <a:r>
              <a:rPr lang="en-US" sz="1300" dirty="0">
                <a:solidFill>
                  <a:schemeClr val="accent6"/>
                </a:solidFill>
                <a:latin typeface="Courier New" pitchFamily="34" charset="0"/>
                <a:ea typeface="Courier New" pitchFamily="34" charset="-122"/>
                <a:cs typeface="Courier New" pitchFamily="34" charset="-120"/>
              </a:rPr>
              <a:t># unknown or about to hit</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a:t>
            </a:r>
            <a:pPr indent="0" marL="0">
              <a:lnSpc>
                <a:spcPct val="110000"/>
              </a:lnSpc>
              <a:buNone/>
            </a:pPr>
            <a:r>
              <a:rPr lang="en-US" sz="1300" dirty="0">
                <a:solidFill>
                  <a:schemeClr val="accent2"/>
                </a:solidFill>
                <a:latin typeface="Courier New" pitchFamily="34" charset="0"/>
                <a:ea typeface="Courier New" pitchFamily="34" charset="-122"/>
                <a:cs typeface="Courier New" pitchFamily="34" charset="-120"/>
              </a:rPr>
              <a:t>return</a:t>
            </a:r>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False</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lnSpc>
                <a:spcPct val="110000"/>
              </a:lnSpc>
              <a:buNone/>
            </a:pPr>
            <a:r>
              <a:rPr lang="en-US" sz="1300" dirty="0">
                <a:solidFill>
                  <a:schemeClr val="accent6"/>
                </a:solidFill>
                <a:latin typeface="Courier New" pitchFamily="34" charset="0"/>
                <a:ea typeface="Courier New" pitchFamily="34" charset="-122"/>
                <a:cs typeface="Courier New" pitchFamily="34" charset="-120"/>
              </a:rPr>
              <a:t># in drive():  if too_close(observation): return DriveCommand()</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Wall following</a:t>
            </a:r>
            <a:endParaRPr lang="en-US" sz="3600" dirty="0"/>
          </a:p>
        </p:txBody>
      </p:sp>
      <p:sp>
        <p:nvSpPr>
          <p:cNvPr id="3" name="line-623"/>
          <p:cNvSpPr/>
          <p:nvPr/>
        </p:nvSpPr>
        <p:spPr>
          <a:xfrm>
            <a:off x="1188720" y="1463040"/>
            <a:ext cx="0" cy="4572000"/>
          </a:xfrm>
          <a:prstGeom prst="line">
            <a:avLst/>
          </a:prstGeom>
          <a:noFill/>
          <a:ln w="63500">
            <a:solidFill>
              <a:srgbClr val="2B2F38"/>
            </a:solidFill>
            <a:prstDash val="solid"/>
          </a:ln>
        </p:spPr>
      </p:sp>
      <p:sp>
        <p:nvSpPr>
          <p:cNvPr id="4" name="text-624"/>
          <p:cNvSpPr txBox="1"/>
          <p:nvPr/>
        </p:nvSpPr>
        <p:spPr>
          <a:xfrm>
            <a:off x="594360" y="1463040"/>
            <a:ext cx="502920" cy="274320"/>
          </a:xfrm>
          <a:prstGeom prst="rect">
            <a:avLst/>
          </a:prstGeom>
          <a:noFill/>
          <a:ln/>
        </p:spPr>
        <p:txBody>
          <a:bodyPr wrap="square" lIns="0" tIns="0" rIns="0" bIns="0" rtlCol="0" anchor="t"/>
          <a:lstStyle/>
          <a:p>
            <a:pPr algn="r" indent="0" marL="0">
              <a:buNone/>
            </a:pPr>
            <a:r>
              <a:rPr lang="en-US" sz="1200" b="1" dirty="0">
                <a:solidFill>
                  <a:schemeClr val="tx1"/>
                </a:solidFill>
              </a:rPr>
              <a:t>wall</a:t>
            </a:r>
            <a:endParaRPr lang="en-US" sz="1200" dirty="0"/>
          </a:p>
        </p:txBody>
      </p:sp>
      <p:sp>
        <p:nvSpPr>
          <p:cNvPr id="5" name="line-625"/>
          <p:cNvSpPr/>
          <p:nvPr/>
        </p:nvSpPr>
        <p:spPr>
          <a:xfrm>
            <a:off x="1188720" y="4124968"/>
            <a:ext cx="2103120" cy="447032"/>
          </a:xfrm>
          <a:prstGeom prst="line">
            <a:avLst/>
          </a:prstGeom>
          <a:noFill/>
          <a:ln w="28575">
            <a:solidFill>
              <a:srgbClr val="E63946"/>
            </a:solidFill>
            <a:prstDash val="solid"/>
          </a:ln>
        </p:spPr>
      </p:sp>
      <p:sp>
        <p:nvSpPr>
          <p:cNvPr id="6" name="dot-626"/>
          <p:cNvSpPr/>
          <p:nvPr/>
        </p:nvSpPr>
        <p:spPr>
          <a:xfrm>
            <a:off x="1129284" y="4065532"/>
            <a:ext cx="118872" cy="118872"/>
          </a:xfrm>
          <a:prstGeom prst="ellipse">
            <a:avLst/>
          </a:prstGeom>
          <a:solidFill>
            <a:schemeClr val="accent1"/>
          </a:solidFill>
          <a:ln/>
        </p:spPr>
      </p:sp>
      <p:sp>
        <p:nvSpPr>
          <p:cNvPr id="7" name="text-627"/>
          <p:cNvSpPr txBox="1"/>
          <p:nvPr/>
        </p:nvSpPr>
        <p:spPr>
          <a:xfrm>
            <a:off x="2103120" y="3982724"/>
            <a:ext cx="274320" cy="274320"/>
          </a:xfrm>
          <a:prstGeom prst="rect">
            <a:avLst/>
          </a:prstGeom>
          <a:noFill/>
          <a:ln/>
        </p:spPr>
        <p:txBody>
          <a:bodyPr wrap="square" lIns="0" tIns="0" rIns="0" bIns="0" rtlCol="0" anchor="t"/>
          <a:lstStyle/>
          <a:p>
            <a:pPr algn="ctr" indent="0" marL="0">
              <a:buNone/>
            </a:pPr>
            <a:r>
              <a:rPr lang="en-US" sz="1600" b="1" dirty="0">
                <a:solidFill>
                  <a:schemeClr val="accent1"/>
                </a:solidFill>
              </a:rPr>
              <a:t>b</a:t>
            </a:r>
            <a:endParaRPr lang="en-US" sz="1600" dirty="0"/>
          </a:p>
        </p:txBody>
      </p:sp>
      <p:sp>
        <p:nvSpPr>
          <p:cNvPr id="8" name="line-628"/>
          <p:cNvSpPr/>
          <p:nvPr/>
        </p:nvSpPr>
        <p:spPr>
          <a:xfrm>
            <a:off x="1188720" y="1880129"/>
            <a:ext cx="2103120" cy="2691871"/>
          </a:xfrm>
          <a:prstGeom prst="line">
            <a:avLst/>
          </a:prstGeom>
          <a:noFill/>
          <a:ln w="28575">
            <a:solidFill>
              <a:srgbClr val="E63946"/>
            </a:solidFill>
            <a:prstDash val="solid"/>
          </a:ln>
        </p:spPr>
      </p:sp>
      <p:sp>
        <p:nvSpPr>
          <p:cNvPr id="9" name="dot-629"/>
          <p:cNvSpPr/>
          <p:nvPr/>
        </p:nvSpPr>
        <p:spPr>
          <a:xfrm>
            <a:off x="1129284" y="1820693"/>
            <a:ext cx="118872" cy="118872"/>
          </a:xfrm>
          <a:prstGeom prst="ellipse">
            <a:avLst/>
          </a:prstGeom>
          <a:solidFill>
            <a:schemeClr val="accent1"/>
          </a:solidFill>
          <a:ln/>
        </p:spPr>
      </p:sp>
      <p:sp>
        <p:nvSpPr>
          <p:cNvPr id="10" name="text-630"/>
          <p:cNvSpPr txBox="1"/>
          <p:nvPr/>
        </p:nvSpPr>
        <p:spPr>
          <a:xfrm>
            <a:off x="2286000" y="2951745"/>
            <a:ext cx="274320" cy="274320"/>
          </a:xfrm>
          <a:prstGeom prst="rect">
            <a:avLst/>
          </a:prstGeom>
          <a:noFill/>
          <a:ln/>
        </p:spPr>
        <p:txBody>
          <a:bodyPr wrap="square" lIns="0" tIns="0" rIns="0" bIns="0" rtlCol="0" anchor="t"/>
          <a:lstStyle/>
          <a:p>
            <a:pPr algn="ctr" indent="0" marL="0">
              <a:buNone/>
            </a:pPr>
            <a:r>
              <a:rPr lang="en-US" sz="1600" b="1" dirty="0">
                <a:solidFill>
                  <a:schemeClr val="accent1"/>
                </a:solidFill>
              </a:rPr>
              <a:t>a</a:t>
            </a:r>
            <a:endParaRPr lang="en-US" sz="1600" dirty="0"/>
          </a:p>
        </p:txBody>
      </p:sp>
      <p:sp>
        <p:nvSpPr>
          <p:cNvPr id="11" name="text-631"/>
          <p:cNvSpPr txBox="1"/>
          <p:nvPr/>
        </p:nvSpPr>
        <p:spPr>
          <a:xfrm>
            <a:off x="2514600" y="3794760"/>
            <a:ext cx="274320" cy="274320"/>
          </a:xfrm>
          <a:prstGeom prst="rect">
            <a:avLst/>
          </a:prstGeom>
          <a:noFill/>
          <a:ln/>
        </p:spPr>
        <p:txBody>
          <a:bodyPr wrap="square" lIns="0" tIns="0" rIns="0" bIns="0" rtlCol="0" anchor="t"/>
          <a:lstStyle/>
          <a:p>
            <a:pPr algn="ctr" indent="0" marL="0">
              <a:buNone/>
            </a:pPr>
            <a:r>
              <a:rPr lang="en-US" sz="1600" b="1" dirty="0">
                <a:solidFill>
                  <a:schemeClr val="tx1"/>
                </a:solidFill>
              </a:rPr>
              <a:t>θ</a:t>
            </a:r>
            <a:endParaRPr lang="en-US" sz="1600" dirty="0"/>
          </a:p>
        </p:txBody>
      </p:sp>
      <p:sp>
        <p:nvSpPr>
          <p:cNvPr id="12" name="line-632"/>
          <p:cNvSpPr/>
          <p:nvPr/>
        </p:nvSpPr>
        <p:spPr>
          <a:xfrm>
            <a:off x="1188720" y="4983480"/>
            <a:ext cx="2103120" cy="0"/>
          </a:xfrm>
          <a:prstGeom prst="line">
            <a:avLst/>
          </a:prstGeom>
          <a:noFill/>
          <a:ln w="19050">
            <a:solidFill>
              <a:srgbClr val="6C7A89"/>
            </a:solidFill>
            <a:prstDash val="dash"/>
            <a:headEnd type="triangle"/>
            <a:tailEnd type="triangle"/>
          </a:ln>
        </p:spPr>
      </p:sp>
      <p:sp>
        <p:nvSpPr>
          <p:cNvPr id="13" name="text-633"/>
          <p:cNvSpPr txBox="1"/>
          <p:nvPr/>
        </p:nvSpPr>
        <p:spPr>
          <a:xfrm>
            <a:off x="2103120" y="5029200"/>
            <a:ext cx="274320" cy="274320"/>
          </a:xfrm>
          <a:prstGeom prst="rect">
            <a:avLst/>
          </a:prstGeom>
          <a:noFill/>
          <a:ln/>
        </p:spPr>
        <p:txBody>
          <a:bodyPr wrap="square" lIns="0" tIns="0" rIns="0" bIns="0" rtlCol="0" anchor="t"/>
          <a:lstStyle/>
          <a:p>
            <a:pPr algn="ctr" indent="0" marL="0">
              <a:buNone/>
            </a:pPr>
            <a:r>
              <a:rPr lang="en-US" sz="1600" b="1" dirty="0">
                <a:solidFill>
                  <a:schemeClr val="accent4"/>
                </a:solidFill>
              </a:rPr>
              <a:t>D</a:t>
            </a:r>
            <a:endParaRPr lang="en-US" sz="1600" dirty="0"/>
          </a:p>
        </p:txBody>
      </p:sp>
      <p:sp>
        <p:nvSpPr>
          <p:cNvPr id="14" name="line-634"/>
          <p:cNvSpPr/>
          <p:nvPr/>
        </p:nvSpPr>
        <p:spPr>
          <a:xfrm flipV="1">
            <a:off x="3291840" y="3230373"/>
            <a:ext cx="285172" cy="1341627"/>
          </a:xfrm>
          <a:prstGeom prst="line">
            <a:avLst/>
          </a:prstGeom>
          <a:noFill/>
          <a:ln w="28575">
            <a:solidFill>
              <a:srgbClr val="2A9D8F"/>
            </a:solidFill>
            <a:prstDash val="dash"/>
            <a:tailEnd type="triangle"/>
          </a:ln>
        </p:spPr>
      </p:sp>
      <p:sp>
        <p:nvSpPr>
          <p:cNvPr id="15" name="text-635"/>
          <p:cNvSpPr txBox="1"/>
          <p:nvPr/>
        </p:nvSpPr>
        <p:spPr>
          <a:xfrm>
            <a:off x="3622732" y="3413253"/>
            <a:ext cx="274320" cy="274320"/>
          </a:xfrm>
          <a:prstGeom prst="rect">
            <a:avLst/>
          </a:prstGeom>
          <a:noFill/>
          <a:ln/>
        </p:spPr>
        <p:txBody>
          <a:bodyPr wrap="square" lIns="0" tIns="0" rIns="0" bIns="0" rtlCol="0" anchor="t"/>
          <a:lstStyle/>
          <a:p>
            <a:pPr indent="0" marL="0">
              <a:buNone/>
            </a:pPr>
            <a:r>
              <a:rPr lang="en-US" sz="1600" b="1" dirty="0">
                <a:solidFill>
                  <a:schemeClr val="accent3"/>
                </a:solidFill>
              </a:rPr>
              <a:t>L</a:t>
            </a:r>
            <a:endParaRPr lang="en-US" sz="1600" dirty="0"/>
          </a:p>
        </p:txBody>
      </p:sp>
      <p:sp>
        <p:nvSpPr>
          <p:cNvPr id="16" name="wf-car"/>
          <p:cNvSpPr/>
          <p:nvPr/>
        </p:nvSpPr>
        <p:spPr>
          <a:xfrm rot="720000">
            <a:off x="3090672" y="4224528"/>
            <a:ext cx="402336" cy="694944"/>
          </a:xfrm>
          <a:prstGeom prst="roundRect">
            <a:avLst>
              <a:gd name="adj" fmla="val 18182"/>
            </a:avLst>
          </a:prstGeom>
          <a:solidFill>
            <a:schemeClr val="tx1"/>
          </a:solidFill>
          <a:ln/>
        </p:spPr>
      </p:sp>
      <p:sp>
        <p:nvSpPr>
          <p:cNvPr id="17" name="card-636"/>
          <p:cNvSpPr/>
          <p:nvPr/>
        </p:nvSpPr>
        <p:spPr>
          <a:xfrm>
            <a:off x="5394960" y="1463040"/>
            <a:ext cx="6245352" cy="960120"/>
          </a:xfrm>
          <a:prstGeom prst="roundRect">
            <a:avLst>
              <a:gd name="adj" fmla="val 7619"/>
            </a:avLst>
          </a:prstGeom>
          <a:solidFill>
            <a:schemeClr val="bg1"/>
          </a:solidFill>
          <a:ln/>
          <a:effectLst>
            <a:outerShdw sx="100000" sy="100000" kx="0" ky="0" algn="bl" rotWithShape="0" blurRad="101600" dist="25400" dir="5400000">
              <a:srgbClr val="000000">
                <a:alpha val="12000"/>
              </a:srgbClr>
            </a:outerShdw>
          </a:effectLst>
        </p:spPr>
      </p:sp>
      <p:sp>
        <p:nvSpPr>
          <p:cNvPr id="18" name="badge-637"/>
          <p:cNvSpPr/>
          <p:nvPr/>
        </p:nvSpPr>
        <p:spPr>
          <a:xfrm>
            <a:off x="5623560" y="1691640"/>
            <a:ext cx="502920" cy="50292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19" name="text-638"/>
          <p:cNvSpPr txBox="1"/>
          <p:nvPr/>
        </p:nvSpPr>
        <p:spPr>
          <a:xfrm>
            <a:off x="6355080" y="1581912"/>
            <a:ext cx="5120640" cy="347472"/>
          </a:xfrm>
          <a:prstGeom prst="rect">
            <a:avLst/>
          </a:prstGeom>
          <a:noFill/>
          <a:ln/>
        </p:spPr>
        <p:txBody>
          <a:bodyPr wrap="square" lIns="0" tIns="0" rIns="0" bIns="0" rtlCol="0" anchor="t"/>
          <a:lstStyle/>
          <a:p>
            <a:pPr indent="0" marL="0">
              <a:buNone/>
            </a:pPr>
            <a:r>
              <a:rPr lang="en-US" sz="1700" b="1" dirty="0">
                <a:solidFill>
                  <a:schemeClr val="tx1"/>
                </a:solidFill>
              </a:rPr>
              <a:t>Measure two rays</a:t>
            </a:r>
            <a:endParaRPr lang="en-US" sz="1700" dirty="0"/>
          </a:p>
        </p:txBody>
      </p:sp>
      <p:sp>
        <p:nvSpPr>
          <p:cNvPr id="20" name="text-639"/>
          <p:cNvSpPr txBox="1"/>
          <p:nvPr/>
        </p:nvSpPr>
        <p:spPr>
          <a:xfrm>
            <a:off x="6355080" y="1938528"/>
            <a:ext cx="5120640" cy="365760"/>
          </a:xfrm>
          <a:prstGeom prst="rect">
            <a:avLst/>
          </a:prstGeom>
          <a:noFill/>
          <a:ln/>
        </p:spPr>
        <p:txBody>
          <a:bodyPr wrap="square" lIns="0" tIns="0" rIns="0" bIns="0" rtlCol="0" anchor="t"/>
          <a:lstStyle/>
          <a:p>
            <a:pPr indent="0" marL="0">
              <a:buNone/>
            </a:pPr>
            <a:r>
              <a:rPr lang="en-US" sz="1500" dirty="0">
                <a:solidFill>
                  <a:schemeClr val="tx2"/>
                </a:solidFill>
              </a:rPr>
              <a:t>b at +90° (left); a at θ ≈ 40° further forward</a:t>
            </a:r>
            <a:endParaRPr lang="en-US" sz="1500" dirty="0"/>
          </a:p>
        </p:txBody>
      </p:sp>
      <p:sp>
        <p:nvSpPr>
          <p:cNvPr id="21" name="card-640"/>
          <p:cNvSpPr/>
          <p:nvPr/>
        </p:nvSpPr>
        <p:spPr>
          <a:xfrm>
            <a:off x="5394960" y="2606040"/>
            <a:ext cx="6245352" cy="960120"/>
          </a:xfrm>
          <a:prstGeom prst="roundRect">
            <a:avLst>
              <a:gd name="adj" fmla="val 7619"/>
            </a:avLst>
          </a:prstGeom>
          <a:solidFill>
            <a:schemeClr val="bg1"/>
          </a:solidFill>
          <a:ln/>
          <a:effectLst>
            <a:outerShdw sx="100000" sy="100000" kx="0" ky="0" algn="bl" rotWithShape="0" blurRad="101600" dist="25400" dir="5400000">
              <a:srgbClr val="000000">
                <a:alpha val="12000"/>
              </a:srgbClr>
            </a:outerShdw>
          </a:effectLst>
        </p:spPr>
      </p:sp>
      <p:sp>
        <p:nvSpPr>
          <p:cNvPr id="22" name="badge-641"/>
          <p:cNvSpPr/>
          <p:nvPr/>
        </p:nvSpPr>
        <p:spPr>
          <a:xfrm>
            <a:off x="5623560" y="2834640"/>
            <a:ext cx="502920" cy="50292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23" name="text-642"/>
          <p:cNvSpPr txBox="1"/>
          <p:nvPr/>
        </p:nvSpPr>
        <p:spPr>
          <a:xfrm>
            <a:off x="6355080" y="2724912"/>
            <a:ext cx="5120640" cy="347472"/>
          </a:xfrm>
          <a:prstGeom prst="rect">
            <a:avLst/>
          </a:prstGeom>
          <a:noFill/>
          <a:ln/>
        </p:spPr>
        <p:txBody>
          <a:bodyPr wrap="square" lIns="0" tIns="0" rIns="0" bIns="0" rtlCol="0" anchor="t"/>
          <a:lstStyle/>
          <a:p>
            <a:pPr indent="0" marL="0">
              <a:buNone/>
            </a:pPr>
            <a:r>
              <a:rPr lang="en-US" sz="1700" b="1" dirty="0">
                <a:solidFill>
                  <a:schemeClr val="tx1"/>
                </a:solidFill>
              </a:rPr>
              <a:t>Wall angle and distance</a:t>
            </a:r>
            <a:endParaRPr lang="en-US" sz="1700" dirty="0"/>
          </a:p>
        </p:txBody>
      </p:sp>
      <p:sp>
        <p:nvSpPr>
          <p:cNvPr id="24" name="text-643"/>
          <p:cNvSpPr txBox="1"/>
          <p:nvPr/>
        </p:nvSpPr>
        <p:spPr>
          <a:xfrm>
            <a:off x="6355080" y="3081528"/>
            <a:ext cx="5120640" cy="365760"/>
          </a:xfrm>
          <a:prstGeom prst="rect">
            <a:avLst/>
          </a:prstGeom>
          <a:noFill/>
          <a:ln/>
        </p:spPr>
        <p:txBody>
          <a:bodyPr wrap="square" lIns="0" tIns="0" rIns="0" bIns="0" rtlCol="0" anchor="t"/>
          <a:lstStyle/>
          <a:p>
            <a:pPr indent="0" marL="0">
              <a:buNone/>
            </a:pPr>
            <a:r>
              <a:rPr lang="en-US" sz="1500" dirty="0">
                <a:solidFill>
                  <a:schemeClr val="tx2"/>
                </a:solidFill>
              </a:rPr>
              <a:t>α = atan((a·cos θ − b) / (a·sin θ));   D = b·cos α</a:t>
            </a:r>
            <a:endParaRPr lang="en-US" sz="1500" dirty="0"/>
          </a:p>
        </p:txBody>
      </p:sp>
      <p:sp>
        <p:nvSpPr>
          <p:cNvPr id="25" name="card-644"/>
          <p:cNvSpPr/>
          <p:nvPr/>
        </p:nvSpPr>
        <p:spPr>
          <a:xfrm>
            <a:off x="5394960" y="3749040"/>
            <a:ext cx="6245352" cy="960120"/>
          </a:xfrm>
          <a:prstGeom prst="roundRect">
            <a:avLst>
              <a:gd name="adj" fmla="val 7619"/>
            </a:avLst>
          </a:prstGeom>
          <a:solidFill>
            <a:schemeClr val="bg1"/>
          </a:solidFill>
          <a:ln/>
          <a:effectLst>
            <a:outerShdw sx="100000" sy="100000" kx="0" ky="0" algn="bl" rotWithShape="0" blurRad="101600" dist="25400" dir="5400000">
              <a:srgbClr val="000000">
                <a:alpha val="12000"/>
              </a:srgbClr>
            </a:outerShdw>
          </a:effectLst>
        </p:spPr>
      </p:sp>
      <p:sp>
        <p:nvSpPr>
          <p:cNvPr id="26" name="badge-645"/>
          <p:cNvSpPr/>
          <p:nvPr/>
        </p:nvSpPr>
        <p:spPr>
          <a:xfrm>
            <a:off x="5623560" y="3977640"/>
            <a:ext cx="502920" cy="50292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27" name="text-646"/>
          <p:cNvSpPr txBox="1"/>
          <p:nvPr/>
        </p:nvSpPr>
        <p:spPr>
          <a:xfrm>
            <a:off x="6355080" y="3867912"/>
            <a:ext cx="5120640" cy="347472"/>
          </a:xfrm>
          <a:prstGeom prst="rect">
            <a:avLst/>
          </a:prstGeom>
          <a:noFill/>
          <a:ln/>
        </p:spPr>
        <p:txBody>
          <a:bodyPr wrap="square" lIns="0" tIns="0" rIns="0" bIns="0" rtlCol="0" anchor="t"/>
          <a:lstStyle/>
          <a:p>
            <a:pPr indent="0" marL="0">
              <a:buNone/>
            </a:pPr>
            <a:r>
              <a:rPr lang="en-US" sz="1700" b="1" dirty="0">
                <a:solidFill>
                  <a:schemeClr val="tx1"/>
                </a:solidFill>
              </a:rPr>
              <a:t>Look ahead</a:t>
            </a:r>
            <a:endParaRPr lang="en-US" sz="1700" dirty="0"/>
          </a:p>
        </p:txBody>
      </p:sp>
      <p:sp>
        <p:nvSpPr>
          <p:cNvPr id="28" name="text-647"/>
          <p:cNvSpPr txBox="1"/>
          <p:nvPr/>
        </p:nvSpPr>
        <p:spPr>
          <a:xfrm>
            <a:off x="6355080" y="4224528"/>
            <a:ext cx="5120640" cy="365760"/>
          </a:xfrm>
          <a:prstGeom prst="rect">
            <a:avLst/>
          </a:prstGeom>
          <a:noFill/>
          <a:ln/>
        </p:spPr>
        <p:txBody>
          <a:bodyPr wrap="square" lIns="0" tIns="0" rIns="0" bIns="0" rtlCol="0" anchor="t"/>
          <a:lstStyle/>
          <a:p>
            <a:pPr indent="0" marL="0">
              <a:buNone/>
            </a:pPr>
            <a:r>
              <a:rPr lang="en-US" sz="1500" dirty="0">
                <a:solidFill>
                  <a:schemeClr val="tx2"/>
                </a:solidFill>
              </a:rPr>
              <a:t>D′ = D + L·sin α   (where the car will be)</a:t>
            </a:r>
            <a:endParaRPr lang="en-US" sz="1500" dirty="0"/>
          </a:p>
        </p:txBody>
      </p:sp>
      <p:sp>
        <p:nvSpPr>
          <p:cNvPr id="29" name="card-648"/>
          <p:cNvSpPr/>
          <p:nvPr/>
        </p:nvSpPr>
        <p:spPr>
          <a:xfrm>
            <a:off x="5394960" y="4892040"/>
            <a:ext cx="6245352" cy="960120"/>
          </a:xfrm>
          <a:prstGeom prst="roundRect">
            <a:avLst>
              <a:gd name="adj" fmla="val 7619"/>
            </a:avLst>
          </a:prstGeom>
          <a:solidFill>
            <a:schemeClr val="bg1"/>
          </a:solidFill>
          <a:ln/>
          <a:effectLst>
            <a:outerShdw sx="100000" sy="100000" kx="0" ky="0" algn="bl" rotWithShape="0" blurRad="101600" dist="25400" dir="5400000">
              <a:srgbClr val="000000">
                <a:alpha val="12000"/>
              </a:srgbClr>
            </a:outerShdw>
          </a:effectLst>
        </p:spPr>
      </p:sp>
      <p:sp>
        <p:nvSpPr>
          <p:cNvPr id="30" name="badge-649"/>
          <p:cNvSpPr/>
          <p:nvPr/>
        </p:nvSpPr>
        <p:spPr>
          <a:xfrm>
            <a:off x="5623560" y="5120640"/>
            <a:ext cx="502920" cy="50292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31" name="text-650"/>
          <p:cNvSpPr txBox="1"/>
          <p:nvPr/>
        </p:nvSpPr>
        <p:spPr>
          <a:xfrm>
            <a:off x="6355080" y="5010912"/>
            <a:ext cx="5120640" cy="347472"/>
          </a:xfrm>
          <a:prstGeom prst="rect">
            <a:avLst/>
          </a:prstGeom>
          <a:noFill/>
          <a:ln/>
        </p:spPr>
        <p:txBody>
          <a:bodyPr wrap="square" lIns="0" tIns="0" rIns="0" bIns="0" rtlCol="0" anchor="t"/>
          <a:lstStyle/>
          <a:p>
            <a:pPr indent="0" marL="0">
              <a:buNone/>
            </a:pPr>
            <a:r>
              <a:rPr lang="en-US" sz="1700" b="1" dirty="0">
                <a:solidFill>
                  <a:schemeClr val="tx1"/>
                </a:solidFill>
              </a:rPr>
              <a:t>PD steering</a:t>
            </a:r>
            <a:endParaRPr lang="en-US" sz="1700" dirty="0"/>
          </a:p>
        </p:txBody>
      </p:sp>
      <p:sp>
        <p:nvSpPr>
          <p:cNvPr id="32" name="text-651"/>
          <p:cNvSpPr txBox="1"/>
          <p:nvPr/>
        </p:nvSpPr>
        <p:spPr>
          <a:xfrm>
            <a:off x="6355080" y="5367528"/>
            <a:ext cx="5120640" cy="365760"/>
          </a:xfrm>
          <a:prstGeom prst="rect">
            <a:avLst/>
          </a:prstGeom>
          <a:noFill/>
          <a:ln/>
        </p:spPr>
        <p:txBody>
          <a:bodyPr wrap="square" lIns="0" tIns="0" rIns="0" bIns="0" rtlCol="0" anchor="t"/>
          <a:lstStyle/>
          <a:p>
            <a:pPr indent="0" marL="0">
              <a:buNone/>
            </a:pPr>
            <a:r>
              <a:rPr lang="en-US" sz="1500" dirty="0">
                <a:solidFill>
                  <a:schemeClr val="tx2"/>
                </a:solidFill>
              </a:rPr>
              <a:t>e = d_target − D′;   steering = −(Kp·e + Kd·ė)</a:t>
            </a:r>
            <a:endParaRPr lang="en-US" sz="1500" dirty="0"/>
          </a:p>
        </p:txBody>
      </p:sp>
      <p:sp>
        <p:nvSpPr>
          <p:cNvPr id="33" name="text-652"/>
          <p:cNvSpPr txBox="1"/>
          <p:nvPr/>
        </p:nvSpPr>
        <p:spPr>
          <a:xfrm>
            <a:off x="5394960" y="6035040"/>
            <a:ext cx="6245352" cy="274320"/>
          </a:xfrm>
          <a:prstGeom prst="rect">
            <a:avLst/>
          </a:prstGeom>
          <a:noFill/>
          <a:ln/>
        </p:spPr>
        <p:txBody>
          <a:bodyPr wrap="square" lIns="0" tIns="0" rIns="0" bIns="0" rtlCol="0" anchor="t"/>
          <a:lstStyle/>
          <a:p>
            <a:pPr indent="0" marL="0">
              <a:buNone/>
            </a:pPr>
            <a:r>
              <a:rPr lang="en-US" sz="1200" i="1" dirty="0">
                <a:solidFill>
                  <a:schemeClr val="accent4"/>
                </a:solidFill>
              </a:rPr>
              <a:t>Left wall shown. For the right wall use −90° rays and flip the steering sign.</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Follow the Gap</a:t>
            </a:r>
            <a:endParaRPr lang="en-US" sz="3600" dirty="0"/>
          </a:p>
        </p:txBody>
      </p:sp>
      <p:sp>
        <p:nvSpPr>
          <p:cNvPr id="3" name="card-653"/>
          <p:cNvSpPr/>
          <p:nvPr/>
        </p:nvSpPr>
        <p:spPr>
          <a:xfrm>
            <a:off x="548640" y="1417320"/>
            <a:ext cx="2567178" cy="1417320"/>
          </a:xfrm>
          <a:prstGeom prst="roundRect">
            <a:avLst>
              <a:gd name="adj" fmla="val 5161"/>
            </a:avLst>
          </a:prstGeom>
          <a:solidFill>
            <a:schemeClr val="bg1"/>
          </a:solidFill>
          <a:ln/>
          <a:effectLst>
            <a:outerShdw sx="100000" sy="100000" kx="0" ky="0" algn="bl" rotWithShape="0" blurRad="101600" dist="25400" dir="5400000">
              <a:srgbClr val="000000">
                <a:alpha val="12000"/>
              </a:srgbClr>
            </a:outerShdw>
          </a:effectLst>
        </p:spPr>
      </p:sp>
      <p:sp>
        <p:nvSpPr>
          <p:cNvPr id="4" name="badge-654"/>
          <p:cNvSpPr/>
          <p:nvPr/>
        </p:nvSpPr>
        <p:spPr>
          <a:xfrm>
            <a:off x="731520" y="1572768"/>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655"/>
          <p:cNvSpPr txBox="1"/>
          <p:nvPr/>
        </p:nvSpPr>
        <p:spPr>
          <a:xfrm>
            <a:off x="1261872" y="1572768"/>
            <a:ext cx="1698498" cy="411480"/>
          </a:xfrm>
          <a:prstGeom prst="rect">
            <a:avLst/>
          </a:prstGeom>
          <a:noFill/>
          <a:ln/>
        </p:spPr>
        <p:txBody>
          <a:bodyPr wrap="square" lIns="0" tIns="0" rIns="0" bIns="0" rtlCol="0" anchor="ctr"/>
          <a:lstStyle/>
          <a:p>
            <a:pPr indent="0" marL="0">
              <a:buNone/>
            </a:pPr>
            <a:r>
              <a:rPr lang="en-US" sz="1600" b="1" dirty="0">
                <a:solidFill>
                  <a:schemeClr val="tx1"/>
                </a:solidFill>
              </a:rPr>
              <a:t>Look ahead</a:t>
            </a:r>
            <a:endParaRPr lang="en-US" sz="1600" dirty="0"/>
          </a:p>
        </p:txBody>
      </p:sp>
      <p:sp>
        <p:nvSpPr>
          <p:cNvPr id="6" name="text-656"/>
          <p:cNvSpPr txBox="1"/>
          <p:nvPr/>
        </p:nvSpPr>
        <p:spPr>
          <a:xfrm>
            <a:off x="731520" y="2103120"/>
            <a:ext cx="2201418" cy="640080"/>
          </a:xfrm>
          <a:prstGeom prst="rect">
            <a:avLst/>
          </a:prstGeom>
          <a:noFill/>
          <a:ln/>
        </p:spPr>
        <p:txBody>
          <a:bodyPr wrap="square" lIns="0" tIns="0" rIns="0" bIns="0" rtlCol="0" anchor="t"/>
          <a:lstStyle/>
          <a:p>
            <a:pPr indent="0" marL="0">
              <a:buNone/>
            </a:pPr>
            <a:r>
              <a:rPr lang="en-US" sz="1400" dirty="0">
                <a:solidFill>
                  <a:schemeClr val="tx2"/>
                </a:solidFill>
              </a:rPr>
              <a:t>Keep rays within ±80° and cap ranges at 3 m</a:t>
            </a:r>
            <a:endParaRPr lang="en-US" sz="1400" dirty="0"/>
          </a:p>
        </p:txBody>
      </p:sp>
      <p:sp>
        <p:nvSpPr>
          <p:cNvPr id="7" name="card-657"/>
          <p:cNvSpPr/>
          <p:nvPr/>
        </p:nvSpPr>
        <p:spPr>
          <a:xfrm>
            <a:off x="3390138" y="1417320"/>
            <a:ext cx="2567178" cy="1417320"/>
          </a:xfrm>
          <a:prstGeom prst="roundRect">
            <a:avLst>
              <a:gd name="adj" fmla="val 5161"/>
            </a:avLst>
          </a:prstGeom>
          <a:solidFill>
            <a:schemeClr val="bg1"/>
          </a:solidFill>
          <a:ln/>
          <a:effectLst>
            <a:outerShdw sx="100000" sy="100000" kx="0" ky="0" algn="bl" rotWithShape="0" blurRad="101600" dist="25400" dir="5400000">
              <a:srgbClr val="000000">
                <a:alpha val="12000"/>
              </a:srgbClr>
            </a:outerShdw>
          </a:effectLst>
        </p:spPr>
      </p:sp>
      <p:sp>
        <p:nvSpPr>
          <p:cNvPr id="8" name="badge-658"/>
          <p:cNvSpPr/>
          <p:nvPr/>
        </p:nvSpPr>
        <p:spPr>
          <a:xfrm>
            <a:off x="3573018" y="1572768"/>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659"/>
          <p:cNvSpPr txBox="1"/>
          <p:nvPr/>
        </p:nvSpPr>
        <p:spPr>
          <a:xfrm>
            <a:off x="4103370" y="1572768"/>
            <a:ext cx="1698498" cy="411480"/>
          </a:xfrm>
          <a:prstGeom prst="rect">
            <a:avLst/>
          </a:prstGeom>
          <a:noFill/>
          <a:ln/>
        </p:spPr>
        <p:txBody>
          <a:bodyPr wrap="square" lIns="0" tIns="0" rIns="0" bIns="0" rtlCol="0" anchor="ctr"/>
          <a:lstStyle/>
          <a:p>
            <a:pPr indent="0" marL="0">
              <a:buNone/>
            </a:pPr>
            <a:r>
              <a:rPr lang="en-US" sz="1600" b="1" dirty="0">
                <a:solidFill>
                  <a:schemeClr val="tx1"/>
                </a:solidFill>
              </a:rPr>
              <a:t>Inflate obstacles</a:t>
            </a:r>
            <a:endParaRPr lang="en-US" sz="1600" dirty="0"/>
          </a:p>
        </p:txBody>
      </p:sp>
      <p:sp>
        <p:nvSpPr>
          <p:cNvPr id="10" name="text-660"/>
          <p:cNvSpPr txBox="1"/>
          <p:nvPr/>
        </p:nvSpPr>
        <p:spPr>
          <a:xfrm>
            <a:off x="3573018" y="2103120"/>
            <a:ext cx="2201418" cy="640080"/>
          </a:xfrm>
          <a:prstGeom prst="rect">
            <a:avLst/>
          </a:prstGeom>
          <a:noFill/>
          <a:ln/>
        </p:spPr>
        <p:txBody>
          <a:bodyPr wrap="square" lIns="0" tIns="0" rIns="0" bIns="0" rtlCol="0" anchor="t"/>
          <a:lstStyle/>
          <a:p>
            <a:pPr indent="0" marL="0">
              <a:buNone/>
            </a:pPr>
            <a:r>
              <a:rPr lang="en-US" sz="1400" dirty="0">
                <a:solidFill>
                  <a:schemeClr val="tx2"/>
                </a:solidFill>
              </a:rPr>
              <a:t>Block rays under 1.2 m plus a 0.25 m safety bubble</a:t>
            </a:r>
            <a:endParaRPr lang="en-US" sz="1400" dirty="0"/>
          </a:p>
        </p:txBody>
      </p:sp>
      <p:sp>
        <p:nvSpPr>
          <p:cNvPr id="11" name="card-661"/>
          <p:cNvSpPr/>
          <p:nvPr/>
        </p:nvSpPr>
        <p:spPr>
          <a:xfrm>
            <a:off x="6231636" y="1417320"/>
            <a:ext cx="2567178" cy="1417320"/>
          </a:xfrm>
          <a:prstGeom prst="roundRect">
            <a:avLst>
              <a:gd name="adj" fmla="val 5161"/>
            </a:avLst>
          </a:prstGeom>
          <a:solidFill>
            <a:schemeClr val="bg1"/>
          </a:solidFill>
          <a:ln/>
          <a:effectLst>
            <a:outerShdw sx="100000" sy="100000" kx="0" ky="0" algn="bl" rotWithShape="0" blurRad="101600" dist="25400" dir="5400000">
              <a:srgbClr val="000000">
                <a:alpha val="12000"/>
              </a:srgbClr>
            </a:outerShdw>
          </a:effectLst>
        </p:spPr>
      </p:sp>
      <p:sp>
        <p:nvSpPr>
          <p:cNvPr id="12" name="badge-662"/>
          <p:cNvSpPr/>
          <p:nvPr/>
        </p:nvSpPr>
        <p:spPr>
          <a:xfrm>
            <a:off x="6414516" y="1572768"/>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663"/>
          <p:cNvSpPr txBox="1"/>
          <p:nvPr/>
        </p:nvSpPr>
        <p:spPr>
          <a:xfrm>
            <a:off x="6944868" y="1572768"/>
            <a:ext cx="1698498" cy="411480"/>
          </a:xfrm>
          <a:prstGeom prst="rect">
            <a:avLst/>
          </a:prstGeom>
          <a:noFill/>
          <a:ln/>
        </p:spPr>
        <p:txBody>
          <a:bodyPr wrap="square" lIns="0" tIns="0" rIns="0" bIns="0" rtlCol="0" anchor="ctr"/>
          <a:lstStyle/>
          <a:p>
            <a:pPr indent="0" marL="0">
              <a:buNone/>
            </a:pPr>
            <a:r>
              <a:rPr lang="en-US" sz="1600" b="1" dirty="0">
                <a:solidFill>
                  <a:schemeClr val="tx1"/>
                </a:solidFill>
              </a:rPr>
              <a:t>Find the widest gap</a:t>
            </a:r>
            <a:endParaRPr lang="en-US" sz="1600" dirty="0"/>
          </a:p>
        </p:txBody>
      </p:sp>
      <p:sp>
        <p:nvSpPr>
          <p:cNvPr id="14" name="text-664"/>
          <p:cNvSpPr txBox="1"/>
          <p:nvPr/>
        </p:nvSpPr>
        <p:spPr>
          <a:xfrm>
            <a:off x="6414516" y="2103120"/>
            <a:ext cx="2201418" cy="640080"/>
          </a:xfrm>
          <a:prstGeom prst="rect">
            <a:avLst/>
          </a:prstGeom>
          <a:noFill/>
          <a:ln/>
        </p:spPr>
        <p:txBody>
          <a:bodyPr wrap="square" lIns="0" tIns="0" rIns="0" bIns="0" rtlCol="0" anchor="t"/>
          <a:lstStyle/>
          <a:p>
            <a:pPr indent="0" marL="0">
              <a:buNone/>
            </a:pPr>
            <a:r>
              <a:rPr lang="en-US" sz="1400" dirty="0">
                <a:solidFill>
                  <a:schemeClr val="tx2"/>
                </a:solidFill>
              </a:rPr>
              <a:t>Group neighbouring free rays; keep the largest</a:t>
            </a:r>
            <a:endParaRPr lang="en-US" sz="1400" dirty="0"/>
          </a:p>
        </p:txBody>
      </p:sp>
      <p:sp>
        <p:nvSpPr>
          <p:cNvPr id="15" name="card-665"/>
          <p:cNvSpPr/>
          <p:nvPr/>
        </p:nvSpPr>
        <p:spPr>
          <a:xfrm>
            <a:off x="9073134" y="1417320"/>
            <a:ext cx="2567178" cy="1417320"/>
          </a:xfrm>
          <a:prstGeom prst="roundRect">
            <a:avLst>
              <a:gd name="adj" fmla="val 5161"/>
            </a:avLst>
          </a:prstGeom>
          <a:solidFill>
            <a:schemeClr val="bg1"/>
          </a:solidFill>
          <a:ln/>
          <a:effectLst>
            <a:outerShdw sx="100000" sy="100000" kx="0" ky="0" algn="bl" rotWithShape="0" blurRad="101600" dist="25400" dir="5400000">
              <a:srgbClr val="000000">
                <a:alpha val="12000"/>
              </a:srgbClr>
            </a:outerShdw>
          </a:effectLst>
        </p:spPr>
      </p:sp>
      <p:sp>
        <p:nvSpPr>
          <p:cNvPr id="16" name="badge-666"/>
          <p:cNvSpPr/>
          <p:nvPr/>
        </p:nvSpPr>
        <p:spPr>
          <a:xfrm>
            <a:off x="9256014" y="1572768"/>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667"/>
          <p:cNvSpPr txBox="1"/>
          <p:nvPr/>
        </p:nvSpPr>
        <p:spPr>
          <a:xfrm>
            <a:off x="9786366" y="1572768"/>
            <a:ext cx="1698498" cy="411480"/>
          </a:xfrm>
          <a:prstGeom prst="rect">
            <a:avLst/>
          </a:prstGeom>
          <a:noFill/>
          <a:ln/>
        </p:spPr>
        <p:txBody>
          <a:bodyPr wrap="square" lIns="0" tIns="0" rIns="0" bIns="0" rtlCol="0" anchor="ctr"/>
          <a:lstStyle/>
          <a:p>
            <a:pPr indent="0" marL="0">
              <a:buNone/>
            </a:pPr>
            <a:r>
              <a:rPr lang="en-US" sz="1600" b="1" dirty="0">
                <a:solidFill>
                  <a:schemeClr val="tx1"/>
                </a:solidFill>
              </a:rPr>
              <a:t>Aim at its middle</a:t>
            </a:r>
            <a:endParaRPr lang="en-US" sz="1600" dirty="0"/>
          </a:p>
        </p:txBody>
      </p:sp>
      <p:sp>
        <p:nvSpPr>
          <p:cNvPr id="18" name="text-668"/>
          <p:cNvSpPr txBox="1"/>
          <p:nvPr/>
        </p:nvSpPr>
        <p:spPr>
          <a:xfrm>
            <a:off x="9256014" y="2103120"/>
            <a:ext cx="2201418" cy="640080"/>
          </a:xfrm>
          <a:prstGeom prst="rect">
            <a:avLst/>
          </a:prstGeom>
          <a:noFill/>
          <a:ln/>
        </p:spPr>
        <p:txBody>
          <a:bodyPr wrap="square" lIns="0" tIns="0" rIns="0" bIns="0" rtlCol="0" anchor="t"/>
          <a:lstStyle/>
          <a:p>
            <a:pPr indent="0" marL="0">
              <a:buNone/>
            </a:pPr>
            <a:r>
              <a:rPr lang="en-US" sz="1400" dirty="0">
                <a:solidFill>
                  <a:schemeClr val="tx2"/>
                </a:solidFill>
              </a:rPr>
              <a:t>Steer toward the gap centre with Pure Pursuit</a:t>
            </a:r>
            <a:endParaRPr lang="en-US" sz="1400" dirty="0"/>
          </a:p>
        </p:txBody>
      </p:sp>
      <p:sp>
        <p:nvSpPr>
          <p:cNvPr id="19" name="ray-bar-669"/>
          <p:cNvSpPr/>
          <p:nvPr/>
        </p:nvSpPr>
        <p:spPr>
          <a:xfrm>
            <a:off x="868680" y="5065776"/>
            <a:ext cx="219456" cy="603504"/>
          </a:xfrm>
          <a:prstGeom prst="rect">
            <a:avLst/>
          </a:prstGeom>
          <a:solidFill>
            <a:schemeClr val="accent1"/>
          </a:solidFill>
          <a:ln/>
        </p:spPr>
      </p:sp>
      <p:sp>
        <p:nvSpPr>
          <p:cNvPr id="20" name="ray-bar-670"/>
          <p:cNvSpPr/>
          <p:nvPr/>
        </p:nvSpPr>
        <p:spPr>
          <a:xfrm>
            <a:off x="1188720" y="5032248"/>
            <a:ext cx="219456" cy="637032"/>
          </a:xfrm>
          <a:prstGeom prst="rect">
            <a:avLst/>
          </a:prstGeom>
          <a:solidFill>
            <a:schemeClr val="accent1"/>
          </a:solidFill>
          <a:ln/>
        </p:spPr>
      </p:sp>
      <p:sp>
        <p:nvSpPr>
          <p:cNvPr id="21" name="ray-bar-671"/>
          <p:cNvSpPr/>
          <p:nvPr/>
        </p:nvSpPr>
        <p:spPr>
          <a:xfrm>
            <a:off x="1508760" y="4998720"/>
            <a:ext cx="219456" cy="670560"/>
          </a:xfrm>
          <a:prstGeom prst="rect">
            <a:avLst/>
          </a:prstGeom>
          <a:solidFill>
            <a:schemeClr val="accent1"/>
          </a:solidFill>
          <a:ln/>
        </p:spPr>
      </p:sp>
      <p:sp>
        <p:nvSpPr>
          <p:cNvPr id="22" name="ray-bar-672"/>
          <p:cNvSpPr/>
          <p:nvPr/>
        </p:nvSpPr>
        <p:spPr>
          <a:xfrm>
            <a:off x="1828800" y="4931664"/>
            <a:ext cx="219456" cy="737616"/>
          </a:xfrm>
          <a:prstGeom prst="rect">
            <a:avLst/>
          </a:prstGeom>
          <a:solidFill>
            <a:schemeClr val="accent1"/>
          </a:solidFill>
          <a:ln/>
        </p:spPr>
      </p:sp>
      <p:sp>
        <p:nvSpPr>
          <p:cNvPr id="23" name="ray-bar-673"/>
          <p:cNvSpPr/>
          <p:nvPr/>
        </p:nvSpPr>
        <p:spPr>
          <a:xfrm>
            <a:off x="2148840" y="4797552"/>
            <a:ext cx="219456" cy="871728"/>
          </a:xfrm>
          <a:prstGeom prst="rect">
            <a:avLst/>
          </a:prstGeom>
          <a:solidFill>
            <a:schemeClr val="accent2"/>
          </a:solidFill>
          <a:ln/>
        </p:spPr>
      </p:sp>
      <p:sp>
        <p:nvSpPr>
          <p:cNvPr id="24" name="ray-bar-674"/>
          <p:cNvSpPr/>
          <p:nvPr/>
        </p:nvSpPr>
        <p:spPr>
          <a:xfrm>
            <a:off x="2468880" y="4596384"/>
            <a:ext cx="219456" cy="1072896"/>
          </a:xfrm>
          <a:prstGeom prst="rect">
            <a:avLst/>
          </a:prstGeom>
          <a:solidFill>
            <a:schemeClr val="accent2"/>
          </a:solidFill>
          <a:ln/>
        </p:spPr>
      </p:sp>
      <p:sp>
        <p:nvSpPr>
          <p:cNvPr id="25" name="ray-bar-675"/>
          <p:cNvSpPr/>
          <p:nvPr/>
        </p:nvSpPr>
        <p:spPr>
          <a:xfrm>
            <a:off x="2788920" y="4328160"/>
            <a:ext cx="219456" cy="1341120"/>
          </a:xfrm>
          <a:prstGeom prst="rect">
            <a:avLst/>
          </a:prstGeom>
          <a:solidFill>
            <a:schemeClr val="accent4"/>
          </a:solidFill>
          <a:ln/>
        </p:spPr>
      </p:sp>
      <p:sp>
        <p:nvSpPr>
          <p:cNvPr id="26" name="ray-bar-676"/>
          <p:cNvSpPr/>
          <p:nvPr/>
        </p:nvSpPr>
        <p:spPr>
          <a:xfrm>
            <a:off x="3108960" y="3925824"/>
            <a:ext cx="219456" cy="1743456"/>
          </a:xfrm>
          <a:prstGeom prst="rect">
            <a:avLst/>
          </a:prstGeom>
          <a:solidFill>
            <a:schemeClr val="accent4"/>
          </a:solidFill>
          <a:ln/>
        </p:spPr>
      </p:sp>
      <p:sp>
        <p:nvSpPr>
          <p:cNvPr id="27" name="ray-bar-677"/>
          <p:cNvSpPr/>
          <p:nvPr/>
        </p:nvSpPr>
        <p:spPr>
          <a:xfrm>
            <a:off x="3429000" y="3657600"/>
            <a:ext cx="219456" cy="2011680"/>
          </a:xfrm>
          <a:prstGeom prst="rect">
            <a:avLst/>
          </a:prstGeom>
          <a:solidFill>
            <a:schemeClr val="accent4"/>
          </a:solidFill>
          <a:ln/>
        </p:spPr>
      </p:sp>
      <p:sp>
        <p:nvSpPr>
          <p:cNvPr id="28" name="ray-bar-678"/>
          <p:cNvSpPr/>
          <p:nvPr/>
        </p:nvSpPr>
        <p:spPr>
          <a:xfrm>
            <a:off x="3749040" y="3657600"/>
            <a:ext cx="219456" cy="2011680"/>
          </a:xfrm>
          <a:prstGeom prst="rect">
            <a:avLst/>
          </a:prstGeom>
          <a:solidFill>
            <a:schemeClr val="accent4"/>
          </a:solidFill>
          <a:ln/>
        </p:spPr>
      </p:sp>
      <p:sp>
        <p:nvSpPr>
          <p:cNvPr id="29" name="ray-bar-679"/>
          <p:cNvSpPr/>
          <p:nvPr/>
        </p:nvSpPr>
        <p:spPr>
          <a:xfrm>
            <a:off x="4069080" y="3657600"/>
            <a:ext cx="219456" cy="2011680"/>
          </a:xfrm>
          <a:prstGeom prst="rect">
            <a:avLst/>
          </a:prstGeom>
          <a:solidFill>
            <a:schemeClr val="accent4"/>
          </a:solidFill>
          <a:ln/>
        </p:spPr>
      </p:sp>
      <p:sp>
        <p:nvSpPr>
          <p:cNvPr id="30" name="ray-bar-680"/>
          <p:cNvSpPr/>
          <p:nvPr/>
        </p:nvSpPr>
        <p:spPr>
          <a:xfrm>
            <a:off x="4389120" y="3657600"/>
            <a:ext cx="219456" cy="2011680"/>
          </a:xfrm>
          <a:prstGeom prst="rect">
            <a:avLst/>
          </a:prstGeom>
          <a:solidFill>
            <a:schemeClr val="accent4"/>
          </a:solidFill>
          <a:ln/>
        </p:spPr>
      </p:sp>
      <p:sp>
        <p:nvSpPr>
          <p:cNvPr id="31" name="ray-bar-681"/>
          <p:cNvSpPr/>
          <p:nvPr/>
        </p:nvSpPr>
        <p:spPr>
          <a:xfrm>
            <a:off x="4709160" y="3657600"/>
            <a:ext cx="219456" cy="2011680"/>
          </a:xfrm>
          <a:prstGeom prst="rect">
            <a:avLst/>
          </a:prstGeom>
          <a:solidFill>
            <a:schemeClr val="accent4"/>
          </a:solidFill>
          <a:ln/>
        </p:spPr>
      </p:sp>
      <p:sp>
        <p:nvSpPr>
          <p:cNvPr id="32" name="ray-bar-682"/>
          <p:cNvSpPr/>
          <p:nvPr/>
        </p:nvSpPr>
        <p:spPr>
          <a:xfrm>
            <a:off x="5029200" y="3657600"/>
            <a:ext cx="219456" cy="2011680"/>
          </a:xfrm>
          <a:prstGeom prst="rect">
            <a:avLst/>
          </a:prstGeom>
          <a:solidFill>
            <a:schemeClr val="accent2"/>
          </a:solidFill>
          <a:ln/>
        </p:spPr>
      </p:sp>
      <p:sp>
        <p:nvSpPr>
          <p:cNvPr id="33" name="ray-bar-683"/>
          <p:cNvSpPr/>
          <p:nvPr/>
        </p:nvSpPr>
        <p:spPr>
          <a:xfrm>
            <a:off x="5349240" y="4059936"/>
            <a:ext cx="219456" cy="1609344"/>
          </a:xfrm>
          <a:prstGeom prst="rect">
            <a:avLst/>
          </a:prstGeom>
          <a:solidFill>
            <a:schemeClr val="accent2"/>
          </a:solidFill>
          <a:ln/>
        </p:spPr>
      </p:sp>
      <p:sp>
        <p:nvSpPr>
          <p:cNvPr id="34" name="ray-bar-684"/>
          <p:cNvSpPr/>
          <p:nvPr/>
        </p:nvSpPr>
        <p:spPr>
          <a:xfrm>
            <a:off x="5669280" y="4998720"/>
            <a:ext cx="219456" cy="670560"/>
          </a:xfrm>
          <a:prstGeom prst="rect">
            <a:avLst/>
          </a:prstGeom>
          <a:solidFill>
            <a:schemeClr val="accent1"/>
          </a:solidFill>
          <a:ln/>
        </p:spPr>
      </p:sp>
      <p:sp>
        <p:nvSpPr>
          <p:cNvPr id="35" name="ray-bar-685"/>
          <p:cNvSpPr/>
          <p:nvPr/>
        </p:nvSpPr>
        <p:spPr>
          <a:xfrm>
            <a:off x="5989320" y="5065776"/>
            <a:ext cx="219456" cy="603504"/>
          </a:xfrm>
          <a:prstGeom prst="rect">
            <a:avLst/>
          </a:prstGeom>
          <a:solidFill>
            <a:schemeClr val="accent1"/>
          </a:solidFill>
          <a:ln/>
        </p:spPr>
      </p:sp>
      <p:sp>
        <p:nvSpPr>
          <p:cNvPr id="36" name="ray-bar-686"/>
          <p:cNvSpPr/>
          <p:nvPr/>
        </p:nvSpPr>
        <p:spPr>
          <a:xfrm>
            <a:off x="6309360" y="4998720"/>
            <a:ext cx="219456" cy="670560"/>
          </a:xfrm>
          <a:prstGeom prst="rect">
            <a:avLst/>
          </a:prstGeom>
          <a:solidFill>
            <a:schemeClr val="accent1"/>
          </a:solidFill>
          <a:ln/>
        </p:spPr>
      </p:sp>
      <p:sp>
        <p:nvSpPr>
          <p:cNvPr id="37" name="ray-bar-687"/>
          <p:cNvSpPr/>
          <p:nvPr/>
        </p:nvSpPr>
        <p:spPr>
          <a:xfrm>
            <a:off x="6629400" y="4194048"/>
            <a:ext cx="219456" cy="1475232"/>
          </a:xfrm>
          <a:prstGeom prst="rect">
            <a:avLst/>
          </a:prstGeom>
          <a:solidFill>
            <a:schemeClr val="accent2"/>
          </a:solidFill>
          <a:ln/>
        </p:spPr>
      </p:sp>
      <p:sp>
        <p:nvSpPr>
          <p:cNvPr id="38" name="ray-bar-688"/>
          <p:cNvSpPr/>
          <p:nvPr/>
        </p:nvSpPr>
        <p:spPr>
          <a:xfrm>
            <a:off x="6949440" y="3657600"/>
            <a:ext cx="219456" cy="2011680"/>
          </a:xfrm>
          <a:prstGeom prst="rect">
            <a:avLst/>
          </a:prstGeom>
          <a:solidFill>
            <a:schemeClr val="accent2"/>
          </a:solidFill>
          <a:ln/>
        </p:spPr>
      </p:sp>
      <p:sp>
        <p:nvSpPr>
          <p:cNvPr id="39" name="ray-bar-689"/>
          <p:cNvSpPr/>
          <p:nvPr/>
        </p:nvSpPr>
        <p:spPr>
          <a:xfrm>
            <a:off x="7269480" y="3657600"/>
            <a:ext cx="219456" cy="2011680"/>
          </a:xfrm>
          <a:prstGeom prst="rect">
            <a:avLst/>
          </a:prstGeom>
          <a:solidFill>
            <a:schemeClr val="accent3"/>
          </a:solidFill>
          <a:ln/>
        </p:spPr>
      </p:sp>
      <p:sp>
        <p:nvSpPr>
          <p:cNvPr id="40" name="ray-bar-690"/>
          <p:cNvSpPr/>
          <p:nvPr/>
        </p:nvSpPr>
        <p:spPr>
          <a:xfrm>
            <a:off x="7589520" y="3657600"/>
            <a:ext cx="219456" cy="2011680"/>
          </a:xfrm>
          <a:prstGeom prst="rect">
            <a:avLst/>
          </a:prstGeom>
          <a:solidFill>
            <a:schemeClr val="accent3"/>
          </a:solidFill>
          <a:ln/>
        </p:spPr>
      </p:sp>
      <p:sp>
        <p:nvSpPr>
          <p:cNvPr id="41" name="ray-bar-691"/>
          <p:cNvSpPr/>
          <p:nvPr/>
        </p:nvSpPr>
        <p:spPr>
          <a:xfrm>
            <a:off x="7909560" y="3657600"/>
            <a:ext cx="219456" cy="2011680"/>
          </a:xfrm>
          <a:prstGeom prst="rect">
            <a:avLst/>
          </a:prstGeom>
          <a:solidFill>
            <a:schemeClr val="accent3"/>
          </a:solidFill>
          <a:ln/>
        </p:spPr>
      </p:sp>
      <p:sp>
        <p:nvSpPr>
          <p:cNvPr id="42" name="ray-bar-692"/>
          <p:cNvSpPr/>
          <p:nvPr/>
        </p:nvSpPr>
        <p:spPr>
          <a:xfrm>
            <a:off x="8229600" y="3657600"/>
            <a:ext cx="219456" cy="2011680"/>
          </a:xfrm>
          <a:prstGeom prst="rect">
            <a:avLst/>
          </a:prstGeom>
          <a:solidFill>
            <a:schemeClr val="accent3"/>
          </a:solidFill>
          <a:ln/>
        </p:spPr>
      </p:sp>
      <p:sp>
        <p:nvSpPr>
          <p:cNvPr id="43" name="ray-bar-693"/>
          <p:cNvSpPr/>
          <p:nvPr/>
        </p:nvSpPr>
        <p:spPr>
          <a:xfrm>
            <a:off x="8549640" y="3657600"/>
            <a:ext cx="219456" cy="2011680"/>
          </a:xfrm>
          <a:prstGeom prst="rect">
            <a:avLst/>
          </a:prstGeom>
          <a:solidFill>
            <a:schemeClr val="accent3"/>
          </a:solidFill>
          <a:ln/>
        </p:spPr>
      </p:sp>
      <p:sp>
        <p:nvSpPr>
          <p:cNvPr id="44" name="ray-bar-694"/>
          <p:cNvSpPr/>
          <p:nvPr/>
        </p:nvSpPr>
        <p:spPr>
          <a:xfrm>
            <a:off x="8869680" y="3657600"/>
            <a:ext cx="219456" cy="2011680"/>
          </a:xfrm>
          <a:prstGeom prst="rect">
            <a:avLst/>
          </a:prstGeom>
          <a:solidFill>
            <a:schemeClr val="accent3"/>
          </a:solidFill>
          <a:ln/>
        </p:spPr>
      </p:sp>
      <p:sp>
        <p:nvSpPr>
          <p:cNvPr id="45" name="ray-bar-695"/>
          <p:cNvSpPr/>
          <p:nvPr/>
        </p:nvSpPr>
        <p:spPr>
          <a:xfrm>
            <a:off x="9189720" y="3657600"/>
            <a:ext cx="219456" cy="2011680"/>
          </a:xfrm>
          <a:prstGeom prst="rect">
            <a:avLst/>
          </a:prstGeom>
          <a:solidFill>
            <a:schemeClr val="accent3"/>
          </a:solidFill>
          <a:ln/>
        </p:spPr>
      </p:sp>
      <p:sp>
        <p:nvSpPr>
          <p:cNvPr id="46" name="ray-bar-696"/>
          <p:cNvSpPr/>
          <p:nvPr/>
        </p:nvSpPr>
        <p:spPr>
          <a:xfrm>
            <a:off x="9509760" y="3657600"/>
            <a:ext cx="219456" cy="2011680"/>
          </a:xfrm>
          <a:prstGeom prst="rect">
            <a:avLst/>
          </a:prstGeom>
          <a:solidFill>
            <a:schemeClr val="accent3"/>
          </a:solidFill>
          <a:ln/>
        </p:spPr>
      </p:sp>
      <p:sp>
        <p:nvSpPr>
          <p:cNvPr id="47" name="ray-bar-697"/>
          <p:cNvSpPr/>
          <p:nvPr/>
        </p:nvSpPr>
        <p:spPr>
          <a:xfrm>
            <a:off x="9829800" y="3992880"/>
            <a:ext cx="219456" cy="1676400"/>
          </a:xfrm>
          <a:prstGeom prst="rect">
            <a:avLst/>
          </a:prstGeom>
          <a:solidFill>
            <a:schemeClr val="accent3"/>
          </a:solidFill>
          <a:ln/>
        </p:spPr>
      </p:sp>
      <p:sp>
        <p:nvSpPr>
          <p:cNvPr id="48" name="ray-bar-698"/>
          <p:cNvSpPr/>
          <p:nvPr/>
        </p:nvSpPr>
        <p:spPr>
          <a:xfrm>
            <a:off x="10149840" y="4462272"/>
            <a:ext cx="219456" cy="1207008"/>
          </a:xfrm>
          <a:prstGeom prst="rect">
            <a:avLst/>
          </a:prstGeom>
          <a:solidFill>
            <a:schemeClr val="accent2"/>
          </a:solidFill>
          <a:ln/>
        </p:spPr>
      </p:sp>
      <p:sp>
        <p:nvSpPr>
          <p:cNvPr id="49" name="ray-bar-699"/>
          <p:cNvSpPr/>
          <p:nvPr/>
        </p:nvSpPr>
        <p:spPr>
          <a:xfrm>
            <a:off x="10469880" y="4797552"/>
            <a:ext cx="219456" cy="871728"/>
          </a:xfrm>
          <a:prstGeom prst="rect">
            <a:avLst/>
          </a:prstGeom>
          <a:solidFill>
            <a:schemeClr val="accent2"/>
          </a:solidFill>
          <a:ln/>
        </p:spPr>
      </p:sp>
      <p:sp>
        <p:nvSpPr>
          <p:cNvPr id="50" name="ray-bar-700"/>
          <p:cNvSpPr/>
          <p:nvPr/>
        </p:nvSpPr>
        <p:spPr>
          <a:xfrm>
            <a:off x="10789920" y="4998720"/>
            <a:ext cx="219456" cy="670560"/>
          </a:xfrm>
          <a:prstGeom prst="rect">
            <a:avLst/>
          </a:prstGeom>
          <a:solidFill>
            <a:schemeClr val="accent1"/>
          </a:solidFill>
          <a:ln/>
        </p:spPr>
      </p:sp>
      <p:sp>
        <p:nvSpPr>
          <p:cNvPr id="51" name="ray-bar-701"/>
          <p:cNvSpPr/>
          <p:nvPr/>
        </p:nvSpPr>
        <p:spPr>
          <a:xfrm>
            <a:off x="11109960" y="5132832"/>
            <a:ext cx="219456" cy="536448"/>
          </a:xfrm>
          <a:prstGeom prst="rect">
            <a:avLst/>
          </a:prstGeom>
          <a:solidFill>
            <a:schemeClr val="accent1"/>
          </a:solidFill>
          <a:ln/>
        </p:spPr>
      </p:sp>
      <p:sp>
        <p:nvSpPr>
          <p:cNvPr id="52" name="line-702"/>
          <p:cNvSpPr/>
          <p:nvPr/>
        </p:nvSpPr>
        <p:spPr>
          <a:xfrm>
            <a:off x="731520" y="5669280"/>
            <a:ext cx="10698480" cy="0"/>
          </a:xfrm>
          <a:prstGeom prst="line">
            <a:avLst/>
          </a:prstGeom>
          <a:noFill/>
          <a:ln w="12700">
            <a:solidFill>
              <a:srgbClr val="2B2F38"/>
            </a:solidFill>
            <a:prstDash val="solid"/>
          </a:ln>
        </p:spPr>
      </p:sp>
      <p:sp>
        <p:nvSpPr>
          <p:cNvPr id="53" name="aim-arrow"/>
          <p:cNvSpPr/>
          <p:nvPr/>
        </p:nvSpPr>
        <p:spPr>
          <a:xfrm>
            <a:off x="8503920" y="3136392"/>
            <a:ext cx="310896" cy="384048"/>
          </a:xfrm>
          <a:prstGeom prst="downArrow">
            <a:avLst/>
          </a:prstGeom>
          <a:solidFill>
            <a:schemeClr val="tx1"/>
          </a:solidFill>
          <a:ln/>
        </p:spPr>
      </p:sp>
      <p:sp>
        <p:nvSpPr>
          <p:cNvPr id="54" name="text-703"/>
          <p:cNvSpPr txBox="1"/>
          <p:nvPr/>
        </p:nvSpPr>
        <p:spPr>
          <a:xfrm>
            <a:off x="8887968" y="3154680"/>
            <a:ext cx="1097280" cy="320040"/>
          </a:xfrm>
          <a:prstGeom prst="rect">
            <a:avLst/>
          </a:prstGeom>
          <a:noFill/>
          <a:ln/>
        </p:spPr>
        <p:txBody>
          <a:bodyPr wrap="square" lIns="0" tIns="0" rIns="0" bIns="0" rtlCol="0" anchor="ctr"/>
          <a:lstStyle/>
          <a:p>
            <a:pPr indent="0" marL="0">
              <a:buNone/>
            </a:pPr>
            <a:r>
              <a:rPr lang="en-US" sz="1400" b="1" dirty="0">
                <a:solidFill>
                  <a:schemeClr val="tx1"/>
                </a:solidFill>
              </a:rPr>
              <a:t>aim here</a:t>
            </a:r>
            <a:endParaRPr lang="en-US" sz="1400" dirty="0"/>
          </a:p>
        </p:txBody>
      </p:sp>
      <p:sp>
        <p:nvSpPr>
          <p:cNvPr id="55" name="text-704"/>
          <p:cNvSpPr txBox="1"/>
          <p:nvPr/>
        </p:nvSpPr>
        <p:spPr>
          <a:xfrm>
            <a:off x="731520" y="5733288"/>
            <a:ext cx="1463040" cy="274320"/>
          </a:xfrm>
          <a:prstGeom prst="rect">
            <a:avLst/>
          </a:prstGeom>
          <a:noFill/>
          <a:ln/>
        </p:spPr>
        <p:txBody>
          <a:bodyPr wrap="square" lIns="0" tIns="0" rIns="0" bIns="0" rtlCol="0" anchor="t"/>
          <a:lstStyle/>
          <a:p>
            <a:pPr indent="0" marL="0">
              <a:buNone/>
            </a:pPr>
            <a:r>
              <a:rPr lang="en-US" sz="1200" dirty="0">
                <a:solidFill>
                  <a:schemeClr val="accent4"/>
                </a:solidFill>
              </a:rPr>
              <a:t>+80° (left)</a:t>
            </a:r>
            <a:endParaRPr lang="en-US" sz="1200" dirty="0"/>
          </a:p>
        </p:txBody>
      </p:sp>
      <p:sp>
        <p:nvSpPr>
          <p:cNvPr id="56" name="text-705"/>
          <p:cNvSpPr txBox="1"/>
          <p:nvPr/>
        </p:nvSpPr>
        <p:spPr>
          <a:xfrm>
            <a:off x="5367528" y="5733288"/>
            <a:ext cx="1463040" cy="274320"/>
          </a:xfrm>
          <a:prstGeom prst="rect">
            <a:avLst/>
          </a:prstGeom>
          <a:noFill/>
          <a:ln/>
        </p:spPr>
        <p:txBody>
          <a:bodyPr wrap="square" lIns="0" tIns="0" rIns="0" bIns="0" rtlCol="0" anchor="t"/>
          <a:lstStyle/>
          <a:p>
            <a:pPr algn="ctr" indent="0" marL="0">
              <a:buNone/>
            </a:pPr>
            <a:r>
              <a:rPr lang="en-US" sz="1200" dirty="0">
                <a:solidFill>
                  <a:schemeClr val="accent4"/>
                </a:solidFill>
              </a:rPr>
              <a:t>0° (ahead)</a:t>
            </a:r>
            <a:endParaRPr lang="en-US" sz="1200" dirty="0"/>
          </a:p>
        </p:txBody>
      </p:sp>
      <p:sp>
        <p:nvSpPr>
          <p:cNvPr id="57" name="text-706"/>
          <p:cNvSpPr txBox="1"/>
          <p:nvPr/>
        </p:nvSpPr>
        <p:spPr>
          <a:xfrm>
            <a:off x="9966960" y="5733288"/>
            <a:ext cx="1463040" cy="274320"/>
          </a:xfrm>
          <a:prstGeom prst="rect">
            <a:avLst/>
          </a:prstGeom>
          <a:noFill/>
          <a:ln/>
        </p:spPr>
        <p:txBody>
          <a:bodyPr wrap="square" lIns="0" tIns="0" rIns="0" bIns="0" rtlCol="0" anchor="t"/>
          <a:lstStyle/>
          <a:p>
            <a:pPr algn="r" indent="0" marL="0">
              <a:buNone/>
            </a:pPr>
            <a:r>
              <a:rPr lang="en-US" sz="1200" dirty="0">
                <a:solidFill>
                  <a:schemeClr val="accent4"/>
                </a:solidFill>
              </a:rPr>
              <a:t>−80° (right)</a:t>
            </a:r>
            <a:endParaRPr lang="en-US" sz="1200" dirty="0"/>
          </a:p>
        </p:txBody>
      </p:sp>
      <p:sp>
        <p:nvSpPr>
          <p:cNvPr id="58" name="legend-swatch-707"/>
          <p:cNvSpPr/>
          <p:nvPr/>
        </p:nvSpPr>
        <p:spPr>
          <a:xfrm>
            <a:off x="868680" y="3218688"/>
            <a:ext cx="182880" cy="182880"/>
          </a:xfrm>
          <a:prstGeom prst="rect">
            <a:avLst/>
          </a:prstGeom>
          <a:solidFill>
            <a:schemeClr val="accent1"/>
          </a:solidFill>
          <a:ln/>
        </p:spPr>
      </p:sp>
      <p:sp>
        <p:nvSpPr>
          <p:cNvPr id="59" name="text-708"/>
          <p:cNvSpPr txBox="1"/>
          <p:nvPr/>
        </p:nvSpPr>
        <p:spPr>
          <a:xfrm>
            <a:off x="1143000" y="3154680"/>
            <a:ext cx="1280160" cy="320040"/>
          </a:xfrm>
          <a:prstGeom prst="rect">
            <a:avLst/>
          </a:prstGeom>
          <a:noFill/>
          <a:ln/>
        </p:spPr>
        <p:txBody>
          <a:bodyPr wrap="square" lIns="0" tIns="0" rIns="0" bIns="0" rtlCol="0" anchor="ctr"/>
          <a:lstStyle/>
          <a:p>
            <a:pPr indent="0" marL="0">
              <a:buNone/>
            </a:pPr>
            <a:r>
              <a:rPr lang="en-US" sz="1200" dirty="0">
                <a:solidFill>
                  <a:schemeClr val="tx2"/>
                </a:solidFill>
              </a:rPr>
              <a:t>blocked</a:t>
            </a:r>
            <a:endParaRPr lang="en-US" sz="1200" dirty="0"/>
          </a:p>
        </p:txBody>
      </p:sp>
      <p:sp>
        <p:nvSpPr>
          <p:cNvPr id="60" name="legend-swatch-709"/>
          <p:cNvSpPr/>
          <p:nvPr/>
        </p:nvSpPr>
        <p:spPr>
          <a:xfrm>
            <a:off x="2468880" y="3218688"/>
            <a:ext cx="182880" cy="182880"/>
          </a:xfrm>
          <a:prstGeom prst="rect">
            <a:avLst/>
          </a:prstGeom>
          <a:solidFill>
            <a:schemeClr val="accent2"/>
          </a:solidFill>
          <a:ln/>
        </p:spPr>
      </p:sp>
      <p:sp>
        <p:nvSpPr>
          <p:cNvPr id="61" name="text-710"/>
          <p:cNvSpPr txBox="1"/>
          <p:nvPr/>
        </p:nvSpPr>
        <p:spPr>
          <a:xfrm>
            <a:off x="2743200" y="3154680"/>
            <a:ext cx="1280160" cy="320040"/>
          </a:xfrm>
          <a:prstGeom prst="rect">
            <a:avLst/>
          </a:prstGeom>
          <a:noFill/>
          <a:ln/>
        </p:spPr>
        <p:txBody>
          <a:bodyPr wrap="square" lIns="0" tIns="0" rIns="0" bIns="0" rtlCol="0" anchor="ctr"/>
          <a:lstStyle/>
          <a:p>
            <a:pPr indent="0" marL="0">
              <a:buNone/>
            </a:pPr>
            <a:r>
              <a:rPr lang="en-US" sz="1200" dirty="0">
                <a:solidFill>
                  <a:schemeClr val="tx2"/>
                </a:solidFill>
              </a:rPr>
              <a:t>safety bubble</a:t>
            </a:r>
            <a:endParaRPr lang="en-US" sz="1200" dirty="0"/>
          </a:p>
        </p:txBody>
      </p:sp>
      <p:sp>
        <p:nvSpPr>
          <p:cNvPr id="62" name="legend-swatch-711"/>
          <p:cNvSpPr/>
          <p:nvPr/>
        </p:nvSpPr>
        <p:spPr>
          <a:xfrm>
            <a:off x="4069080" y="3218688"/>
            <a:ext cx="182880" cy="182880"/>
          </a:xfrm>
          <a:prstGeom prst="rect">
            <a:avLst/>
          </a:prstGeom>
          <a:solidFill>
            <a:schemeClr val="accent4"/>
          </a:solidFill>
          <a:ln/>
        </p:spPr>
      </p:sp>
      <p:sp>
        <p:nvSpPr>
          <p:cNvPr id="63" name="text-712"/>
          <p:cNvSpPr txBox="1"/>
          <p:nvPr/>
        </p:nvSpPr>
        <p:spPr>
          <a:xfrm>
            <a:off x="4343400" y="3154680"/>
            <a:ext cx="1280160" cy="320040"/>
          </a:xfrm>
          <a:prstGeom prst="rect">
            <a:avLst/>
          </a:prstGeom>
          <a:noFill/>
          <a:ln/>
        </p:spPr>
        <p:txBody>
          <a:bodyPr wrap="square" lIns="0" tIns="0" rIns="0" bIns="0" rtlCol="0" anchor="ctr"/>
          <a:lstStyle/>
          <a:p>
            <a:pPr indent="0" marL="0">
              <a:buNone/>
            </a:pPr>
            <a:r>
              <a:rPr lang="en-US" sz="1200" dirty="0">
                <a:solidFill>
                  <a:schemeClr val="tx2"/>
                </a:solidFill>
              </a:rPr>
              <a:t>free</a:t>
            </a:r>
            <a:endParaRPr lang="en-US" sz="1200" dirty="0"/>
          </a:p>
        </p:txBody>
      </p:sp>
      <p:sp>
        <p:nvSpPr>
          <p:cNvPr id="64" name="legend-swatch-713"/>
          <p:cNvSpPr/>
          <p:nvPr/>
        </p:nvSpPr>
        <p:spPr>
          <a:xfrm>
            <a:off x="5669280" y="3218688"/>
            <a:ext cx="182880" cy="182880"/>
          </a:xfrm>
          <a:prstGeom prst="rect">
            <a:avLst/>
          </a:prstGeom>
          <a:solidFill>
            <a:schemeClr val="accent3"/>
          </a:solidFill>
          <a:ln/>
        </p:spPr>
      </p:sp>
      <p:sp>
        <p:nvSpPr>
          <p:cNvPr id="65" name="text-714"/>
          <p:cNvSpPr txBox="1"/>
          <p:nvPr/>
        </p:nvSpPr>
        <p:spPr>
          <a:xfrm>
            <a:off x="5943600" y="3154680"/>
            <a:ext cx="1280160" cy="320040"/>
          </a:xfrm>
          <a:prstGeom prst="rect">
            <a:avLst/>
          </a:prstGeom>
          <a:noFill/>
          <a:ln/>
        </p:spPr>
        <p:txBody>
          <a:bodyPr wrap="square" lIns="0" tIns="0" rIns="0" bIns="0" rtlCol="0" anchor="ctr"/>
          <a:lstStyle/>
          <a:p>
            <a:pPr indent="0" marL="0">
              <a:buNone/>
            </a:pPr>
            <a:r>
              <a:rPr lang="en-US" sz="1200" dirty="0">
                <a:solidFill>
                  <a:schemeClr val="tx2"/>
                </a:solidFill>
              </a:rPr>
              <a:t>chosen gap</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Pure Pursuit steering and speed</a:t>
            </a:r>
            <a:endParaRPr lang="en-US" sz="3600" dirty="0"/>
          </a:p>
        </p:txBody>
      </p:sp>
      <p:sp>
        <p:nvSpPr>
          <p:cNvPr id="3" name="pp-formula"/>
          <p:cNvSpPr/>
          <p:nvPr/>
        </p:nvSpPr>
        <p:spPr>
          <a:xfrm>
            <a:off x="548640" y="1463040"/>
            <a:ext cx="5212080" cy="1097280"/>
          </a:xfrm>
          <a:prstGeom prst="roundRect">
            <a:avLst>
              <a:gd name="adj" fmla="val 6667"/>
            </a:avLst>
          </a:prstGeom>
          <a:solidFill>
            <a:schemeClr val="tx1"/>
          </a:solidFill>
          <a:ln/>
          <a:effectLst>
            <a:outerShdw sx="100000" sy="100000" kx="0" ky="0" algn="bl" rotWithShape="0" blurRad="101600" dist="25400" dir="5400000">
              <a:srgbClr val="000000">
                <a:alpha val="12000"/>
              </a:srgbClr>
            </a:outerShdw>
          </a:effectLst>
        </p:spPr>
      </p:sp>
      <p:sp>
        <p:nvSpPr>
          <p:cNvPr id="4" name="text-715"/>
          <p:cNvSpPr txBox="1"/>
          <p:nvPr/>
        </p:nvSpPr>
        <p:spPr>
          <a:xfrm>
            <a:off x="777240" y="1536192"/>
            <a:ext cx="4846320" cy="594360"/>
          </a:xfrm>
          <a:prstGeom prst="rect">
            <a:avLst/>
          </a:prstGeom>
          <a:noFill/>
          <a:ln/>
        </p:spPr>
        <p:txBody>
          <a:bodyPr wrap="square" lIns="0" tIns="0" rIns="0" bIns="0" rtlCol="0" anchor="ctr"/>
          <a:lstStyle/>
          <a:p>
            <a:pPr indent="0" marL="0">
              <a:buNone/>
            </a:pPr>
            <a:r>
              <a:rPr lang="en-US" sz="2400" b="1" dirty="0">
                <a:solidFill>
                  <a:schemeClr val="bg1"/>
                </a:solidFill>
                <a:latin typeface="Arial" pitchFamily="34" charset="0"/>
                <a:ea typeface="Arial" pitchFamily="34" charset="-122"/>
                <a:cs typeface="Arial" pitchFamily="34" charset="-120"/>
              </a:rPr>
              <a:t>δ = arctan( 2b · sin α / L )</a:t>
            </a:r>
            <a:endParaRPr lang="en-US" sz="2400" dirty="0"/>
          </a:p>
        </p:txBody>
      </p:sp>
      <p:sp>
        <p:nvSpPr>
          <p:cNvPr id="5" name="text-716"/>
          <p:cNvSpPr txBox="1"/>
          <p:nvPr/>
        </p:nvSpPr>
        <p:spPr>
          <a:xfrm>
            <a:off x="777240" y="2103120"/>
            <a:ext cx="4846320" cy="320040"/>
          </a:xfrm>
          <a:prstGeom prst="rect">
            <a:avLst/>
          </a:prstGeom>
          <a:noFill/>
          <a:ln/>
        </p:spPr>
        <p:txBody>
          <a:bodyPr wrap="square" lIns="0" tIns="0" rIns="0" bIns="0" rtlCol="0" anchor="t"/>
          <a:lstStyle/>
          <a:p>
            <a:pPr indent="0" marL="0">
              <a:buNone/>
            </a:pPr>
            <a:r>
              <a:rPr lang="en-US" sz="1200" dirty="0">
                <a:solidFill>
                  <a:schemeClr val="accent6"/>
                </a:solidFill>
              </a:rPr>
              <a:t>b = 0.324 m wheelbase  ·  α = bearing to target  ·  L = lookahead</a:t>
            </a:r>
            <a:endParaRPr lang="en-US" sz="1200" dirty="0"/>
          </a:p>
        </p:txBody>
      </p:sp>
      <p:sp>
        <p:nvSpPr>
          <p:cNvPr id="6" name="dot-717"/>
          <p:cNvSpPr/>
          <p:nvPr/>
        </p:nvSpPr>
        <p:spPr>
          <a:xfrm>
            <a:off x="4163791" y="5453290"/>
            <a:ext cx="73152" cy="73152"/>
          </a:xfrm>
          <a:prstGeom prst="ellipse">
            <a:avLst/>
          </a:prstGeom>
          <a:solidFill>
            <a:schemeClr val="accent3"/>
          </a:solidFill>
          <a:ln/>
        </p:spPr>
      </p:sp>
      <p:sp>
        <p:nvSpPr>
          <p:cNvPr id="7" name="dot-718"/>
          <p:cNvSpPr/>
          <p:nvPr/>
        </p:nvSpPr>
        <p:spPr>
          <a:xfrm>
            <a:off x="4146196" y="5274645"/>
            <a:ext cx="73152" cy="73152"/>
          </a:xfrm>
          <a:prstGeom prst="ellipse">
            <a:avLst/>
          </a:prstGeom>
          <a:solidFill>
            <a:schemeClr val="accent3"/>
          </a:solidFill>
          <a:ln/>
        </p:spPr>
      </p:sp>
      <p:sp>
        <p:nvSpPr>
          <p:cNvPr id="8" name="dot-719"/>
          <p:cNvSpPr/>
          <p:nvPr/>
        </p:nvSpPr>
        <p:spPr>
          <a:xfrm>
            <a:off x="4116954" y="5097532"/>
            <a:ext cx="73152" cy="73152"/>
          </a:xfrm>
          <a:prstGeom prst="ellipse">
            <a:avLst/>
          </a:prstGeom>
          <a:solidFill>
            <a:schemeClr val="accent3"/>
          </a:solidFill>
          <a:ln/>
        </p:spPr>
      </p:sp>
      <p:sp>
        <p:nvSpPr>
          <p:cNvPr id="9" name="dot-720"/>
          <p:cNvSpPr/>
          <p:nvPr/>
        </p:nvSpPr>
        <p:spPr>
          <a:xfrm>
            <a:off x="4076192" y="4922712"/>
            <a:ext cx="73152" cy="73152"/>
          </a:xfrm>
          <a:prstGeom prst="ellipse">
            <a:avLst/>
          </a:prstGeom>
          <a:solidFill>
            <a:schemeClr val="accent3"/>
          </a:solidFill>
          <a:ln/>
        </p:spPr>
      </p:sp>
      <p:sp>
        <p:nvSpPr>
          <p:cNvPr id="10" name="dot-721"/>
          <p:cNvSpPr/>
          <p:nvPr/>
        </p:nvSpPr>
        <p:spPr>
          <a:xfrm>
            <a:off x="4024083" y="4750931"/>
            <a:ext cx="73152" cy="73152"/>
          </a:xfrm>
          <a:prstGeom prst="ellipse">
            <a:avLst/>
          </a:prstGeom>
          <a:solidFill>
            <a:schemeClr val="accent3"/>
          </a:solidFill>
          <a:ln/>
        </p:spPr>
      </p:sp>
      <p:sp>
        <p:nvSpPr>
          <p:cNvPr id="11" name="dot-722"/>
          <p:cNvSpPr/>
          <p:nvPr/>
        </p:nvSpPr>
        <p:spPr>
          <a:xfrm>
            <a:off x="3960850" y="4582927"/>
            <a:ext cx="73152" cy="73152"/>
          </a:xfrm>
          <a:prstGeom prst="ellipse">
            <a:avLst/>
          </a:prstGeom>
          <a:solidFill>
            <a:schemeClr val="accent3"/>
          </a:solidFill>
          <a:ln/>
        </p:spPr>
      </p:sp>
      <p:sp>
        <p:nvSpPr>
          <p:cNvPr id="12" name="dot-723"/>
          <p:cNvSpPr/>
          <p:nvPr/>
        </p:nvSpPr>
        <p:spPr>
          <a:xfrm>
            <a:off x="3886765" y="4419418"/>
            <a:ext cx="73152" cy="73152"/>
          </a:xfrm>
          <a:prstGeom prst="ellipse">
            <a:avLst/>
          </a:prstGeom>
          <a:solidFill>
            <a:schemeClr val="accent3"/>
          </a:solidFill>
          <a:ln/>
        </p:spPr>
      </p:sp>
      <p:sp>
        <p:nvSpPr>
          <p:cNvPr id="13" name="dot-724"/>
          <p:cNvSpPr/>
          <p:nvPr/>
        </p:nvSpPr>
        <p:spPr>
          <a:xfrm>
            <a:off x="3802145" y="4261104"/>
            <a:ext cx="73152" cy="73152"/>
          </a:xfrm>
          <a:prstGeom prst="ellipse">
            <a:avLst/>
          </a:prstGeom>
          <a:solidFill>
            <a:schemeClr val="accent3"/>
          </a:solidFill>
          <a:ln/>
        </p:spPr>
      </p:sp>
      <p:sp>
        <p:nvSpPr>
          <p:cNvPr id="14" name="dot-725"/>
          <p:cNvSpPr/>
          <p:nvPr/>
        </p:nvSpPr>
        <p:spPr>
          <a:xfrm>
            <a:off x="3707351" y="4108664"/>
            <a:ext cx="73152" cy="73152"/>
          </a:xfrm>
          <a:prstGeom prst="ellipse">
            <a:avLst/>
          </a:prstGeom>
          <a:solidFill>
            <a:schemeClr val="accent3"/>
          </a:solidFill>
          <a:ln/>
        </p:spPr>
      </p:sp>
      <p:sp>
        <p:nvSpPr>
          <p:cNvPr id="15" name="dot-726"/>
          <p:cNvSpPr/>
          <p:nvPr/>
        </p:nvSpPr>
        <p:spPr>
          <a:xfrm>
            <a:off x="3602791" y="3962750"/>
            <a:ext cx="73152" cy="73152"/>
          </a:xfrm>
          <a:prstGeom prst="ellipse">
            <a:avLst/>
          </a:prstGeom>
          <a:solidFill>
            <a:schemeClr val="accent3"/>
          </a:solidFill>
          <a:ln/>
        </p:spPr>
      </p:sp>
      <p:sp>
        <p:nvSpPr>
          <p:cNvPr id="16" name="dot-727"/>
          <p:cNvSpPr/>
          <p:nvPr/>
        </p:nvSpPr>
        <p:spPr>
          <a:xfrm>
            <a:off x="3488911" y="3823987"/>
            <a:ext cx="73152" cy="73152"/>
          </a:xfrm>
          <a:prstGeom prst="ellipse">
            <a:avLst/>
          </a:prstGeom>
          <a:solidFill>
            <a:schemeClr val="accent3"/>
          </a:solidFill>
          <a:ln/>
        </p:spPr>
      </p:sp>
      <p:sp>
        <p:nvSpPr>
          <p:cNvPr id="17" name="dot-728"/>
          <p:cNvSpPr/>
          <p:nvPr/>
        </p:nvSpPr>
        <p:spPr>
          <a:xfrm>
            <a:off x="3366199" y="3692969"/>
            <a:ext cx="73152" cy="73152"/>
          </a:xfrm>
          <a:prstGeom prst="ellipse">
            <a:avLst/>
          </a:prstGeom>
          <a:solidFill>
            <a:schemeClr val="accent3"/>
          </a:solidFill>
          <a:ln/>
        </p:spPr>
      </p:sp>
      <p:sp>
        <p:nvSpPr>
          <p:cNvPr id="18" name="dot-729"/>
          <p:cNvSpPr/>
          <p:nvPr/>
        </p:nvSpPr>
        <p:spPr>
          <a:xfrm>
            <a:off x="3235181" y="3570257"/>
            <a:ext cx="73152" cy="73152"/>
          </a:xfrm>
          <a:prstGeom prst="ellipse">
            <a:avLst/>
          </a:prstGeom>
          <a:solidFill>
            <a:schemeClr val="accent3"/>
          </a:solidFill>
          <a:ln/>
        </p:spPr>
      </p:sp>
      <p:sp>
        <p:nvSpPr>
          <p:cNvPr id="19" name="dot-730"/>
          <p:cNvSpPr/>
          <p:nvPr/>
        </p:nvSpPr>
        <p:spPr>
          <a:xfrm>
            <a:off x="3096418" y="3456377"/>
            <a:ext cx="73152" cy="73152"/>
          </a:xfrm>
          <a:prstGeom prst="ellipse">
            <a:avLst/>
          </a:prstGeom>
          <a:solidFill>
            <a:schemeClr val="accent3"/>
          </a:solidFill>
          <a:ln/>
        </p:spPr>
      </p:sp>
      <p:sp>
        <p:nvSpPr>
          <p:cNvPr id="20" name="dot-731"/>
          <p:cNvSpPr/>
          <p:nvPr/>
        </p:nvSpPr>
        <p:spPr>
          <a:xfrm>
            <a:off x="2950504" y="3351817"/>
            <a:ext cx="73152" cy="73152"/>
          </a:xfrm>
          <a:prstGeom prst="ellipse">
            <a:avLst/>
          </a:prstGeom>
          <a:solidFill>
            <a:schemeClr val="accent3"/>
          </a:solidFill>
          <a:ln/>
        </p:spPr>
      </p:sp>
      <p:sp>
        <p:nvSpPr>
          <p:cNvPr id="21" name="line-732"/>
          <p:cNvSpPr/>
          <p:nvPr/>
        </p:nvSpPr>
        <p:spPr>
          <a:xfrm>
            <a:off x="4206240" y="2788920"/>
            <a:ext cx="0" cy="2880360"/>
          </a:xfrm>
          <a:prstGeom prst="line">
            <a:avLst/>
          </a:prstGeom>
          <a:noFill/>
          <a:ln w="15875">
            <a:solidFill>
              <a:srgbClr val="6C7A89"/>
            </a:solidFill>
            <a:prstDash val="dash"/>
          </a:ln>
        </p:spPr>
      </p:sp>
      <p:sp>
        <p:nvSpPr>
          <p:cNvPr id="22" name="text-733"/>
          <p:cNvSpPr txBox="1"/>
          <p:nvPr/>
        </p:nvSpPr>
        <p:spPr>
          <a:xfrm>
            <a:off x="4315968" y="2743200"/>
            <a:ext cx="914400" cy="274320"/>
          </a:xfrm>
          <a:prstGeom prst="rect">
            <a:avLst/>
          </a:prstGeom>
          <a:noFill/>
          <a:ln/>
        </p:spPr>
        <p:txBody>
          <a:bodyPr wrap="square" lIns="0" tIns="0" rIns="0" bIns="0" rtlCol="0" anchor="t"/>
          <a:lstStyle/>
          <a:p>
            <a:pPr indent="0" marL="0">
              <a:buNone/>
            </a:pPr>
            <a:r>
              <a:rPr lang="en-US" sz="1200" dirty="0">
                <a:solidFill>
                  <a:schemeClr val="accent4"/>
                </a:solidFill>
              </a:rPr>
              <a:t>heading</a:t>
            </a:r>
            <a:endParaRPr lang="en-US" sz="1200" dirty="0"/>
          </a:p>
        </p:txBody>
      </p:sp>
      <p:sp>
        <p:nvSpPr>
          <p:cNvPr id="23" name="line-734"/>
          <p:cNvSpPr/>
          <p:nvPr/>
        </p:nvSpPr>
        <p:spPr>
          <a:xfrm>
            <a:off x="2834640" y="3293599"/>
            <a:ext cx="1371600" cy="2375681"/>
          </a:xfrm>
          <a:prstGeom prst="line">
            <a:avLst/>
          </a:prstGeom>
          <a:noFill/>
          <a:ln w="25400">
            <a:solidFill>
              <a:srgbClr val="14161B"/>
            </a:solidFill>
            <a:prstDash val="solid"/>
          </a:ln>
        </p:spPr>
      </p:sp>
      <p:sp>
        <p:nvSpPr>
          <p:cNvPr id="24" name="text-735"/>
          <p:cNvSpPr txBox="1"/>
          <p:nvPr/>
        </p:nvSpPr>
        <p:spPr>
          <a:xfrm>
            <a:off x="3154680" y="4298560"/>
            <a:ext cx="274320" cy="274320"/>
          </a:xfrm>
          <a:prstGeom prst="rect">
            <a:avLst/>
          </a:prstGeom>
          <a:noFill/>
          <a:ln/>
        </p:spPr>
        <p:txBody>
          <a:bodyPr wrap="square" lIns="0" tIns="0" rIns="0" bIns="0" rtlCol="0" anchor="t"/>
          <a:lstStyle/>
          <a:p>
            <a:pPr algn="ctr" indent="0" marL="0">
              <a:buNone/>
            </a:pPr>
            <a:r>
              <a:rPr lang="en-US" sz="1600" b="1" dirty="0">
                <a:solidFill>
                  <a:schemeClr val="tx1"/>
                </a:solidFill>
              </a:rPr>
              <a:t>L</a:t>
            </a:r>
            <a:endParaRPr lang="en-US" sz="1600" dirty="0"/>
          </a:p>
        </p:txBody>
      </p:sp>
      <p:sp>
        <p:nvSpPr>
          <p:cNvPr id="25" name="text-736"/>
          <p:cNvSpPr txBox="1"/>
          <p:nvPr/>
        </p:nvSpPr>
        <p:spPr>
          <a:xfrm>
            <a:off x="3941064" y="4343400"/>
            <a:ext cx="274320" cy="274320"/>
          </a:xfrm>
          <a:prstGeom prst="rect">
            <a:avLst/>
          </a:prstGeom>
          <a:noFill/>
          <a:ln/>
        </p:spPr>
        <p:txBody>
          <a:bodyPr wrap="square" lIns="0" tIns="0" rIns="0" bIns="0" rtlCol="0" anchor="t"/>
          <a:lstStyle/>
          <a:p>
            <a:pPr algn="ctr" indent="0" marL="0">
              <a:buNone/>
            </a:pPr>
            <a:r>
              <a:rPr lang="en-US" sz="1600" b="1" dirty="0">
                <a:solidFill>
                  <a:schemeClr val="tx1"/>
                </a:solidFill>
              </a:rPr>
              <a:t>α</a:t>
            </a:r>
            <a:endParaRPr lang="en-US" sz="1600" dirty="0"/>
          </a:p>
        </p:txBody>
      </p:sp>
      <p:sp>
        <p:nvSpPr>
          <p:cNvPr id="26" name="dot-737"/>
          <p:cNvSpPr/>
          <p:nvPr/>
        </p:nvSpPr>
        <p:spPr>
          <a:xfrm>
            <a:off x="2715768" y="3174727"/>
            <a:ext cx="237744" cy="237744"/>
          </a:xfrm>
          <a:prstGeom prst="ellipse">
            <a:avLst/>
          </a:prstGeom>
          <a:solidFill>
            <a:schemeClr val="accent1"/>
          </a:solidFill>
          <a:ln/>
        </p:spPr>
      </p:sp>
      <p:sp>
        <p:nvSpPr>
          <p:cNvPr id="27" name="text-738"/>
          <p:cNvSpPr txBox="1"/>
          <p:nvPr/>
        </p:nvSpPr>
        <p:spPr>
          <a:xfrm>
            <a:off x="548640" y="2790679"/>
            <a:ext cx="2743200" cy="274320"/>
          </a:xfrm>
          <a:prstGeom prst="rect">
            <a:avLst/>
          </a:prstGeom>
          <a:noFill/>
          <a:ln/>
        </p:spPr>
        <p:txBody>
          <a:bodyPr wrap="square" lIns="0" tIns="0" rIns="0" bIns="0" rtlCol="0" anchor="t"/>
          <a:lstStyle/>
          <a:p>
            <a:pPr indent="0" marL="0">
              <a:buNone/>
            </a:pPr>
            <a:r>
              <a:rPr lang="en-US" sz="1200" b="1" dirty="0">
                <a:solidFill>
                  <a:schemeClr val="accent1"/>
                </a:solidFill>
              </a:rPr>
              <a:t>target (e.g. gap centre)</a:t>
            </a:r>
            <a:endParaRPr lang="en-US" sz="1200" dirty="0"/>
          </a:p>
        </p:txBody>
      </p:sp>
      <p:sp>
        <p:nvSpPr>
          <p:cNvPr id="28" name="text-739"/>
          <p:cNvSpPr txBox="1"/>
          <p:nvPr/>
        </p:nvSpPr>
        <p:spPr>
          <a:xfrm>
            <a:off x="4315968" y="4297680"/>
            <a:ext cx="1371600" cy="274320"/>
          </a:xfrm>
          <a:prstGeom prst="rect">
            <a:avLst/>
          </a:prstGeom>
          <a:noFill/>
          <a:ln/>
        </p:spPr>
        <p:txBody>
          <a:bodyPr wrap="square" lIns="0" tIns="0" rIns="0" bIns="0" rtlCol="0" anchor="t"/>
          <a:lstStyle/>
          <a:p>
            <a:pPr indent="0" marL="0">
              <a:buNone/>
            </a:pPr>
            <a:r>
              <a:rPr lang="en-US" sz="1200" b="1" dirty="0">
                <a:solidFill>
                  <a:schemeClr val="accent3"/>
                </a:solidFill>
              </a:rPr>
              <a:t>predicted arc</a:t>
            </a:r>
            <a:endParaRPr lang="en-US" sz="1200" dirty="0"/>
          </a:p>
        </p:txBody>
      </p:sp>
      <p:sp>
        <p:nvSpPr>
          <p:cNvPr id="29" name="pp-car"/>
          <p:cNvSpPr/>
          <p:nvPr/>
        </p:nvSpPr>
        <p:spPr>
          <a:xfrm>
            <a:off x="4023360" y="5394960"/>
            <a:ext cx="365760" cy="594360"/>
          </a:xfrm>
          <a:prstGeom prst="roundRect">
            <a:avLst>
              <a:gd name="adj" fmla="val 20000"/>
            </a:avLst>
          </a:prstGeom>
          <a:solidFill>
            <a:schemeClr val="tx1"/>
          </a:solidFill>
          <a:ln/>
        </p:spPr>
      </p:sp>
      <p:sp>
        <p:nvSpPr>
          <p:cNvPr id="30" name="card-740"/>
          <p:cNvSpPr/>
          <p:nvPr/>
        </p:nvSpPr>
        <p:spPr>
          <a:xfrm>
            <a:off x="6172200" y="1463040"/>
            <a:ext cx="5468112" cy="4526280"/>
          </a:xfrm>
          <a:prstGeom prst="roundRect">
            <a:avLst>
              <a:gd name="adj" fmla="val 1616"/>
            </a:avLst>
          </a:prstGeom>
          <a:solidFill>
            <a:schemeClr val="bg1"/>
          </a:solidFill>
          <a:ln/>
          <a:effectLst>
            <a:outerShdw sx="100000" sy="100000" kx="0" ky="0" algn="bl" rotWithShape="0" blurRad="101600" dist="25400" dir="5400000">
              <a:srgbClr val="000000">
                <a:alpha val="12000"/>
              </a:srgbClr>
            </a:outerShdw>
          </a:effectLst>
        </p:spPr>
      </p:sp>
      <p:graphicFrame>
        <p:nvGraphicFramePr>
          <p:cNvPr id="31" name="speed-chart" descr=""/>
          <p:cNvGraphicFramePr/>
          <p:nvPr/>
        </p:nvGraphicFramePr>
        <p:xfrm>
          <a:off x="6355080" y="1600200"/>
          <a:ext cx="5120640" cy="3657600"/>
        </p:xfrm>
        <a:graphic xmlns:a="http://schemas.openxmlformats.org/drawingml/2006/main">
          <a:graphicData uri="http://schemas.openxmlformats.org/drawingml/2006/chart">
            <c:chart xmlns:c="http://schemas.openxmlformats.org/drawingml/2006/chart" r:id="rId1"/>
          </a:graphicData>
        </a:graphic>
      </p:graphicFrame>
      <p:sp>
        <p:nvSpPr>
          <p:cNvPr id="32" name="text-741"/>
          <p:cNvSpPr txBox="1"/>
          <p:nvPr/>
        </p:nvSpPr>
        <p:spPr>
          <a:xfrm>
            <a:off x="6446520" y="5349240"/>
            <a:ext cx="4937760" cy="457200"/>
          </a:xfrm>
          <a:prstGeom prst="rect">
            <a:avLst/>
          </a:prstGeom>
          <a:noFill/>
          <a:ln/>
        </p:spPr>
        <p:txBody>
          <a:bodyPr wrap="square" lIns="0" tIns="0" rIns="0" bIns="0" rtlCol="0" anchor="ctr"/>
          <a:lstStyle/>
          <a:p>
            <a:pPr indent="0" marL="0">
              <a:buNone/>
            </a:pPr>
            <a:r>
              <a:rPr lang="en-US" sz="1500" b="1" dirty="0">
                <a:solidFill>
                  <a:schemeClr val="tx1"/>
                </a:solidFill>
              </a:rPr>
              <a:t>Slow down as steering grows: corners need less speed.</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742"/>
          <p:cNvSpPr txBox="1"/>
          <p:nvPr/>
        </p:nvSpPr>
        <p:spPr>
          <a:xfrm>
            <a:off x="731520" y="1417320"/>
            <a:ext cx="2743200" cy="1371600"/>
          </a:xfrm>
          <a:prstGeom prst="rect">
            <a:avLst/>
          </a:prstGeom>
          <a:noFill/>
          <a:ln/>
        </p:spPr>
        <p:txBody>
          <a:bodyPr wrap="square" lIns="0" tIns="0" rIns="0" bIns="0" rtlCol="0" anchor="b"/>
          <a:lstStyle/>
          <a:p>
            <a:pPr indent="0" marL="0">
              <a:buNone/>
            </a:pPr>
            <a:r>
              <a:rPr lang="en-US" sz="8000" b="1" dirty="0">
                <a:solidFill>
                  <a:schemeClr val="accent1"/>
                </a:solidFill>
                <a:latin typeface="Arial" pitchFamily="34" charset="0"/>
                <a:ea typeface="Arial" pitchFamily="34" charset="-122"/>
                <a:cs typeface="Arial" pitchFamily="34" charset="-120"/>
              </a:rPr>
              <a:t>05</a:t>
            </a:r>
            <a:endParaRPr lang="en-US" sz="8000" dirty="0"/>
          </a:p>
        </p:txBody>
      </p:sp>
      <p:sp>
        <p:nvSpPr>
          <p:cNvPr id="3" name="Text 0"/>
          <p:cNvSpPr/>
          <p:nvPr>
            <p:ph idx="100" type="title" hasCustomPrompt="1"/>
          </p:nvPr>
        </p:nvSpPr>
        <p:spPr>
          <a:xfrm>
            <a:off x="731520" y="2926080"/>
            <a:ext cx="7680960" cy="1005840"/>
          </a:xfrm>
          <a:prstGeom prst="rect">
            <a:avLst/>
          </a:prstGeom>
          <a:noFill/>
          <a:ln/>
        </p:spPr>
        <p:txBody>
          <a:bodyPr wrap="square" lIns="0" tIns="0" rIns="0" bIns="0" rtlCol="0" anchor="ctr"/>
          <a:lstStyle/>
          <a:p>
            <a:pPr algn="l" indent="0" marL="0">
              <a:buNone/>
            </a:pPr>
            <a:r>
              <a:rPr lang="en-US" sz="4000" b="1" dirty="0">
                <a:solidFill>
                  <a:schemeClr val="bg1"/>
                </a:solidFill>
              </a:rPr>
              <a:t>Exercises</a:t>
            </a:r>
            <a:endParaRPr lang="en-US" sz="4000" dirty="0"/>
          </a:p>
        </p:txBody>
      </p:sp>
      <p:sp>
        <p:nvSpPr>
          <p:cNvPr id="4" name="Text 0"/>
          <p:cNvSpPr/>
          <p:nvPr>
            <p:ph idx="101" type="body" hasCustomPrompt="1"/>
          </p:nvPr>
        </p:nvSpPr>
        <p:spPr>
          <a:xfrm>
            <a:off x="731520" y="4023360"/>
            <a:ext cx="7315200" cy="914400"/>
          </a:xfrm>
          <a:prstGeom prst="rect">
            <a:avLst/>
          </a:prstGeom>
          <a:noFill/>
          <a:ln/>
        </p:spPr>
        <p:txBody>
          <a:bodyPr wrap="square" lIns="0" tIns="0" rIns="0" bIns="0" rtlCol="0" anchor="t"/>
          <a:lstStyle/>
          <a:p>
            <a:pPr algn="l" indent="0" marL="0">
              <a:buNone/>
            </a:pPr>
            <a:r>
              <a:rPr lang="en-US" sz="1800" dirty="0">
                <a:solidFill>
                  <a:schemeClr val="bg2"/>
                </a:solidFill>
              </a:rPr>
              <a:t>Build your controller step by step, then make it fast and consistent</a:t>
            </a:r>
            <a:endParaRPr lang="en-US" sz="1800" dirty="0"/>
          </a:p>
        </p:txBody>
      </p:sp>
      <p:sp>
        <p:nvSpPr>
          <p:cNvPr id="5" name="icon-circle-743"/>
          <p:cNvSpPr/>
          <p:nvPr/>
        </p:nvSpPr>
        <p:spPr>
          <a:xfrm>
            <a:off x="9052560" y="2240280"/>
            <a:ext cx="2194560" cy="2194560"/>
          </a:xfrm>
          <a:prstGeom prst="ellipse">
            <a:avLst/>
          </a:prstGeom>
          <a:solidFill>
            <a:schemeClr val="accent1"/>
          </a:solidFill>
          <a:ln/>
        </p:spPr>
      </p:sp>
      <p:pic>
        <p:nvPicPr>
          <p:cNvPr id="6" name="icon-744" descr="preencoded.png">    </p:cNvPr>
          <p:cNvPicPr>
            <a:picLocks noChangeAspect="1"/>
          </p:cNvPicPr>
          <p:nvPr/>
        </p:nvPicPr>
        <p:blipFill>
          <a:blip r:embed="rId1"/>
          <a:stretch>
            <a:fillRect/>
          </a:stretch>
        </p:blipFill>
        <p:spPr>
          <a:xfrm>
            <a:off x="9601200" y="2788920"/>
            <a:ext cx="1097280" cy="109728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Your first controller</a:t>
            </a:r>
            <a:endParaRPr lang="en-US" sz="3600" dirty="0"/>
          </a:p>
        </p:txBody>
      </p:sp>
      <p:sp>
        <p:nvSpPr>
          <p:cNvPr id="3" name="code-panel-745"/>
          <p:cNvSpPr/>
          <p:nvPr/>
        </p:nvSpPr>
        <p:spPr>
          <a:xfrm>
            <a:off x="548640" y="1463040"/>
            <a:ext cx="6583680" cy="4526280"/>
          </a:xfrm>
          <a:prstGeom prst="roundRect">
            <a:avLst>
              <a:gd name="adj" fmla="val 1616"/>
            </a:avLst>
          </a:prstGeom>
          <a:solidFill>
            <a:schemeClr val="tx1"/>
          </a:solidFill>
          <a:ln/>
          <a:effectLst>
            <a:outerShdw sx="100000" sy="100000" kx="0" ky="0" algn="bl" rotWithShape="0" blurRad="101600" dist="25400" dir="5400000">
              <a:srgbClr val="000000">
                <a:alpha val="12000"/>
              </a:srgbClr>
            </a:outerShdw>
          </a:effectLst>
        </p:spPr>
      </p:sp>
      <p:sp>
        <p:nvSpPr>
          <p:cNvPr id="4" name="text-746"/>
          <p:cNvSpPr txBox="1"/>
          <p:nvPr/>
        </p:nvSpPr>
        <p:spPr>
          <a:xfrm>
            <a:off x="822960" y="1645920"/>
            <a:ext cx="603504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CONTROLLER.PY · A NAIVE START</a:t>
            </a:r>
            <a:endParaRPr lang="en-US" sz="1200" dirty="0"/>
          </a:p>
        </p:txBody>
      </p:sp>
      <p:sp>
        <p:nvSpPr>
          <p:cNvPr id="5" name="text-747"/>
          <p:cNvSpPr txBox="1"/>
          <p:nvPr/>
        </p:nvSpPr>
        <p:spPr>
          <a:xfrm>
            <a:off x="822960" y="2011680"/>
            <a:ext cx="6035040" cy="3794760"/>
          </a:xfrm>
          <a:prstGeom prst="rect">
            <a:avLst/>
          </a:prstGeom>
          <a:noFill/>
          <a:ln/>
        </p:spPr>
        <p:txBody>
          <a:bodyPr wrap="square" lIns="0" tIns="0" rIns="0" bIns="0" rtlCol="0" anchor="t"/>
          <a:lstStyle/>
          <a:p>
            <a:pPr indent="0" marL="0">
              <a:lnSpc>
                <a:spcPct val="110000"/>
              </a:lnSpc>
              <a:buNone/>
            </a:pPr>
            <a:r>
              <a:rPr lang="en-US" sz="1200" dirty="0">
                <a:solidFill>
                  <a:schemeClr val="accent2"/>
                </a:solidFill>
                <a:latin typeface="Courier New" pitchFamily="34" charset="0"/>
                <a:ea typeface="Courier New" pitchFamily="34" charset="-122"/>
                <a:cs typeface="Courier New" pitchFamily="34" charset="-120"/>
              </a:rPr>
              <a:t>import</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math</a:t>
            </a:r>
            <a:endParaRPr lang="en-US" sz="1200" dirty="0"/>
          </a:p>
          <a:p>
            <a:pPr indent="0" marL="0">
              <a:lnSpc>
                <a:spcPct val="110000"/>
              </a:lnSpc>
              <a:buNone/>
            </a:pPr>
            <a:r>
              <a:rPr lang="en-US" sz="1200" dirty="0">
                <a:solidFill>
                  <a:schemeClr val="accent2"/>
                </a:solidFill>
                <a:latin typeface="Courier New" pitchFamily="34" charset="0"/>
                <a:ea typeface="Courier New" pitchFamily="34" charset="-122"/>
                <a:cs typeface="Courier New" pitchFamily="34" charset="-120"/>
              </a:rPr>
              <a:t>from</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workshop_api </a:t>
            </a:r>
            <a:pPr indent="0" marL="0">
              <a:lnSpc>
                <a:spcPct val="110000"/>
              </a:lnSpc>
              <a:buNone/>
            </a:pPr>
            <a:r>
              <a:rPr lang="en-US" sz="1200" dirty="0">
                <a:solidFill>
                  <a:schemeClr val="accent2"/>
                </a:solidFill>
                <a:latin typeface="Courier New" pitchFamily="34" charset="0"/>
                <a:ea typeface="Courier New" pitchFamily="34" charset="-122"/>
                <a:cs typeface="Courier New" pitchFamily="34" charset="-120"/>
              </a:rPr>
              <a:t>import</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DriveCommand, Observation, wrap_angle</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chemeClr val="accent2"/>
                </a:solidFill>
                <a:latin typeface="Courier New" pitchFamily="34" charset="0"/>
                <a:ea typeface="Courier New" pitchFamily="34" charset="-122"/>
                <a:cs typeface="Courier New" pitchFamily="34" charset="-120"/>
              </a:rPr>
              <a:t>def</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drive(obs: Observation) -&gt; DriveCommand:</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front = obs.sector(-0.2, 0.2)</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chemeClr val="accent2"/>
                </a:solidFill>
                <a:latin typeface="Courier New" pitchFamily="34" charset="0"/>
                <a:ea typeface="Courier New" pitchFamily="34" charset="-122"/>
                <a:cs typeface="Courier New" pitchFamily="34" charset="-120"/>
              </a:rPr>
              <a:t>if</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chemeClr val="accent2"/>
                </a:solidFill>
                <a:latin typeface="Courier New" pitchFamily="34" charset="0"/>
                <a:ea typeface="Courier New" pitchFamily="34" charset="-122"/>
                <a:cs typeface="Courier New" pitchFamily="34" charset="-120"/>
              </a:rPr>
              <a:t>not</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front </a:t>
            </a:r>
            <a:pPr indent="0" marL="0">
              <a:lnSpc>
                <a:spcPct val="110000"/>
              </a:lnSpc>
              <a:buNone/>
            </a:pPr>
            <a:r>
              <a:rPr lang="en-US" sz="1200" dirty="0">
                <a:solidFill>
                  <a:schemeClr val="accent2"/>
                </a:solidFill>
                <a:latin typeface="Courier New" pitchFamily="34" charset="0"/>
                <a:ea typeface="Courier New" pitchFamily="34" charset="-122"/>
                <a:cs typeface="Courier New" pitchFamily="34" charset="-120"/>
              </a:rPr>
              <a:t>or</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min(front) &lt; 0.6:     </a:t>
            </a:r>
            <a:pPr indent="0" marL="0">
              <a:lnSpc>
                <a:spcPct val="110000"/>
              </a:lnSpc>
              <a:buNone/>
            </a:pPr>
            <a:r>
              <a:rPr lang="en-US" sz="1200" dirty="0">
                <a:solidFill>
                  <a:schemeClr val="accent6"/>
                </a:solidFill>
                <a:latin typeface="Courier New" pitchFamily="34" charset="0"/>
                <a:ea typeface="Courier New" pitchFamily="34" charset="-122"/>
                <a:cs typeface="Courier New" pitchFamily="34" charset="-120"/>
              </a:rPr>
              <a:t># blocked or unknown</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chemeClr val="accent2"/>
                </a:solidFill>
                <a:latin typeface="Courier New" pitchFamily="34" charset="0"/>
                <a:ea typeface="Courier New" pitchFamily="34" charset="-122"/>
                <a:cs typeface="Courier New" pitchFamily="34" charset="-120"/>
              </a:rPr>
              <a:t>return</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DriveCommand()</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best_angle, best_range = 0.0, 0.0</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chemeClr val="accent2"/>
                </a:solidFill>
                <a:latin typeface="Courier New" pitchFamily="34" charset="0"/>
                <a:ea typeface="Courier New" pitchFamily="34" charset="-122"/>
                <a:cs typeface="Courier New" pitchFamily="34" charset="-120"/>
              </a:rPr>
              <a:t>for</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i, r </a:t>
            </a:r>
            <a:pPr indent="0" marL="0">
              <a:lnSpc>
                <a:spcPct val="110000"/>
              </a:lnSpc>
              <a:buNone/>
            </a:pPr>
            <a:r>
              <a:rPr lang="en-US" sz="1200" dirty="0">
                <a:solidFill>
                  <a:schemeClr val="accent2"/>
                </a:solidFill>
                <a:latin typeface="Courier New" pitchFamily="34" charset="0"/>
                <a:ea typeface="Courier New" pitchFamily="34" charset="-122"/>
                <a:cs typeface="Courier New" pitchFamily="34" charset="-120"/>
              </a:rPr>
              <a:t>in</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enumerate(obs.ranges):    </a:t>
            </a:r>
            <a:pPr indent="0" marL="0">
              <a:lnSpc>
                <a:spcPct val="110000"/>
              </a:lnSpc>
              <a:buNone/>
            </a:pPr>
            <a:r>
              <a:rPr lang="en-US" sz="1200" dirty="0">
                <a:solidFill>
                  <a:schemeClr val="accent6"/>
                </a:solidFill>
                <a:latin typeface="Courier New" pitchFamily="34" charset="0"/>
                <a:ea typeface="Courier New" pitchFamily="34" charset="-122"/>
                <a:cs typeface="Courier New" pitchFamily="34" charset="-120"/>
              </a:rPr>
              <a:t># farthest ray in ±60°</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a = wrap_angle(obs.angle_min + i * obs.angle_increment)</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chemeClr val="accent2"/>
                </a:solidFill>
                <a:latin typeface="Courier New" pitchFamily="34" charset="0"/>
                <a:ea typeface="Courier New" pitchFamily="34" charset="-122"/>
                <a:cs typeface="Courier New" pitchFamily="34" charset="-120"/>
              </a:rPr>
              <a:t>if</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abs(a) &lt; math.radians(60) </a:t>
            </a:r>
            <a:pPr indent="0" marL="0">
              <a:lnSpc>
                <a:spcPct val="110000"/>
              </a:lnSpc>
              <a:buNone/>
            </a:pPr>
            <a:r>
              <a:rPr lang="en-US" sz="1200" dirty="0">
                <a:solidFill>
                  <a:schemeClr val="accent2"/>
                </a:solidFill>
                <a:latin typeface="Courier New" pitchFamily="34" charset="0"/>
                <a:ea typeface="Courier New" pitchFamily="34" charset="-122"/>
                <a:cs typeface="Courier New" pitchFamily="34" charset="-120"/>
              </a:rPr>
              <a:t>and</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r &gt; best_range:</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best_angle, best_range = a, r</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steering = math.atan2(2 * 0.324 * math.sin(best_angle), 1.0)</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chemeClr val="accent2"/>
                </a:solidFill>
                <a:latin typeface="Courier New" pitchFamily="34" charset="0"/>
                <a:ea typeface="Courier New" pitchFamily="34" charset="-122"/>
                <a:cs typeface="Courier New" pitchFamily="34" charset="-120"/>
              </a:rPr>
              <a:t>return</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DriveCommand(speed_mps=0.5, steering_rad=steering)</a:t>
            </a:r>
            <a:endParaRPr lang="en-US" sz="1200" dirty="0"/>
          </a:p>
        </p:txBody>
      </p:sp>
      <p:sp>
        <p:nvSpPr>
          <p:cNvPr id="6" name="card-748"/>
          <p:cNvSpPr/>
          <p:nvPr/>
        </p:nvSpPr>
        <p:spPr>
          <a:xfrm>
            <a:off x="7406640" y="1463040"/>
            <a:ext cx="4233672" cy="2194560"/>
          </a:xfrm>
          <a:prstGeom prst="roundRect">
            <a:avLst>
              <a:gd name="adj" fmla="val 3333"/>
            </a:avLst>
          </a:prstGeom>
          <a:solidFill>
            <a:schemeClr val="bg1"/>
          </a:solidFill>
          <a:ln/>
          <a:effectLst>
            <a:outerShdw sx="100000" sy="100000" kx="0" ky="0" algn="bl" rotWithShape="0" blurRad="101600" dist="25400" dir="5400000">
              <a:srgbClr val="000000">
                <a:alpha val="12000"/>
              </a:srgbClr>
            </a:outerShdw>
          </a:effectLst>
        </p:spPr>
      </p:sp>
      <p:sp>
        <p:nvSpPr>
          <p:cNvPr id="7" name="text-749"/>
          <p:cNvSpPr txBox="1"/>
          <p:nvPr/>
        </p:nvSpPr>
        <p:spPr>
          <a:xfrm>
            <a:off x="7680960" y="1645920"/>
            <a:ext cx="365760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How it works</a:t>
            </a:r>
            <a:endParaRPr lang="en-US" sz="1800" dirty="0"/>
          </a:p>
        </p:txBody>
      </p:sp>
      <p:sp>
        <p:nvSpPr>
          <p:cNvPr id="8" name="text-750"/>
          <p:cNvSpPr txBox="1"/>
          <p:nvPr/>
        </p:nvSpPr>
        <p:spPr>
          <a:xfrm>
            <a:off x="7680960" y="2103120"/>
            <a:ext cx="3749040" cy="14173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chemeClr val="tx2"/>
                </a:solidFill>
              </a:rPr>
              <a:t>Stops if the front cone is blocked or unknown</a:t>
            </a:r>
            <a:endParaRPr lang="en-US" sz="1500" dirty="0"/>
          </a:p>
          <a:p>
            <a:pPr marL="342900" indent="-342900">
              <a:spcAft>
                <a:spcPts val="600"/>
              </a:spcAft>
              <a:buSzPct val="100000"/>
              <a:buFont typeface="+mj-lt"/>
              <a:buAutoNum type="arabicPeriod" startAt="1"/>
            </a:pPr>
            <a:r>
              <a:rPr lang="en-US" sz="1500" dirty="0">
                <a:solidFill>
                  <a:schemeClr val="tx2"/>
                </a:solidFill>
              </a:rPr>
              <a:t>Picks the farthest ray within ±60°</a:t>
            </a:r>
            <a:endParaRPr lang="en-US" sz="1500" dirty="0"/>
          </a:p>
          <a:p>
            <a:pPr marL="342900" indent="-342900">
              <a:spcAft>
                <a:spcPts val="600"/>
              </a:spcAft>
              <a:buSzPct val="100000"/>
              <a:buFont typeface="+mj-lt"/>
              <a:buAutoNum type="arabicPeriod" startAt="1"/>
            </a:pPr>
            <a:r>
              <a:rPr lang="en-US" sz="1500" dirty="0">
                <a:solidFill>
                  <a:schemeClr val="tx2"/>
                </a:solidFill>
              </a:rPr>
              <a:t>Steers at it with Pure Pursuit (L = 1 m)</a:t>
            </a:r>
            <a:endParaRPr lang="en-US" sz="1500" dirty="0"/>
          </a:p>
        </p:txBody>
      </p:sp>
      <p:sp>
        <p:nvSpPr>
          <p:cNvPr id="9" name="card-751"/>
          <p:cNvSpPr/>
          <p:nvPr/>
        </p:nvSpPr>
        <p:spPr>
          <a:xfrm>
            <a:off x="7406640" y="3794760"/>
            <a:ext cx="4233672" cy="2194560"/>
          </a:xfrm>
          <a:prstGeom prst="roundRect">
            <a:avLst>
              <a:gd name="adj" fmla="val 3333"/>
            </a:avLst>
          </a:prstGeom>
          <a:solidFill>
            <a:schemeClr val="bg1"/>
          </a:solidFill>
          <a:ln/>
          <a:effectLst>
            <a:outerShdw sx="100000" sy="100000" kx="0" ky="0" algn="bl" rotWithShape="0" blurRad="101600" dist="25400" dir="5400000">
              <a:srgbClr val="000000">
                <a:alpha val="12000"/>
              </a:srgbClr>
            </a:outerShdw>
          </a:effectLst>
        </p:spPr>
      </p:sp>
      <p:sp>
        <p:nvSpPr>
          <p:cNvPr id="10" name="text-752"/>
          <p:cNvSpPr txBox="1"/>
          <p:nvPr/>
        </p:nvSpPr>
        <p:spPr>
          <a:xfrm>
            <a:off x="7680960" y="3977640"/>
            <a:ext cx="3657600" cy="365760"/>
          </a:xfrm>
          <a:prstGeom prst="rect">
            <a:avLst/>
          </a:prstGeom>
          <a:noFill/>
          <a:ln/>
        </p:spPr>
        <p:txBody>
          <a:bodyPr wrap="square" lIns="0" tIns="0" rIns="0" bIns="0" rtlCol="0" anchor="t"/>
          <a:lstStyle/>
          <a:p>
            <a:pPr indent="0" marL="0">
              <a:buNone/>
            </a:pPr>
            <a:r>
              <a:rPr lang="en-US" sz="1800" b="1" dirty="0">
                <a:solidFill>
                  <a:schemeClr val="accent1"/>
                </a:solidFill>
                <a:latin typeface="Arial" pitchFamily="34" charset="0"/>
                <a:ea typeface="Arial" pitchFamily="34" charset="-122"/>
                <a:cs typeface="Arial" pitchFamily="34" charset="-120"/>
              </a:rPr>
              <a:t>Make it better</a:t>
            </a:r>
            <a:endParaRPr lang="en-US" sz="1800" dirty="0"/>
          </a:p>
        </p:txBody>
      </p:sp>
      <p:sp>
        <p:nvSpPr>
          <p:cNvPr id="11" name="text-753"/>
          <p:cNvSpPr txBox="1"/>
          <p:nvPr/>
        </p:nvSpPr>
        <p:spPr>
          <a:xfrm>
            <a:off x="7680960" y="4434840"/>
            <a:ext cx="3749040" cy="14173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chemeClr val="tx2"/>
                </a:solidFill>
              </a:rPr>
              <a:t>Slow down when steering hard</a:t>
            </a:r>
            <a:endParaRPr lang="en-US" sz="1500" dirty="0"/>
          </a:p>
          <a:p>
            <a:pPr marL="342900" indent="-342900">
              <a:spcAft>
                <a:spcPts val="600"/>
              </a:spcAft>
              <a:buSzPct val="100000"/>
              <a:buFont typeface="+mj-lt"/>
              <a:buAutoNum type="arabicPeriod" startAt="1"/>
            </a:pPr>
            <a:r>
              <a:rPr lang="en-US" sz="1500" dirty="0">
                <a:solidFill>
                  <a:schemeClr val="tx2"/>
                </a:solidFill>
              </a:rPr>
              <a:t>Aim at gaps, not single far rays</a:t>
            </a:r>
            <a:endParaRPr lang="en-US" sz="1500" dirty="0"/>
          </a:p>
          <a:p>
            <a:pPr marL="342900" indent="-342900">
              <a:spcAft>
                <a:spcPts val="600"/>
              </a:spcAft>
              <a:buSzPct val="100000"/>
              <a:buFont typeface="+mj-lt"/>
              <a:buAutoNum type="arabicPeriod" startAt="1"/>
            </a:pPr>
            <a:r>
              <a:rPr lang="en-US" sz="1500" dirty="0">
                <a:solidFill>
                  <a:schemeClr val="tx2"/>
                </a:solidFill>
              </a:rPr>
              <a:t>Add time-to-collision braking</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Workshop milestones</a:t>
            </a:r>
            <a:endParaRPr lang="en-US" sz="3600" dirty="0"/>
          </a:p>
        </p:txBody>
      </p:sp>
      <p:sp>
        <p:nvSpPr>
          <p:cNvPr id="3" name="card-754"/>
          <p:cNvSpPr/>
          <p:nvPr/>
        </p:nvSpPr>
        <p:spPr>
          <a:xfrm>
            <a:off x="548640" y="1463040"/>
            <a:ext cx="3514344" cy="2148840"/>
          </a:xfrm>
          <a:prstGeom prst="roundRect">
            <a:avLst>
              <a:gd name="adj" fmla="val 3404"/>
            </a:avLst>
          </a:prstGeom>
          <a:solidFill>
            <a:schemeClr val="bg1"/>
          </a:solidFill>
          <a:ln/>
          <a:effectLst>
            <a:outerShdw sx="100000" sy="100000" kx="0" ky="0" algn="bl" rotWithShape="0" blurRad="101600" dist="25400" dir="5400000">
              <a:srgbClr val="000000">
                <a:alpha val="12000"/>
              </a:srgbClr>
            </a:outerShdw>
          </a:effectLst>
        </p:spPr>
      </p:sp>
      <p:sp>
        <p:nvSpPr>
          <p:cNvPr id="4" name="badge-755"/>
          <p:cNvSpPr/>
          <p:nvPr/>
        </p:nvSpPr>
        <p:spPr>
          <a:xfrm>
            <a:off x="822960" y="1737360"/>
            <a:ext cx="594360" cy="59436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756"/>
          <p:cNvSpPr txBox="1"/>
          <p:nvPr/>
        </p:nvSpPr>
        <p:spPr>
          <a:xfrm>
            <a:off x="1600200" y="1737360"/>
            <a:ext cx="2234184" cy="59436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Connect</a:t>
            </a:r>
            <a:endParaRPr lang="en-US" sz="2000" dirty="0"/>
          </a:p>
        </p:txBody>
      </p:sp>
      <p:sp>
        <p:nvSpPr>
          <p:cNvPr id="6" name="text-757"/>
          <p:cNvSpPr txBox="1"/>
          <p:nvPr/>
        </p:nvSpPr>
        <p:spPr>
          <a:xfrm>
            <a:off x="822960" y="2514600"/>
            <a:ext cx="2965704" cy="914400"/>
          </a:xfrm>
          <a:prstGeom prst="rect">
            <a:avLst/>
          </a:prstGeom>
          <a:noFill/>
          <a:ln/>
        </p:spPr>
        <p:txBody>
          <a:bodyPr wrap="square" lIns="0" tIns="0" rIns="0" bIns="0" rtlCol="0" anchor="t"/>
          <a:lstStyle/>
          <a:p>
            <a:pPr indent="0" marL="0">
              <a:buNone/>
            </a:pPr>
            <a:r>
              <a:rPr lang="en-US" sz="1500" dirty="0">
                <a:solidFill>
                  <a:schemeClr val="tx2"/>
                </a:solidFill>
              </a:rPr>
              <a:t>Start the simulator and confirm fresh sensor messages in the logs.</a:t>
            </a:r>
            <a:endParaRPr lang="en-US" sz="1500" dirty="0"/>
          </a:p>
        </p:txBody>
      </p:sp>
      <p:sp>
        <p:nvSpPr>
          <p:cNvPr id="7" name="card-758"/>
          <p:cNvSpPr/>
          <p:nvPr/>
        </p:nvSpPr>
        <p:spPr>
          <a:xfrm>
            <a:off x="4337304" y="1463040"/>
            <a:ext cx="3514344" cy="2148840"/>
          </a:xfrm>
          <a:prstGeom prst="roundRect">
            <a:avLst>
              <a:gd name="adj" fmla="val 3404"/>
            </a:avLst>
          </a:prstGeom>
          <a:solidFill>
            <a:schemeClr val="bg1"/>
          </a:solidFill>
          <a:ln/>
          <a:effectLst>
            <a:outerShdw sx="100000" sy="100000" kx="0" ky="0" algn="bl" rotWithShape="0" blurRad="101600" dist="25400" dir="5400000">
              <a:srgbClr val="000000">
                <a:alpha val="12000"/>
              </a:srgbClr>
            </a:outerShdw>
          </a:effectLst>
        </p:spPr>
      </p:sp>
      <p:sp>
        <p:nvSpPr>
          <p:cNvPr id="8" name="badge-759"/>
          <p:cNvSpPr/>
          <p:nvPr/>
        </p:nvSpPr>
        <p:spPr>
          <a:xfrm>
            <a:off x="4611624" y="1737360"/>
            <a:ext cx="594360" cy="59436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760"/>
          <p:cNvSpPr txBox="1"/>
          <p:nvPr/>
        </p:nvSpPr>
        <p:spPr>
          <a:xfrm>
            <a:off x="5388864" y="1737360"/>
            <a:ext cx="2234184" cy="59436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Stay safe</a:t>
            </a:r>
            <a:endParaRPr lang="en-US" sz="2000" dirty="0"/>
          </a:p>
        </p:txBody>
      </p:sp>
      <p:sp>
        <p:nvSpPr>
          <p:cNvPr id="10" name="text-761"/>
          <p:cNvSpPr txBox="1"/>
          <p:nvPr/>
        </p:nvSpPr>
        <p:spPr>
          <a:xfrm>
            <a:off x="4611624" y="2514600"/>
            <a:ext cx="2965704" cy="914400"/>
          </a:xfrm>
          <a:prstGeom prst="rect">
            <a:avLst/>
          </a:prstGeom>
          <a:noFill/>
          <a:ln/>
        </p:spPr>
        <p:txBody>
          <a:bodyPr wrap="square" lIns="0" tIns="0" rIns="0" bIns="0" rtlCol="0" anchor="t"/>
          <a:lstStyle/>
          <a:p>
            <a:pPr indent="0" marL="0">
              <a:buNone/>
            </a:pPr>
            <a:r>
              <a:rPr lang="en-US" sz="1500" dirty="0">
                <a:solidFill>
                  <a:schemeClr val="tx2"/>
                </a:solidFill>
              </a:rPr>
              <a:t>Keep the car stopped when the forward sector is blocked or unknown.</a:t>
            </a:r>
            <a:endParaRPr lang="en-US" sz="1500" dirty="0"/>
          </a:p>
        </p:txBody>
      </p:sp>
      <p:sp>
        <p:nvSpPr>
          <p:cNvPr id="11" name="card-762"/>
          <p:cNvSpPr/>
          <p:nvPr/>
        </p:nvSpPr>
        <p:spPr>
          <a:xfrm>
            <a:off x="8125968" y="1463040"/>
            <a:ext cx="3514344" cy="2148840"/>
          </a:xfrm>
          <a:prstGeom prst="roundRect">
            <a:avLst>
              <a:gd name="adj" fmla="val 3404"/>
            </a:avLst>
          </a:prstGeom>
          <a:solidFill>
            <a:schemeClr val="bg1"/>
          </a:solidFill>
          <a:ln/>
          <a:effectLst>
            <a:outerShdw sx="100000" sy="100000" kx="0" ky="0" algn="bl" rotWithShape="0" blurRad="101600" dist="25400" dir="5400000">
              <a:srgbClr val="000000">
                <a:alpha val="12000"/>
              </a:srgbClr>
            </a:outerShdw>
          </a:effectLst>
        </p:spPr>
      </p:sp>
      <p:sp>
        <p:nvSpPr>
          <p:cNvPr id="12" name="badge-763"/>
          <p:cNvSpPr/>
          <p:nvPr/>
        </p:nvSpPr>
        <p:spPr>
          <a:xfrm>
            <a:off x="8400288" y="1737360"/>
            <a:ext cx="594360" cy="59436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764"/>
          <p:cNvSpPr txBox="1"/>
          <p:nvPr/>
        </p:nvSpPr>
        <p:spPr>
          <a:xfrm>
            <a:off x="9177528" y="1737360"/>
            <a:ext cx="2234184" cy="59436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Steer</a:t>
            </a:r>
            <a:endParaRPr lang="en-US" sz="2000" dirty="0"/>
          </a:p>
        </p:txBody>
      </p:sp>
      <p:sp>
        <p:nvSpPr>
          <p:cNvPr id="14" name="text-765"/>
          <p:cNvSpPr txBox="1"/>
          <p:nvPr/>
        </p:nvSpPr>
        <p:spPr>
          <a:xfrm>
            <a:off x="8400288" y="2514600"/>
            <a:ext cx="2965704" cy="914400"/>
          </a:xfrm>
          <a:prstGeom prst="rect">
            <a:avLst/>
          </a:prstGeom>
          <a:noFill/>
          <a:ln/>
        </p:spPr>
        <p:txBody>
          <a:bodyPr wrap="square" lIns="0" tIns="0" rIns="0" bIns="0" rtlCol="0" anchor="t"/>
          <a:lstStyle/>
          <a:p>
            <a:pPr indent="0" marL="0">
              <a:buNone/>
            </a:pPr>
            <a:r>
              <a:rPr lang="en-US" sz="1500" dirty="0">
                <a:solidFill>
                  <a:schemeClr val="tx2"/>
                </a:solidFill>
              </a:rPr>
              <a:t>Implement steering with wall following or Follow the Gap.</a:t>
            </a:r>
            <a:endParaRPr lang="en-US" sz="1500" dirty="0"/>
          </a:p>
        </p:txBody>
      </p:sp>
      <p:sp>
        <p:nvSpPr>
          <p:cNvPr id="15" name="card-766"/>
          <p:cNvSpPr/>
          <p:nvPr/>
        </p:nvSpPr>
        <p:spPr>
          <a:xfrm>
            <a:off x="548640" y="3886200"/>
            <a:ext cx="3514344" cy="2148840"/>
          </a:xfrm>
          <a:prstGeom prst="roundRect">
            <a:avLst>
              <a:gd name="adj" fmla="val 3404"/>
            </a:avLst>
          </a:prstGeom>
          <a:solidFill>
            <a:schemeClr val="bg1"/>
          </a:solidFill>
          <a:ln/>
          <a:effectLst>
            <a:outerShdw sx="100000" sy="100000" kx="0" ky="0" algn="bl" rotWithShape="0" blurRad="101600" dist="25400" dir="5400000">
              <a:srgbClr val="000000">
                <a:alpha val="12000"/>
              </a:srgbClr>
            </a:outerShdw>
          </a:effectLst>
        </p:spPr>
      </p:sp>
      <p:sp>
        <p:nvSpPr>
          <p:cNvPr id="16" name="badge-767"/>
          <p:cNvSpPr/>
          <p:nvPr/>
        </p:nvSpPr>
        <p:spPr>
          <a:xfrm>
            <a:off x="822960" y="4160520"/>
            <a:ext cx="594360" cy="59436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7" name="text-768"/>
          <p:cNvSpPr txBox="1"/>
          <p:nvPr/>
        </p:nvSpPr>
        <p:spPr>
          <a:xfrm>
            <a:off x="1600200" y="4160520"/>
            <a:ext cx="2234184" cy="59436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Slow down</a:t>
            </a:r>
            <a:endParaRPr lang="en-US" sz="2000" dirty="0"/>
          </a:p>
        </p:txBody>
      </p:sp>
      <p:sp>
        <p:nvSpPr>
          <p:cNvPr id="18" name="text-769"/>
          <p:cNvSpPr txBox="1"/>
          <p:nvPr/>
        </p:nvSpPr>
        <p:spPr>
          <a:xfrm>
            <a:off x="822960" y="4937760"/>
            <a:ext cx="2965704" cy="914400"/>
          </a:xfrm>
          <a:prstGeom prst="rect">
            <a:avLst/>
          </a:prstGeom>
          <a:noFill/>
          <a:ln/>
        </p:spPr>
        <p:txBody>
          <a:bodyPr wrap="square" lIns="0" tIns="0" rIns="0" bIns="0" rtlCol="0" anchor="t"/>
          <a:lstStyle/>
          <a:p>
            <a:pPr indent="0" marL="0">
              <a:buNone/>
            </a:pPr>
            <a:r>
              <a:rPr lang="en-US" sz="1500" dirty="0">
                <a:solidFill>
                  <a:schemeClr val="tx2"/>
                </a:solidFill>
              </a:rPr>
              <a:t>Reduce speed for corners and nearby obstacles.</a:t>
            </a:r>
            <a:endParaRPr lang="en-US" sz="1500" dirty="0"/>
          </a:p>
        </p:txBody>
      </p:sp>
      <p:sp>
        <p:nvSpPr>
          <p:cNvPr id="19" name="card-770"/>
          <p:cNvSpPr/>
          <p:nvPr/>
        </p:nvSpPr>
        <p:spPr>
          <a:xfrm>
            <a:off x="4337304" y="3886200"/>
            <a:ext cx="3514344" cy="2148840"/>
          </a:xfrm>
          <a:prstGeom prst="roundRect">
            <a:avLst>
              <a:gd name="adj" fmla="val 3404"/>
            </a:avLst>
          </a:prstGeom>
          <a:solidFill>
            <a:schemeClr val="bg1"/>
          </a:solidFill>
          <a:ln/>
          <a:effectLst>
            <a:outerShdw sx="100000" sy="100000" kx="0" ky="0" algn="bl" rotWithShape="0" blurRad="101600" dist="25400" dir="5400000">
              <a:srgbClr val="000000">
                <a:alpha val="12000"/>
              </a:srgbClr>
            </a:outerShdw>
          </a:effectLst>
        </p:spPr>
      </p:sp>
      <p:sp>
        <p:nvSpPr>
          <p:cNvPr id="20" name="badge-771"/>
          <p:cNvSpPr/>
          <p:nvPr/>
        </p:nvSpPr>
        <p:spPr>
          <a:xfrm>
            <a:off x="4611624" y="4160520"/>
            <a:ext cx="594360" cy="59436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1" name="text-772"/>
          <p:cNvSpPr txBox="1"/>
          <p:nvPr/>
        </p:nvSpPr>
        <p:spPr>
          <a:xfrm>
            <a:off x="5388864" y="4160520"/>
            <a:ext cx="2234184" cy="59436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Be consistent</a:t>
            </a:r>
            <a:endParaRPr lang="en-US" sz="2000" dirty="0"/>
          </a:p>
        </p:txBody>
      </p:sp>
      <p:sp>
        <p:nvSpPr>
          <p:cNvPr id="22" name="text-773"/>
          <p:cNvSpPr txBox="1"/>
          <p:nvPr/>
        </p:nvSpPr>
        <p:spPr>
          <a:xfrm>
            <a:off x="4611624" y="4937760"/>
            <a:ext cx="2965704" cy="914400"/>
          </a:xfrm>
          <a:prstGeom prst="rect">
            <a:avLst/>
          </a:prstGeom>
          <a:noFill/>
          <a:ln/>
        </p:spPr>
        <p:txBody>
          <a:bodyPr wrap="square" lIns="0" tIns="0" rIns="0" bIns="0" rtlCol="0" anchor="t"/>
          <a:lstStyle/>
          <a:p>
            <a:pPr indent="0" marL="0">
              <a:buNone/>
            </a:pPr>
            <a:r>
              <a:rPr lang="en-US" sz="1500" dirty="0">
                <a:solidFill>
                  <a:schemeClr val="tx2"/>
                </a:solidFill>
              </a:rPr>
              <a:t>Complete one clean lap, then three more with the same settings.</a:t>
            </a:r>
            <a:endParaRPr lang="en-US" sz="1500" dirty="0"/>
          </a:p>
        </p:txBody>
      </p:sp>
      <p:sp>
        <p:nvSpPr>
          <p:cNvPr id="23" name="card-774"/>
          <p:cNvSpPr/>
          <p:nvPr/>
        </p:nvSpPr>
        <p:spPr>
          <a:xfrm>
            <a:off x="8125968" y="3886200"/>
            <a:ext cx="3514344" cy="2148840"/>
          </a:xfrm>
          <a:prstGeom prst="roundRect">
            <a:avLst>
              <a:gd name="adj" fmla="val 3404"/>
            </a:avLst>
          </a:prstGeom>
          <a:solidFill>
            <a:schemeClr val="bg1"/>
          </a:solidFill>
          <a:ln/>
          <a:effectLst>
            <a:outerShdw sx="100000" sy="100000" kx="0" ky="0" algn="bl" rotWithShape="0" blurRad="101600" dist="25400" dir="5400000">
              <a:srgbClr val="000000">
                <a:alpha val="12000"/>
              </a:srgbClr>
            </a:outerShdw>
          </a:effectLst>
        </p:spPr>
      </p:sp>
      <p:sp>
        <p:nvSpPr>
          <p:cNvPr id="24" name="badge-775"/>
          <p:cNvSpPr/>
          <p:nvPr/>
        </p:nvSpPr>
        <p:spPr>
          <a:xfrm>
            <a:off x="8400288" y="4160520"/>
            <a:ext cx="594360" cy="594360"/>
          </a:xfrm>
          <a:prstGeom prst="ellipse">
            <a:avLst/>
          </a:prstGeom>
          <a:solidFill>
            <a:schemeClr val="accent3"/>
          </a:solid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25" name="text-776"/>
          <p:cNvSpPr txBox="1"/>
          <p:nvPr/>
        </p:nvSpPr>
        <p:spPr>
          <a:xfrm>
            <a:off x="9177528" y="4160520"/>
            <a:ext cx="2234184" cy="59436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Compare</a:t>
            </a:r>
            <a:endParaRPr lang="en-US" sz="2000" dirty="0"/>
          </a:p>
        </p:txBody>
      </p:sp>
      <p:sp>
        <p:nvSpPr>
          <p:cNvPr id="26" name="text-777"/>
          <p:cNvSpPr txBox="1"/>
          <p:nvPr/>
        </p:nvSpPr>
        <p:spPr>
          <a:xfrm>
            <a:off x="8400288" y="4937760"/>
            <a:ext cx="2965704" cy="914400"/>
          </a:xfrm>
          <a:prstGeom prst="rect">
            <a:avLst/>
          </a:prstGeom>
          <a:noFill/>
          <a:ln/>
        </p:spPr>
        <p:txBody>
          <a:bodyPr wrap="square" lIns="0" tIns="0" rIns="0" bIns="0" rtlCol="0" anchor="t"/>
          <a:lstStyle/>
          <a:p>
            <a:pPr indent="0" marL="0">
              <a:buNone/>
            </a:pPr>
            <a:r>
              <a:rPr lang="en-US" sz="1500" dirty="0">
                <a:solidFill>
                  <a:schemeClr val="tx2"/>
                </a:solidFill>
              </a:rPr>
              <a:t>Compare lap times using the simulator's lap and collision counters.</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edit–test loop and tuning</a:t>
            </a:r>
            <a:endParaRPr lang="en-US" sz="3600" dirty="0"/>
          </a:p>
        </p:txBody>
      </p:sp>
      <p:sp>
        <p:nvSpPr>
          <p:cNvPr id="3" name="card-778"/>
          <p:cNvSpPr/>
          <p:nvPr/>
        </p:nvSpPr>
        <p:spPr>
          <a:xfrm>
            <a:off x="548640" y="1463040"/>
            <a:ext cx="4206240" cy="4526280"/>
          </a:xfrm>
          <a:prstGeom prst="roundRect">
            <a:avLst>
              <a:gd name="adj" fmla="val 1739"/>
            </a:avLst>
          </a:prstGeom>
          <a:solidFill>
            <a:schemeClr val="bg1"/>
          </a:solidFill>
          <a:ln/>
          <a:effectLst>
            <a:outerShdw sx="100000" sy="100000" kx="0" ky="0" algn="bl" rotWithShape="0" blurRad="101600" dist="25400" dir="5400000">
              <a:srgbClr val="000000">
                <a:alpha val="12000"/>
              </a:srgbClr>
            </a:outerShdw>
          </a:effectLst>
        </p:spPr>
      </p:sp>
      <p:sp>
        <p:nvSpPr>
          <p:cNvPr id="4" name="text-779"/>
          <p:cNvSpPr txBox="1"/>
          <p:nvPr/>
        </p:nvSpPr>
        <p:spPr>
          <a:xfrm>
            <a:off x="822960" y="1645920"/>
            <a:ext cx="365760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Every change</a:t>
            </a:r>
            <a:endParaRPr lang="en-US" sz="1800" dirty="0"/>
          </a:p>
        </p:txBody>
      </p:sp>
      <p:sp>
        <p:nvSpPr>
          <p:cNvPr id="5" name="icon-circle-780"/>
          <p:cNvSpPr/>
          <p:nvPr/>
        </p:nvSpPr>
        <p:spPr>
          <a:xfrm>
            <a:off x="822960" y="2240280"/>
            <a:ext cx="548640" cy="548640"/>
          </a:xfrm>
          <a:prstGeom prst="ellipse">
            <a:avLst/>
          </a:prstGeom>
          <a:solidFill>
            <a:schemeClr val="tx1"/>
          </a:solidFill>
          <a:ln/>
        </p:spPr>
      </p:sp>
      <p:pic>
        <p:nvPicPr>
          <p:cNvPr id="6" name="icon-781" descr="preencoded.png">    </p:cNvPr>
          <p:cNvPicPr>
            <a:picLocks noChangeAspect="1"/>
          </p:cNvPicPr>
          <p:nvPr/>
        </p:nvPicPr>
        <p:blipFill>
          <a:blip r:embed="rId1"/>
          <a:stretch>
            <a:fillRect/>
          </a:stretch>
        </p:blipFill>
        <p:spPr>
          <a:xfrm>
            <a:off x="960120" y="2377440"/>
            <a:ext cx="274320" cy="274320"/>
          </a:xfrm>
          <a:prstGeom prst="rect">
            <a:avLst/>
          </a:prstGeom>
        </p:spPr>
      </p:pic>
      <p:sp>
        <p:nvSpPr>
          <p:cNvPr id="7" name="text-782"/>
          <p:cNvSpPr txBox="1"/>
          <p:nvPr/>
        </p:nvSpPr>
        <p:spPr>
          <a:xfrm>
            <a:off x="1554480" y="2240280"/>
            <a:ext cx="3063240" cy="548640"/>
          </a:xfrm>
          <a:prstGeom prst="rect">
            <a:avLst/>
          </a:prstGeom>
          <a:noFill/>
          <a:ln/>
        </p:spPr>
        <p:txBody>
          <a:bodyPr wrap="square" lIns="0" tIns="0" rIns="0" bIns="0" rtlCol="0" anchor="ctr"/>
          <a:lstStyle/>
          <a:p>
            <a:pPr indent="0" marL="0">
              <a:buNone/>
            </a:pPr>
            <a:r>
              <a:rPr lang="en-US" sz="1500" dirty="0">
                <a:solidFill>
                  <a:schemeClr val="tx1"/>
                </a:solidFill>
              </a:rPr>
              <a:t>Edit and save controller.py</a:t>
            </a:r>
            <a:endParaRPr lang="en-US" sz="1500" dirty="0"/>
          </a:p>
        </p:txBody>
      </p:sp>
      <p:sp>
        <p:nvSpPr>
          <p:cNvPr id="8" name="icon-circle-783"/>
          <p:cNvSpPr/>
          <p:nvPr/>
        </p:nvSpPr>
        <p:spPr>
          <a:xfrm>
            <a:off x="822960" y="3154680"/>
            <a:ext cx="548640" cy="548640"/>
          </a:xfrm>
          <a:prstGeom prst="ellipse">
            <a:avLst/>
          </a:prstGeom>
          <a:solidFill>
            <a:schemeClr val="accent1"/>
          </a:solidFill>
          <a:ln/>
        </p:spPr>
      </p:sp>
      <p:pic>
        <p:nvPicPr>
          <p:cNvPr id="9" name="icon-784" descr="preencoded.png">    </p:cNvPr>
          <p:cNvPicPr>
            <a:picLocks noChangeAspect="1"/>
          </p:cNvPicPr>
          <p:nvPr/>
        </p:nvPicPr>
        <p:blipFill>
          <a:blip r:embed="rId2"/>
          <a:stretch>
            <a:fillRect/>
          </a:stretch>
        </p:blipFill>
        <p:spPr>
          <a:xfrm>
            <a:off x="960120" y="3291840"/>
            <a:ext cx="274320" cy="274320"/>
          </a:xfrm>
          <a:prstGeom prst="rect">
            <a:avLst/>
          </a:prstGeom>
        </p:spPr>
      </p:pic>
      <p:sp>
        <p:nvSpPr>
          <p:cNvPr id="10" name="text-785"/>
          <p:cNvSpPr txBox="1"/>
          <p:nvPr/>
        </p:nvSpPr>
        <p:spPr>
          <a:xfrm>
            <a:off x="1554480" y="3154680"/>
            <a:ext cx="3063240" cy="548640"/>
          </a:xfrm>
          <a:prstGeom prst="rect">
            <a:avLst/>
          </a:prstGeom>
          <a:noFill/>
          <a:ln/>
        </p:spPr>
        <p:txBody>
          <a:bodyPr wrap="square" lIns="0" tIns="0" rIns="0" bIns="0" rtlCol="0" anchor="ctr"/>
          <a:lstStyle/>
          <a:p>
            <a:pPr indent="0" marL="0">
              <a:buNone/>
            </a:pPr>
            <a:r>
              <a:rPr lang="en-US" sz="1500" b="1" dirty="0">
                <a:solidFill>
                  <a:schemeClr val="tx1"/>
                </a:solidFill>
              </a:rPr>
              <a:t>restart -Controller starter</a:t>
            </a:r>
            <a:endParaRPr lang="en-US" sz="1500" dirty="0"/>
          </a:p>
        </p:txBody>
      </p:sp>
      <p:sp>
        <p:nvSpPr>
          <p:cNvPr id="11" name="icon-circle-786"/>
          <p:cNvSpPr/>
          <p:nvPr/>
        </p:nvSpPr>
        <p:spPr>
          <a:xfrm>
            <a:off x="822960" y="4069080"/>
            <a:ext cx="548640" cy="548640"/>
          </a:xfrm>
          <a:prstGeom prst="ellipse">
            <a:avLst/>
          </a:prstGeom>
          <a:solidFill>
            <a:schemeClr val="tx1"/>
          </a:solidFill>
          <a:ln/>
        </p:spPr>
      </p:sp>
      <p:pic>
        <p:nvPicPr>
          <p:cNvPr id="12" name="icon-787" descr="preencoded.png">    </p:cNvPr>
          <p:cNvPicPr>
            <a:picLocks noChangeAspect="1"/>
          </p:cNvPicPr>
          <p:nvPr/>
        </p:nvPicPr>
        <p:blipFill>
          <a:blip r:embed="rId3"/>
          <a:stretch>
            <a:fillRect/>
          </a:stretch>
        </p:blipFill>
        <p:spPr>
          <a:xfrm>
            <a:off x="960120" y="4206240"/>
            <a:ext cx="274320" cy="274320"/>
          </a:xfrm>
          <a:prstGeom prst="rect">
            <a:avLst/>
          </a:prstGeom>
        </p:spPr>
      </p:pic>
      <p:sp>
        <p:nvSpPr>
          <p:cNvPr id="13" name="text-788"/>
          <p:cNvSpPr txBox="1"/>
          <p:nvPr/>
        </p:nvSpPr>
        <p:spPr>
          <a:xfrm>
            <a:off x="1554480" y="4069080"/>
            <a:ext cx="3063240" cy="548640"/>
          </a:xfrm>
          <a:prstGeom prst="rect">
            <a:avLst/>
          </a:prstGeom>
          <a:noFill/>
          <a:ln/>
        </p:spPr>
        <p:txBody>
          <a:bodyPr wrap="square" lIns="0" tIns="0" rIns="0" bIns="0" rtlCol="0" anchor="ctr"/>
          <a:lstStyle/>
          <a:p>
            <a:pPr indent="0" marL="0">
              <a:buNone/>
            </a:pPr>
            <a:r>
              <a:rPr lang="en-US" sz="1500" dirty="0">
                <a:solidFill>
                  <a:schemeClr val="tx1"/>
                </a:solidFill>
              </a:rPr>
              <a:t>Watch logs -Follow</a:t>
            </a:r>
            <a:endParaRPr lang="en-US" sz="1500" dirty="0"/>
          </a:p>
        </p:txBody>
      </p:sp>
      <p:sp>
        <p:nvSpPr>
          <p:cNvPr id="14" name="icon-circle-789"/>
          <p:cNvSpPr/>
          <p:nvPr/>
        </p:nvSpPr>
        <p:spPr>
          <a:xfrm>
            <a:off x="822960" y="4983480"/>
            <a:ext cx="548640" cy="548640"/>
          </a:xfrm>
          <a:prstGeom prst="ellipse">
            <a:avLst/>
          </a:prstGeom>
          <a:solidFill>
            <a:schemeClr val="tx1"/>
          </a:solidFill>
          <a:ln/>
        </p:spPr>
      </p:sp>
      <p:pic>
        <p:nvPicPr>
          <p:cNvPr id="15" name="icon-790" descr="preencoded.png">    </p:cNvPr>
          <p:cNvPicPr>
            <a:picLocks noChangeAspect="1"/>
          </p:cNvPicPr>
          <p:nvPr/>
        </p:nvPicPr>
        <p:blipFill>
          <a:blip r:embed="rId4"/>
          <a:stretch>
            <a:fillRect/>
          </a:stretch>
        </p:blipFill>
        <p:spPr>
          <a:xfrm>
            <a:off x="960120" y="5120640"/>
            <a:ext cx="274320" cy="274320"/>
          </a:xfrm>
          <a:prstGeom prst="rect">
            <a:avLst/>
          </a:prstGeom>
        </p:spPr>
      </p:pic>
      <p:sp>
        <p:nvSpPr>
          <p:cNvPr id="16" name="text-791"/>
          <p:cNvSpPr txBox="1"/>
          <p:nvPr/>
        </p:nvSpPr>
        <p:spPr>
          <a:xfrm>
            <a:off x="1554480" y="4983480"/>
            <a:ext cx="3063240" cy="548640"/>
          </a:xfrm>
          <a:prstGeom prst="rect">
            <a:avLst/>
          </a:prstGeom>
          <a:noFill/>
          <a:ln/>
        </p:spPr>
        <p:txBody>
          <a:bodyPr wrap="square" lIns="0" tIns="0" rIns="0" bIns="0" rtlCol="0" anchor="ctr"/>
          <a:lstStyle/>
          <a:p>
            <a:pPr indent="0" marL="0">
              <a:buNone/>
            </a:pPr>
            <a:r>
              <a:rPr lang="en-US" sz="1500" dirty="0">
                <a:solidFill>
                  <a:schemeClr val="tx1"/>
                </a:solidFill>
              </a:rPr>
              <a:t>pause, then reset the car</a:t>
            </a:r>
            <a:endParaRPr lang="en-US" sz="1500" dirty="0"/>
          </a:p>
        </p:txBody>
      </p:sp>
      <p:graphicFrame>
        <p:nvGraphicFramePr>
          <p:cNvPr id="33" name="tuning-table"/>
          <p:cNvGraphicFramePr>
            <a:graphicFrameLocks noGrp="1"/>
          </p:cNvGraphicFramePr>
          <p:nvPr>
            <p:extLst>
              <p:ext uri="{D42A27DB-BD31-4B8C-83A1-F6EECF244321}">
                <p14:modId xmlns:p14="http://schemas.microsoft.com/office/powerpoint/2010/main" val="1579011935"/>
              </p:ext>
            </p:extLst>
          </p:nvPr>
        </p:nvGraphicFramePr>
        <p:xfrm>
          <a:off x="5029200" y="1463040"/>
          <a:ext cx="6611112" cy="914400"/>
        </p:xfrm>
        <a:graphic>
          <a:graphicData uri="http://schemas.openxmlformats.org/drawingml/2006/table">
            <a:tbl>
              <a:tblPr/>
              <a:tblGrid>
                <a:gridCol w="2011680"/>
                <a:gridCol w="2286000"/>
                <a:gridCol w="2313432"/>
              </a:tblGrid>
              <a:tr h="457200">
                <a:tc>
                  <a:txBody>
                    <a:bodyPr/>
                    <a:lstStyle/>
                    <a:p>
                      <a:pPr indent="0" marL="0">
                        <a:buNone/>
                      </a:pPr>
                      <a:r>
                        <a:rPr lang="en-US" sz="1400" b="1" dirty="0">
                          <a:solidFill>
                            <a:schemeClr val="bg1"/>
                          </a:solidFill>
                        </a:rPr>
                        <a:t>Knob</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Lower</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Higher</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tx1"/>
                    </a:solidFill>
                  </a:tcPr>
                </a:tc>
              </a:tr>
              <a:tr h="640080">
                <a:tc>
                  <a:txBody>
                    <a:bodyPr/>
                    <a:lstStyle/>
                    <a:p>
                      <a:pPr indent="0" marL="0">
                        <a:buNone/>
                      </a:pPr>
                      <a:r>
                        <a:rPr lang="en-US" sz="1400" b="1" dirty="0">
                          <a:solidFill>
                            <a:schemeClr val="tx1"/>
                          </a:solidFill>
                        </a:rPr>
                        <a:t>Lookahead L</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Sharper, but twitchy</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Smoother, cuts corners</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1"/>
                          </a:solidFill>
                        </a:rPr>
                        <a:t>Safety bubble</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Squeezes through tight gaps</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Safer, may find no gap</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1"/>
                          </a:solidFill>
                        </a:rPr>
                        <a:t>Obstacle threshold</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Reacts late</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Avoids early, fewer gaps</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1"/>
                          </a:solidFill>
                        </a:rPr>
                        <a:t>Max speed</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Safer, slower laps</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Faster, more collisions</a:t>
                      </a:r>
                      <a:endParaRPr lang="en-US" sz="1400" dirty="0"/>
                    </a:p>
                  </a:txBody>
                  <a:tcPr marL="109728" marR="73152" marT="0" marB="0" anchor="ctr">
                    <a:lnL w="9525" cap="flat" cmpd="sng" algn="ctr">
                      <a:solidFill>
                        <a:srgbClr val="F2F3F5"/>
                      </a:solidFill>
                      <a:prstDash val="solid"/>
                      <a:round/>
                      <a:headEnd type="none" w="med" len="med"/>
                      <a:tailEnd type="none" w="med" len="med"/>
                    </a:lnL>
                    <a:lnR w="9525" cap="flat" cmpd="sng" algn="ctr">
                      <a:solidFill>
                        <a:srgbClr val="F2F3F5"/>
                      </a:solidFill>
                      <a:prstDash val="solid"/>
                      <a:round/>
                      <a:headEnd type="none" w="med" len="med"/>
                      <a:tailEnd type="none" w="med" len="med"/>
                    </a:lnR>
                    <a:lnT w="9525" cap="flat" cmpd="sng" algn="ctr">
                      <a:solidFill>
                        <a:srgbClr val="F2F3F5"/>
                      </a:solidFill>
                      <a:prstDash val="solid"/>
                      <a:round/>
                      <a:headEnd type="none" w="med" len="med"/>
                      <a:tailEnd type="none" w="med" len="med"/>
                    </a:lnT>
                    <a:lnB w="9525" cap="flat" cmpd="sng" algn="ctr">
                      <a:solidFill>
                        <a:srgbClr val="F2F3F5"/>
                      </a:solidFill>
                      <a:prstDash val="solid"/>
                      <a:round/>
                      <a:headEnd type="none" w="med" len="med"/>
                      <a:tailEnd type="none" w="med" len="med"/>
                    </a:lnB>
                    <a:solidFill>
                      <a:schemeClr val="bg1"/>
                    </a:solidFill>
                  </a:tcPr>
                </a:tc>
              </a:tr>
            </a:tbl>
          </a:graphicData>
        </a:graphic>
      </p:graphicFrame>
      <p:sp>
        <p:nvSpPr>
          <p:cNvPr id="18" name="tune-tip"/>
          <p:cNvSpPr/>
          <p:nvPr/>
        </p:nvSpPr>
        <p:spPr>
          <a:xfrm>
            <a:off x="5029200" y="4983480"/>
            <a:ext cx="6611112" cy="1005840"/>
          </a:xfrm>
          <a:prstGeom prst="roundRect">
            <a:avLst>
              <a:gd name="adj" fmla="val 7273"/>
            </a:avLst>
          </a:prstGeom>
          <a:solidFill>
            <a:schemeClr val="tx1"/>
          </a:solidFill>
          <a:ln/>
        </p:spPr>
      </p:sp>
      <p:pic>
        <p:nvPicPr>
          <p:cNvPr id="19" name="tune-icon" descr="preencoded.png">    </p:cNvPr>
          <p:cNvPicPr>
            <a:picLocks noChangeAspect="1"/>
          </p:cNvPicPr>
          <p:nvPr/>
        </p:nvPicPr>
        <p:blipFill>
          <a:blip r:embed="rId5"/>
          <a:stretch>
            <a:fillRect/>
          </a:stretch>
        </p:blipFill>
        <p:spPr>
          <a:xfrm>
            <a:off x="5303520" y="5257800"/>
            <a:ext cx="457200" cy="457200"/>
          </a:xfrm>
          <a:prstGeom prst="rect">
            <a:avLst/>
          </a:prstGeom>
        </p:spPr>
      </p:pic>
      <p:sp>
        <p:nvSpPr>
          <p:cNvPr id="20" name="text-792"/>
          <p:cNvSpPr txBox="1"/>
          <p:nvPr/>
        </p:nvSpPr>
        <p:spPr>
          <a:xfrm>
            <a:off x="5989320" y="4983480"/>
            <a:ext cx="5440680" cy="1005840"/>
          </a:xfrm>
          <a:prstGeom prst="rect">
            <a:avLst/>
          </a:prstGeom>
          <a:noFill/>
          <a:ln/>
        </p:spPr>
        <p:txBody>
          <a:bodyPr wrap="square" lIns="0" tIns="0" rIns="0" bIns="0" rtlCol="0" anchor="ctr"/>
          <a:lstStyle/>
          <a:p>
            <a:pPr indent="0" marL="0">
              <a:buNone/>
            </a:pPr>
            <a:r>
              <a:rPr lang="en-US" sz="1600" b="1" dirty="0">
                <a:solidFill>
                  <a:schemeClr val="bg1"/>
                </a:solidFill>
              </a:rPr>
              <a:t>Change one knob at a time. Record the settings, laps and collisions for each run.</a:t>
            </a:r>
            <a:endParaRPr lang="en-US" sz="16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Troubleshooting</a:t>
            </a:r>
            <a:endParaRPr lang="en-US" sz="3600" dirty="0"/>
          </a:p>
        </p:txBody>
      </p:sp>
      <p:sp>
        <p:nvSpPr>
          <p:cNvPr id="3" name="card-793"/>
          <p:cNvSpPr/>
          <p:nvPr/>
        </p:nvSpPr>
        <p:spPr>
          <a:xfrm>
            <a:off x="548640" y="1463040"/>
            <a:ext cx="11091672" cy="804672"/>
          </a:xfrm>
          <a:prstGeom prst="roundRect">
            <a:avLst>
              <a:gd name="adj" fmla="val 9091"/>
            </a:avLst>
          </a:prstGeom>
          <a:solidFill>
            <a:schemeClr val="bg1"/>
          </a:solidFill>
          <a:ln/>
          <a:effectLst>
            <a:outerShdw sx="100000" sy="100000" kx="0" ky="0" algn="bl" rotWithShape="0" blurRad="101600" dist="25400" dir="5400000">
              <a:srgbClr val="000000">
                <a:alpha val="12000"/>
              </a:srgbClr>
            </a:outerShdw>
          </a:effectLst>
        </p:spPr>
      </p:sp>
      <p:sp>
        <p:nvSpPr>
          <p:cNvPr id="4" name="icon-circle-794"/>
          <p:cNvSpPr/>
          <p:nvPr/>
        </p:nvSpPr>
        <p:spPr>
          <a:xfrm>
            <a:off x="777240" y="1609344"/>
            <a:ext cx="512064" cy="512064"/>
          </a:xfrm>
          <a:prstGeom prst="ellipse">
            <a:avLst/>
          </a:prstGeom>
          <a:solidFill>
            <a:schemeClr val="tx1"/>
          </a:solidFill>
          <a:ln/>
        </p:spPr>
      </p:sp>
      <p:pic>
        <p:nvPicPr>
          <p:cNvPr id="5" name="icon-795" descr="preencoded.png">    </p:cNvPr>
          <p:cNvPicPr>
            <a:picLocks noChangeAspect="1"/>
          </p:cNvPicPr>
          <p:nvPr/>
        </p:nvPicPr>
        <p:blipFill>
          <a:blip r:embed="rId1"/>
          <a:stretch>
            <a:fillRect/>
          </a:stretch>
        </p:blipFill>
        <p:spPr>
          <a:xfrm>
            <a:off x="905256" y="1737360"/>
            <a:ext cx="256032" cy="256032"/>
          </a:xfrm>
          <a:prstGeom prst="rect">
            <a:avLst/>
          </a:prstGeom>
        </p:spPr>
      </p:pic>
      <p:sp>
        <p:nvSpPr>
          <p:cNvPr id="6" name="text-796"/>
          <p:cNvSpPr txBox="1"/>
          <p:nvPr/>
        </p:nvSpPr>
        <p:spPr>
          <a:xfrm>
            <a:off x="1508760" y="1463040"/>
            <a:ext cx="3108960" cy="804672"/>
          </a:xfrm>
          <a:prstGeom prst="rect">
            <a:avLst/>
          </a:prstGeom>
          <a:noFill/>
          <a:ln/>
        </p:spPr>
        <p:txBody>
          <a:bodyPr wrap="square" lIns="0" tIns="0" rIns="0" bIns="0" rtlCol="0" anchor="ctr"/>
          <a:lstStyle/>
          <a:p>
            <a:pPr indent="0" marL="0">
              <a:buNone/>
            </a:pPr>
            <a:r>
              <a:rPr lang="en-US" sz="1700" b="1" dirty="0">
                <a:solidFill>
                  <a:schemeClr val="tx1"/>
                </a:solidFill>
              </a:rPr>
              <a:t>Car stays stopped</a:t>
            </a:r>
            <a:endParaRPr lang="en-US" sz="1700" dirty="0"/>
          </a:p>
        </p:txBody>
      </p:sp>
      <p:sp>
        <p:nvSpPr>
          <p:cNvPr id="7" name="text-797"/>
          <p:cNvSpPr txBox="1"/>
          <p:nvPr/>
        </p:nvSpPr>
        <p:spPr>
          <a:xfrm>
            <a:off x="4709160" y="1463040"/>
            <a:ext cx="6720840" cy="804672"/>
          </a:xfrm>
          <a:prstGeom prst="rect">
            <a:avLst/>
          </a:prstGeom>
          <a:noFill/>
          <a:ln/>
        </p:spPr>
        <p:txBody>
          <a:bodyPr wrap="square" lIns="0" tIns="0" rIns="0" bIns="0" rtlCol="0" anchor="ctr"/>
          <a:lstStyle/>
          <a:p>
            <a:pPr indent="0" marL="0">
              <a:buNone/>
            </a:pPr>
            <a:r>
              <a:rPr lang="en-US" sz="1500" dirty="0">
                <a:solidFill>
                  <a:schemeClr val="tx2"/>
                </a:solidFill>
              </a:rPr>
              <a:t>The starter returns zero. Implement drive() or select the example; check Connection, Autonomous and the logs.</a:t>
            </a:r>
            <a:endParaRPr lang="en-US" sz="1500" dirty="0"/>
          </a:p>
        </p:txBody>
      </p:sp>
      <p:sp>
        <p:nvSpPr>
          <p:cNvPr id="8" name="card-798"/>
          <p:cNvSpPr/>
          <p:nvPr/>
        </p:nvSpPr>
        <p:spPr>
          <a:xfrm>
            <a:off x="548640" y="2404872"/>
            <a:ext cx="11091672" cy="804672"/>
          </a:xfrm>
          <a:prstGeom prst="roundRect">
            <a:avLst>
              <a:gd name="adj" fmla="val 9091"/>
            </a:avLst>
          </a:prstGeom>
          <a:solidFill>
            <a:schemeClr val="bg1"/>
          </a:solidFill>
          <a:ln/>
          <a:effectLst>
            <a:outerShdw sx="100000" sy="100000" kx="0" ky="0" algn="bl" rotWithShape="0" blurRad="101600" dist="25400" dir="5400000">
              <a:srgbClr val="000000">
                <a:alpha val="12000"/>
              </a:srgbClr>
            </a:outerShdw>
          </a:effectLst>
        </p:spPr>
      </p:sp>
      <p:sp>
        <p:nvSpPr>
          <p:cNvPr id="9" name="icon-circle-799"/>
          <p:cNvSpPr/>
          <p:nvPr/>
        </p:nvSpPr>
        <p:spPr>
          <a:xfrm>
            <a:off x="777240" y="2551176"/>
            <a:ext cx="512064" cy="512064"/>
          </a:xfrm>
          <a:prstGeom prst="ellipse">
            <a:avLst/>
          </a:prstGeom>
          <a:solidFill>
            <a:schemeClr val="tx1"/>
          </a:solidFill>
          <a:ln/>
        </p:spPr>
      </p:sp>
      <p:pic>
        <p:nvPicPr>
          <p:cNvPr id="10" name="icon-800" descr="preencoded.png">    </p:cNvPr>
          <p:cNvPicPr>
            <a:picLocks noChangeAspect="1"/>
          </p:cNvPicPr>
          <p:nvPr/>
        </p:nvPicPr>
        <p:blipFill>
          <a:blip r:embed="rId2"/>
          <a:stretch>
            <a:fillRect/>
          </a:stretch>
        </p:blipFill>
        <p:spPr>
          <a:xfrm>
            <a:off x="905256" y="2679192"/>
            <a:ext cx="256032" cy="256032"/>
          </a:xfrm>
          <a:prstGeom prst="rect">
            <a:avLst/>
          </a:prstGeom>
        </p:spPr>
      </p:pic>
      <p:sp>
        <p:nvSpPr>
          <p:cNvPr id="11" name="text-801"/>
          <p:cNvSpPr txBox="1"/>
          <p:nvPr/>
        </p:nvSpPr>
        <p:spPr>
          <a:xfrm>
            <a:off x="1508760" y="2404872"/>
            <a:ext cx="3108960" cy="804672"/>
          </a:xfrm>
          <a:prstGeom prst="rect">
            <a:avLst/>
          </a:prstGeom>
          <a:noFill/>
          <a:ln/>
        </p:spPr>
        <p:txBody>
          <a:bodyPr wrap="square" lIns="0" tIns="0" rIns="0" bIns="0" rtlCol="0" anchor="ctr"/>
          <a:lstStyle/>
          <a:p>
            <a:pPr indent="0" marL="0">
              <a:buNone/>
            </a:pPr>
            <a:r>
              <a:rPr lang="en-US" sz="1700" b="1" dirty="0">
                <a:solidFill>
                  <a:schemeClr val="tx1"/>
                </a:solidFill>
              </a:rPr>
              <a:t>Changes have no effect</a:t>
            </a:r>
            <a:endParaRPr lang="en-US" sz="1700" dirty="0"/>
          </a:p>
        </p:txBody>
      </p:sp>
      <p:sp>
        <p:nvSpPr>
          <p:cNvPr id="12" name="text-802"/>
          <p:cNvSpPr txBox="1"/>
          <p:nvPr/>
        </p:nvSpPr>
        <p:spPr>
          <a:xfrm>
            <a:off x="4709160" y="2404872"/>
            <a:ext cx="6720840" cy="804672"/>
          </a:xfrm>
          <a:prstGeom prst="rect">
            <a:avLst/>
          </a:prstGeom>
          <a:noFill/>
          <a:ln/>
        </p:spPr>
        <p:txBody>
          <a:bodyPr wrap="square" lIns="0" tIns="0" rIns="0" bIns="0" rtlCol="0" anchor="ctr"/>
          <a:lstStyle/>
          <a:p>
            <a:pPr indent="0" marL="0">
              <a:buNone/>
            </a:pPr>
            <a:r>
              <a:rPr lang="en-US" sz="1500" dirty="0">
                <a:solidFill>
                  <a:schemeClr val="tx2"/>
                </a:solidFill>
              </a:rPr>
              <a:t>Save the file, then restart -Controller starter. No image rebuild is needed.</a:t>
            </a:r>
            <a:endParaRPr lang="en-US" sz="1500" dirty="0"/>
          </a:p>
        </p:txBody>
      </p:sp>
      <p:sp>
        <p:nvSpPr>
          <p:cNvPr id="13" name="card-803"/>
          <p:cNvSpPr/>
          <p:nvPr/>
        </p:nvSpPr>
        <p:spPr>
          <a:xfrm>
            <a:off x="548640" y="3346704"/>
            <a:ext cx="11091672" cy="804672"/>
          </a:xfrm>
          <a:prstGeom prst="roundRect">
            <a:avLst>
              <a:gd name="adj" fmla="val 9091"/>
            </a:avLst>
          </a:prstGeom>
          <a:solidFill>
            <a:schemeClr val="bg1"/>
          </a:solidFill>
          <a:ln/>
          <a:effectLst>
            <a:outerShdw sx="100000" sy="100000" kx="0" ky="0" algn="bl" rotWithShape="0" blurRad="101600" dist="25400" dir="5400000">
              <a:srgbClr val="000000">
                <a:alpha val="12000"/>
              </a:srgbClr>
            </a:outerShdw>
          </a:effectLst>
        </p:spPr>
      </p:sp>
      <p:sp>
        <p:nvSpPr>
          <p:cNvPr id="14" name="icon-circle-804"/>
          <p:cNvSpPr/>
          <p:nvPr/>
        </p:nvSpPr>
        <p:spPr>
          <a:xfrm>
            <a:off x="777240" y="3493008"/>
            <a:ext cx="512064" cy="512064"/>
          </a:xfrm>
          <a:prstGeom prst="ellipse">
            <a:avLst/>
          </a:prstGeom>
          <a:solidFill>
            <a:schemeClr val="tx1"/>
          </a:solidFill>
          <a:ln/>
        </p:spPr>
      </p:sp>
      <p:pic>
        <p:nvPicPr>
          <p:cNvPr id="15" name="icon-805" descr="preencoded.png">    </p:cNvPr>
          <p:cNvPicPr>
            <a:picLocks noChangeAspect="1"/>
          </p:cNvPicPr>
          <p:nvPr/>
        </p:nvPicPr>
        <p:blipFill>
          <a:blip r:embed="rId3"/>
          <a:stretch>
            <a:fillRect/>
          </a:stretch>
        </p:blipFill>
        <p:spPr>
          <a:xfrm>
            <a:off x="905256" y="3621024"/>
            <a:ext cx="256032" cy="256032"/>
          </a:xfrm>
          <a:prstGeom prst="rect">
            <a:avLst/>
          </a:prstGeom>
        </p:spPr>
      </p:pic>
      <p:sp>
        <p:nvSpPr>
          <p:cNvPr id="16" name="text-806"/>
          <p:cNvSpPr txBox="1"/>
          <p:nvPr/>
        </p:nvSpPr>
        <p:spPr>
          <a:xfrm>
            <a:off x="1508760" y="3346704"/>
            <a:ext cx="3108960" cy="804672"/>
          </a:xfrm>
          <a:prstGeom prst="rect">
            <a:avLst/>
          </a:prstGeom>
          <a:noFill/>
          <a:ln/>
        </p:spPr>
        <p:txBody>
          <a:bodyPr wrap="square" lIns="0" tIns="0" rIns="0" bIns="0" rtlCol="0" anchor="ctr"/>
          <a:lstStyle/>
          <a:p>
            <a:pPr indent="0" marL="0">
              <a:buNone/>
            </a:pPr>
            <a:r>
              <a:rPr lang="en-US" sz="1700" b="1" dirty="0">
                <a:solidFill>
                  <a:schemeClr val="tx1"/>
                </a:solidFill>
              </a:rPr>
              <a:t>Port 4567 is busy</a:t>
            </a:r>
            <a:endParaRPr lang="en-US" sz="1700" dirty="0"/>
          </a:p>
        </p:txBody>
      </p:sp>
      <p:sp>
        <p:nvSpPr>
          <p:cNvPr id="17" name="text-807"/>
          <p:cNvSpPr txBox="1"/>
          <p:nvPr/>
        </p:nvSpPr>
        <p:spPr>
          <a:xfrm>
            <a:off x="4709160" y="3346704"/>
            <a:ext cx="6720840" cy="804672"/>
          </a:xfrm>
          <a:prstGeom prst="rect">
            <a:avLst/>
          </a:prstGeom>
          <a:noFill/>
          <a:ln/>
        </p:spPr>
        <p:txBody>
          <a:bodyPr wrap="square" lIns="0" tIns="0" rIns="0" bIns="0" rtlCol="0" anchor="ctr"/>
          <a:lstStyle/>
          <a:p>
            <a:pPr indent="0" marL="0">
              <a:buNone/>
            </a:pPr>
            <a:r>
              <a:rPr lang="en-US" sz="1500" dirty="0">
                <a:solidFill>
                  <a:schemeClr val="tx2"/>
                </a:solidFill>
              </a:rPr>
              <a:t>Stop the other project and close its simulator window first.</a:t>
            </a:r>
            <a:endParaRPr lang="en-US" sz="1500" dirty="0"/>
          </a:p>
        </p:txBody>
      </p:sp>
      <p:sp>
        <p:nvSpPr>
          <p:cNvPr id="18" name="card-808"/>
          <p:cNvSpPr/>
          <p:nvPr/>
        </p:nvSpPr>
        <p:spPr>
          <a:xfrm>
            <a:off x="548640" y="4288536"/>
            <a:ext cx="11091672" cy="804672"/>
          </a:xfrm>
          <a:prstGeom prst="roundRect">
            <a:avLst>
              <a:gd name="adj" fmla="val 9091"/>
            </a:avLst>
          </a:prstGeom>
          <a:solidFill>
            <a:schemeClr val="bg1"/>
          </a:solidFill>
          <a:ln/>
          <a:effectLst>
            <a:outerShdw sx="100000" sy="100000" kx="0" ky="0" algn="bl" rotWithShape="0" blurRad="101600" dist="25400" dir="5400000">
              <a:srgbClr val="000000">
                <a:alpha val="12000"/>
              </a:srgbClr>
            </a:outerShdw>
          </a:effectLst>
        </p:spPr>
      </p:sp>
      <p:sp>
        <p:nvSpPr>
          <p:cNvPr id="19" name="icon-circle-809"/>
          <p:cNvSpPr/>
          <p:nvPr/>
        </p:nvSpPr>
        <p:spPr>
          <a:xfrm>
            <a:off x="777240" y="4434840"/>
            <a:ext cx="512064" cy="512064"/>
          </a:xfrm>
          <a:prstGeom prst="ellipse">
            <a:avLst/>
          </a:prstGeom>
          <a:solidFill>
            <a:schemeClr val="tx1"/>
          </a:solidFill>
          <a:ln/>
        </p:spPr>
      </p:sp>
      <p:pic>
        <p:nvPicPr>
          <p:cNvPr id="20" name="icon-810" descr="preencoded.png">    </p:cNvPr>
          <p:cNvPicPr>
            <a:picLocks noChangeAspect="1"/>
          </p:cNvPicPr>
          <p:nvPr/>
        </p:nvPicPr>
        <p:blipFill>
          <a:blip r:embed="rId4"/>
          <a:stretch>
            <a:fillRect/>
          </a:stretch>
        </p:blipFill>
        <p:spPr>
          <a:xfrm>
            <a:off x="905256" y="4562856"/>
            <a:ext cx="256032" cy="256032"/>
          </a:xfrm>
          <a:prstGeom prst="rect">
            <a:avLst/>
          </a:prstGeom>
        </p:spPr>
      </p:pic>
      <p:sp>
        <p:nvSpPr>
          <p:cNvPr id="21" name="text-811"/>
          <p:cNvSpPr txBox="1"/>
          <p:nvPr/>
        </p:nvSpPr>
        <p:spPr>
          <a:xfrm>
            <a:off x="1508760" y="4288536"/>
            <a:ext cx="3108960" cy="804672"/>
          </a:xfrm>
          <a:prstGeom prst="rect">
            <a:avLst/>
          </a:prstGeom>
          <a:noFill/>
          <a:ln/>
        </p:spPr>
        <p:txBody>
          <a:bodyPr wrap="square" lIns="0" tIns="0" rIns="0" bIns="0" rtlCol="0" anchor="ctr"/>
          <a:lstStyle/>
          <a:p>
            <a:pPr indent="0" marL="0">
              <a:buNone/>
            </a:pPr>
            <a:r>
              <a:rPr lang="en-US" sz="1700" b="1" dirty="0">
                <a:solidFill>
                  <a:schemeClr val="tx1"/>
                </a:solidFill>
              </a:rPr>
              <a:t>Download or image pull fails</a:t>
            </a:r>
            <a:endParaRPr lang="en-US" sz="1700" dirty="0"/>
          </a:p>
        </p:txBody>
      </p:sp>
      <p:sp>
        <p:nvSpPr>
          <p:cNvPr id="22" name="text-812"/>
          <p:cNvSpPr txBox="1"/>
          <p:nvPr/>
        </p:nvSpPr>
        <p:spPr>
          <a:xfrm>
            <a:off x="4709160" y="4288536"/>
            <a:ext cx="6720840" cy="804672"/>
          </a:xfrm>
          <a:prstGeom prst="rect">
            <a:avLst/>
          </a:prstGeom>
          <a:noFill/>
          <a:ln/>
        </p:spPr>
        <p:txBody>
          <a:bodyPr wrap="square" lIns="0" tIns="0" rIns="0" bIns="0" rtlCol="0" anchor="ctr"/>
          <a:lstStyle/>
          <a:p>
            <a:pPr indent="0" marL="0">
              <a:buNone/>
            </a:pPr>
            <a:r>
              <a:rPr lang="en-US" sz="1500" dirty="0">
                <a:solidFill>
                  <a:schemeClr val="tx2"/>
                </a:solidFill>
              </a:rPr>
              <a:t>Check Docker Desktop is running and the network is reachable.</a:t>
            </a:r>
            <a:endParaRPr lang="en-US" sz="1500" dirty="0"/>
          </a:p>
        </p:txBody>
      </p:sp>
      <p:sp>
        <p:nvSpPr>
          <p:cNvPr id="23" name="card-813"/>
          <p:cNvSpPr/>
          <p:nvPr/>
        </p:nvSpPr>
        <p:spPr>
          <a:xfrm>
            <a:off x="548640" y="5230368"/>
            <a:ext cx="11091672" cy="804672"/>
          </a:xfrm>
          <a:prstGeom prst="roundRect">
            <a:avLst>
              <a:gd name="adj" fmla="val 9091"/>
            </a:avLst>
          </a:prstGeom>
          <a:solidFill>
            <a:schemeClr val="bg1"/>
          </a:solidFill>
          <a:ln/>
          <a:effectLst>
            <a:outerShdw sx="100000" sy="100000" kx="0" ky="0" algn="bl" rotWithShape="0" blurRad="101600" dist="25400" dir="5400000">
              <a:srgbClr val="000000">
                <a:alpha val="12000"/>
              </a:srgbClr>
            </a:outerShdw>
          </a:effectLst>
        </p:spPr>
      </p:sp>
      <p:sp>
        <p:nvSpPr>
          <p:cNvPr id="24" name="icon-circle-814"/>
          <p:cNvSpPr/>
          <p:nvPr/>
        </p:nvSpPr>
        <p:spPr>
          <a:xfrm>
            <a:off x="777240" y="5376672"/>
            <a:ext cx="512064" cy="512064"/>
          </a:xfrm>
          <a:prstGeom prst="ellipse">
            <a:avLst/>
          </a:prstGeom>
          <a:solidFill>
            <a:schemeClr val="accent1"/>
          </a:solidFill>
          <a:ln/>
        </p:spPr>
      </p:sp>
      <p:pic>
        <p:nvPicPr>
          <p:cNvPr id="25" name="icon-815" descr="preencoded.png">    </p:cNvPr>
          <p:cNvPicPr>
            <a:picLocks noChangeAspect="1"/>
          </p:cNvPicPr>
          <p:nvPr/>
        </p:nvPicPr>
        <p:blipFill>
          <a:blip r:embed="rId5"/>
          <a:stretch>
            <a:fillRect/>
          </a:stretch>
        </p:blipFill>
        <p:spPr>
          <a:xfrm>
            <a:off x="905256" y="5504688"/>
            <a:ext cx="256032" cy="256032"/>
          </a:xfrm>
          <a:prstGeom prst="rect">
            <a:avLst/>
          </a:prstGeom>
        </p:spPr>
      </p:pic>
      <p:sp>
        <p:nvSpPr>
          <p:cNvPr id="26" name="text-816"/>
          <p:cNvSpPr txBox="1"/>
          <p:nvPr/>
        </p:nvSpPr>
        <p:spPr>
          <a:xfrm>
            <a:off x="1508760" y="5230368"/>
            <a:ext cx="3108960" cy="804672"/>
          </a:xfrm>
          <a:prstGeom prst="rect">
            <a:avLst/>
          </a:prstGeom>
          <a:noFill/>
          <a:ln/>
        </p:spPr>
        <p:txBody>
          <a:bodyPr wrap="square" lIns="0" tIns="0" rIns="0" bIns="0" rtlCol="0" anchor="ctr"/>
          <a:lstStyle/>
          <a:p>
            <a:pPr indent="0" marL="0">
              <a:buNone/>
            </a:pPr>
            <a:r>
              <a:rPr lang="en-US" sz="1700" b="1" dirty="0">
                <a:solidFill>
                  <a:schemeClr val="tx1"/>
                </a:solidFill>
              </a:rPr>
              <a:t>Controller fault</a:t>
            </a:r>
            <a:endParaRPr lang="en-US" sz="1700" dirty="0"/>
          </a:p>
        </p:txBody>
      </p:sp>
      <p:sp>
        <p:nvSpPr>
          <p:cNvPr id="27" name="text-817"/>
          <p:cNvSpPr txBox="1"/>
          <p:nvPr/>
        </p:nvSpPr>
        <p:spPr>
          <a:xfrm>
            <a:off x="4709160" y="5230368"/>
            <a:ext cx="6720840" cy="804672"/>
          </a:xfrm>
          <a:prstGeom prst="rect">
            <a:avLst/>
          </a:prstGeom>
          <a:noFill/>
          <a:ln/>
        </p:spPr>
        <p:txBody>
          <a:bodyPr wrap="square" lIns="0" tIns="0" rIns="0" bIns="0" rtlCol="0" anchor="ctr"/>
          <a:lstStyle/>
          <a:p>
            <a:pPr indent="0" marL="0">
              <a:buNone/>
            </a:pPr>
            <a:r>
              <a:rPr lang="en-US" sz="1500" dirty="0">
                <a:solidFill>
                  <a:schemeClr val="tx2"/>
                </a:solidFill>
              </a:rPr>
              <a:t>Read the error in the logs, fix it, then restart. A hung controller takes about 3 s to stop.</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Where to go after today</a:t>
            </a:r>
            <a:endParaRPr lang="en-US" sz="3600" dirty="0"/>
          </a:p>
        </p:txBody>
      </p:sp>
      <p:sp>
        <p:nvSpPr>
          <p:cNvPr id="3" name="card-818"/>
          <p:cNvSpPr/>
          <p:nvPr/>
        </p:nvSpPr>
        <p:spPr>
          <a:xfrm>
            <a:off x="548640" y="1463040"/>
            <a:ext cx="2567178" cy="4526280"/>
          </a:xfrm>
          <a:prstGeom prst="roundRect">
            <a:avLst>
              <a:gd name="adj" fmla="val 2850"/>
            </a:avLst>
          </a:prstGeom>
          <a:solidFill>
            <a:schemeClr val="bg1"/>
          </a:solidFill>
          <a:ln/>
          <a:effectLst>
            <a:outerShdw sx="100000" sy="100000" kx="0" ky="0" algn="bl" rotWithShape="0" blurRad="101600" dist="25400" dir="5400000">
              <a:srgbClr val="000000">
                <a:alpha val="12000"/>
              </a:srgbClr>
            </a:outerShdw>
          </a:effectLst>
        </p:spPr>
      </p:sp>
      <p:sp>
        <p:nvSpPr>
          <p:cNvPr id="4" name="icon-circle-819"/>
          <p:cNvSpPr/>
          <p:nvPr/>
        </p:nvSpPr>
        <p:spPr>
          <a:xfrm>
            <a:off x="822960" y="1737360"/>
            <a:ext cx="868680" cy="868680"/>
          </a:xfrm>
          <a:prstGeom prst="ellipse">
            <a:avLst/>
          </a:prstGeom>
          <a:solidFill>
            <a:schemeClr val="tx1"/>
          </a:solidFill>
          <a:ln/>
        </p:spPr>
      </p:sp>
      <p:pic>
        <p:nvPicPr>
          <p:cNvPr id="5" name="icon-820" descr="preencoded.png">    </p:cNvPr>
          <p:cNvPicPr>
            <a:picLocks noChangeAspect="1"/>
          </p:cNvPicPr>
          <p:nvPr/>
        </p:nvPicPr>
        <p:blipFill>
          <a:blip r:embed="rId1"/>
          <a:stretch>
            <a:fillRect/>
          </a:stretch>
        </p:blipFill>
        <p:spPr>
          <a:xfrm>
            <a:off x="1040130" y="1954530"/>
            <a:ext cx="434340" cy="434340"/>
          </a:xfrm>
          <a:prstGeom prst="rect">
            <a:avLst/>
          </a:prstGeom>
        </p:spPr>
      </p:pic>
      <p:sp>
        <p:nvSpPr>
          <p:cNvPr id="6" name="text-821"/>
          <p:cNvSpPr txBox="1"/>
          <p:nvPr/>
        </p:nvSpPr>
        <p:spPr>
          <a:xfrm>
            <a:off x="822960" y="2834640"/>
            <a:ext cx="2018538" cy="457200"/>
          </a:xfrm>
          <a:prstGeom prst="rect">
            <a:avLst/>
          </a:prstGeom>
          <a:noFill/>
          <a:ln/>
        </p:spPr>
        <p:txBody>
          <a:bodyPr wrap="square" lIns="0" tIns="0" rIns="0" bIns="0" rtlCol="0" anchor="t"/>
          <a:lstStyle/>
          <a:p>
            <a:pPr indent="0" marL="0">
              <a:buNone/>
            </a:pPr>
            <a:r>
              <a:rPr lang="en-US" sz="2400" b="1" dirty="0">
                <a:solidFill>
                  <a:schemeClr val="tx1"/>
                </a:solidFill>
                <a:latin typeface="Arial" pitchFamily="34" charset="0"/>
                <a:ea typeface="Arial" pitchFamily="34" charset="-122"/>
                <a:cs typeface="Arial" pitchFamily="34" charset="-120"/>
              </a:rPr>
              <a:t>Learn</a:t>
            </a:r>
            <a:endParaRPr lang="en-US" sz="2400" dirty="0"/>
          </a:p>
        </p:txBody>
      </p:sp>
      <p:sp>
        <p:nvSpPr>
          <p:cNvPr id="7" name="text-822"/>
          <p:cNvSpPr txBox="1"/>
          <p:nvPr/>
        </p:nvSpPr>
        <p:spPr>
          <a:xfrm>
            <a:off x="822960" y="3383280"/>
            <a:ext cx="2018538" cy="1463040"/>
          </a:xfrm>
          <a:prstGeom prst="rect">
            <a:avLst/>
          </a:prstGeom>
          <a:noFill/>
          <a:ln/>
        </p:spPr>
        <p:txBody>
          <a:bodyPr wrap="square" lIns="0" tIns="0" rIns="0" bIns="0" rtlCol="0" anchor="t"/>
          <a:lstStyle/>
          <a:p>
            <a:pPr indent="0" marL="0">
              <a:buNone/>
            </a:pPr>
            <a:r>
              <a:rPr lang="en-US" sz="1500" dirty="0">
                <a:solidFill>
                  <a:schemeClr val="tx2"/>
                </a:solidFill>
              </a:rPr>
              <a:t>Take the RoboRacer course: perception, planning and control in depth.</a:t>
            </a:r>
            <a:endParaRPr lang="en-US" sz="1500" dirty="0"/>
          </a:p>
        </p:txBody>
      </p:sp>
      <p:sp>
        <p:nvSpPr>
          <p:cNvPr id="8" name="link-box-823"/>
          <p:cNvSpPr/>
          <p:nvPr/>
        </p:nvSpPr>
        <p:spPr>
          <a:xfrm>
            <a:off x="731520" y="5120640"/>
            <a:ext cx="2201418" cy="594360"/>
          </a:xfrm>
          <a:prstGeom prst="roundRect">
            <a:avLst>
              <a:gd name="adj" fmla="val 12308"/>
            </a:avLst>
          </a:prstGeom>
          <a:solidFill>
            <a:schemeClr val="bg2"/>
          </a:solidFill>
          <a:ln/>
        </p:spPr>
      </p:sp>
      <p:sp>
        <p:nvSpPr>
          <p:cNvPr id="9" name="text-824"/>
          <p:cNvSpPr txBox="1"/>
          <p:nvPr/>
        </p:nvSpPr>
        <p:spPr>
          <a:xfrm>
            <a:off x="749808" y="5120640"/>
            <a:ext cx="2164842" cy="594360"/>
          </a:xfrm>
          <a:prstGeom prst="rect">
            <a:avLst/>
          </a:prstGeom>
          <a:noFill/>
          <a:ln/>
        </p:spPr>
        <p:txBody>
          <a:bodyPr wrap="square" lIns="0" tIns="0" rIns="0" bIns="0" rtlCol="0" anchor="ctr"/>
          <a:lstStyle/>
          <a:p>
            <a:pPr algn="ctr" indent="0" marL="0">
              <a:buNone/>
            </a:pPr>
            <a:r>
              <a:rPr lang="en-US" sz="1200" b="1" dirty="0">
                <a:solidFill>
                  <a:schemeClr val="accent1"/>
                </a:solidFill>
              </a:rPr>
              <a:t>roboracer.ai/learn/courses</a:t>
            </a:r>
            <a:endParaRPr lang="en-US" sz="1200" dirty="0"/>
          </a:p>
        </p:txBody>
      </p:sp>
      <p:sp>
        <p:nvSpPr>
          <p:cNvPr id="10" name="card-825"/>
          <p:cNvSpPr/>
          <p:nvPr/>
        </p:nvSpPr>
        <p:spPr>
          <a:xfrm>
            <a:off x="3390138" y="1463040"/>
            <a:ext cx="2567178" cy="4526280"/>
          </a:xfrm>
          <a:prstGeom prst="roundRect">
            <a:avLst>
              <a:gd name="adj" fmla="val 2850"/>
            </a:avLst>
          </a:prstGeom>
          <a:solidFill>
            <a:schemeClr val="bg1"/>
          </a:solidFill>
          <a:ln/>
          <a:effectLst>
            <a:outerShdw sx="100000" sy="100000" kx="0" ky="0" algn="bl" rotWithShape="0" blurRad="101600" dist="25400" dir="5400000">
              <a:srgbClr val="000000">
                <a:alpha val="12000"/>
              </a:srgbClr>
            </a:outerShdw>
          </a:effectLst>
        </p:spPr>
      </p:sp>
      <p:sp>
        <p:nvSpPr>
          <p:cNvPr id="11" name="icon-circle-826"/>
          <p:cNvSpPr/>
          <p:nvPr/>
        </p:nvSpPr>
        <p:spPr>
          <a:xfrm>
            <a:off x="3664458" y="1737360"/>
            <a:ext cx="868680" cy="868680"/>
          </a:xfrm>
          <a:prstGeom prst="ellipse">
            <a:avLst/>
          </a:prstGeom>
          <a:solidFill>
            <a:schemeClr val="tx1"/>
          </a:solidFill>
          <a:ln/>
        </p:spPr>
      </p:sp>
      <p:pic>
        <p:nvPicPr>
          <p:cNvPr id="12" name="icon-827" descr="preencoded.png">    </p:cNvPr>
          <p:cNvPicPr>
            <a:picLocks noChangeAspect="1"/>
          </p:cNvPicPr>
          <p:nvPr/>
        </p:nvPicPr>
        <p:blipFill>
          <a:blip r:embed="rId2"/>
          <a:stretch>
            <a:fillRect/>
          </a:stretch>
        </p:blipFill>
        <p:spPr>
          <a:xfrm>
            <a:off x="3881628" y="1954530"/>
            <a:ext cx="434340" cy="434340"/>
          </a:xfrm>
          <a:prstGeom prst="rect">
            <a:avLst/>
          </a:prstGeom>
        </p:spPr>
      </p:pic>
      <p:sp>
        <p:nvSpPr>
          <p:cNvPr id="13" name="text-828"/>
          <p:cNvSpPr txBox="1"/>
          <p:nvPr/>
        </p:nvSpPr>
        <p:spPr>
          <a:xfrm>
            <a:off x="3664458" y="2834640"/>
            <a:ext cx="2018538" cy="457200"/>
          </a:xfrm>
          <a:prstGeom prst="rect">
            <a:avLst/>
          </a:prstGeom>
          <a:noFill/>
          <a:ln/>
        </p:spPr>
        <p:txBody>
          <a:bodyPr wrap="square" lIns="0" tIns="0" rIns="0" bIns="0" rtlCol="0" anchor="t"/>
          <a:lstStyle/>
          <a:p>
            <a:pPr indent="0" marL="0">
              <a:buNone/>
            </a:pPr>
            <a:r>
              <a:rPr lang="en-US" sz="2400" b="1" dirty="0">
                <a:solidFill>
                  <a:schemeClr val="tx1"/>
                </a:solidFill>
                <a:latin typeface="Arial" pitchFamily="34" charset="0"/>
                <a:ea typeface="Arial" pitchFamily="34" charset="-122"/>
                <a:cs typeface="Arial" pitchFamily="34" charset="-120"/>
              </a:rPr>
              <a:t>Build</a:t>
            </a:r>
            <a:endParaRPr lang="en-US" sz="2400" dirty="0"/>
          </a:p>
        </p:txBody>
      </p:sp>
      <p:sp>
        <p:nvSpPr>
          <p:cNvPr id="14" name="text-829"/>
          <p:cNvSpPr txBox="1"/>
          <p:nvPr/>
        </p:nvSpPr>
        <p:spPr>
          <a:xfrm>
            <a:off x="3664458" y="3383280"/>
            <a:ext cx="2018538" cy="1463040"/>
          </a:xfrm>
          <a:prstGeom prst="rect">
            <a:avLst/>
          </a:prstGeom>
          <a:noFill/>
          <a:ln/>
        </p:spPr>
        <p:txBody>
          <a:bodyPr wrap="square" lIns="0" tIns="0" rIns="0" bIns="0" rtlCol="0" anchor="t"/>
          <a:lstStyle/>
          <a:p>
            <a:pPr indent="0" marL="0">
              <a:buNone/>
            </a:pPr>
            <a:r>
              <a:rPr lang="en-US" sz="1500" dirty="0">
                <a:solidFill>
                  <a:schemeClr val="tx2"/>
                </a:solidFill>
              </a:rPr>
              <a:t>Follow the open-source build guide and ROS 2 driver stack.</a:t>
            </a:r>
            <a:endParaRPr lang="en-US" sz="1500" dirty="0"/>
          </a:p>
        </p:txBody>
      </p:sp>
      <p:sp>
        <p:nvSpPr>
          <p:cNvPr id="15" name="link-box-830"/>
          <p:cNvSpPr/>
          <p:nvPr/>
        </p:nvSpPr>
        <p:spPr>
          <a:xfrm>
            <a:off x="3573018" y="5120640"/>
            <a:ext cx="2201418" cy="594360"/>
          </a:xfrm>
          <a:prstGeom prst="roundRect">
            <a:avLst>
              <a:gd name="adj" fmla="val 12308"/>
            </a:avLst>
          </a:prstGeom>
          <a:solidFill>
            <a:schemeClr val="bg2"/>
          </a:solidFill>
          <a:ln/>
        </p:spPr>
      </p:sp>
      <p:sp>
        <p:nvSpPr>
          <p:cNvPr id="16" name="text-831"/>
          <p:cNvSpPr txBox="1"/>
          <p:nvPr/>
        </p:nvSpPr>
        <p:spPr>
          <a:xfrm>
            <a:off x="3591306" y="5120640"/>
            <a:ext cx="2164842" cy="594360"/>
          </a:xfrm>
          <a:prstGeom prst="rect">
            <a:avLst/>
          </a:prstGeom>
          <a:noFill/>
          <a:ln/>
        </p:spPr>
        <p:txBody>
          <a:bodyPr wrap="square" lIns="0" tIns="0" rIns="0" bIns="0" rtlCol="0" anchor="ctr"/>
          <a:lstStyle/>
          <a:p>
            <a:pPr algn="ctr" indent="0" marL="0">
              <a:buNone/>
            </a:pPr>
            <a:r>
              <a:rPr lang="en-US" sz="1200" b="1" dirty="0">
                <a:solidFill>
                  <a:schemeClr val="accent1"/>
                </a:solidFill>
              </a:rPr>
              <a:t>f1tenth.readthedocs.io</a:t>
            </a:r>
            <a:endParaRPr lang="en-US" sz="1200" dirty="0"/>
          </a:p>
        </p:txBody>
      </p:sp>
      <p:sp>
        <p:nvSpPr>
          <p:cNvPr id="17" name="card-832"/>
          <p:cNvSpPr/>
          <p:nvPr/>
        </p:nvSpPr>
        <p:spPr>
          <a:xfrm>
            <a:off x="6231636" y="1463040"/>
            <a:ext cx="2567178" cy="4526280"/>
          </a:xfrm>
          <a:prstGeom prst="roundRect">
            <a:avLst>
              <a:gd name="adj" fmla="val 2850"/>
            </a:avLst>
          </a:prstGeom>
          <a:solidFill>
            <a:schemeClr val="bg1"/>
          </a:solidFill>
          <a:ln/>
          <a:effectLst>
            <a:outerShdw sx="100000" sy="100000" kx="0" ky="0" algn="bl" rotWithShape="0" blurRad="101600" dist="25400" dir="5400000">
              <a:srgbClr val="000000">
                <a:alpha val="12000"/>
              </a:srgbClr>
            </a:outerShdw>
          </a:effectLst>
        </p:spPr>
      </p:sp>
      <p:sp>
        <p:nvSpPr>
          <p:cNvPr id="18" name="icon-circle-833"/>
          <p:cNvSpPr/>
          <p:nvPr/>
        </p:nvSpPr>
        <p:spPr>
          <a:xfrm>
            <a:off x="6505956" y="1737360"/>
            <a:ext cx="868680" cy="868680"/>
          </a:xfrm>
          <a:prstGeom prst="ellipse">
            <a:avLst/>
          </a:prstGeom>
          <a:solidFill>
            <a:schemeClr val="accent1"/>
          </a:solidFill>
          <a:ln/>
        </p:spPr>
      </p:sp>
      <p:pic>
        <p:nvPicPr>
          <p:cNvPr id="19" name="icon-834" descr="preencoded.png">    </p:cNvPr>
          <p:cNvPicPr>
            <a:picLocks noChangeAspect="1"/>
          </p:cNvPicPr>
          <p:nvPr/>
        </p:nvPicPr>
        <p:blipFill>
          <a:blip r:embed="rId3"/>
          <a:stretch>
            <a:fillRect/>
          </a:stretch>
        </p:blipFill>
        <p:spPr>
          <a:xfrm>
            <a:off x="6723126" y="1954530"/>
            <a:ext cx="434340" cy="434340"/>
          </a:xfrm>
          <a:prstGeom prst="rect">
            <a:avLst/>
          </a:prstGeom>
        </p:spPr>
      </p:pic>
      <p:sp>
        <p:nvSpPr>
          <p:cNvPr id="20" name="text-835"/>
          <p:cNvSpPr txBox="1"/>
          <p:nvPr/>
        </p:nvSpPr>
        <p:spPr>
          <a:xfrm>
            <a:off x="6505956" y="2834640"/>
            <a:ext cx="2018538" cy="457200"/>
          </a:xfrm>
          <a:prstGeom prst="rect">
            <a:avLst/>
          </a:prstGeom>
          <a:noFill/>
          <a:ln/>
        </p:spPr>
        <p:txBody>
          <a:bodyPr wrap="square" lIns="0" tIns="0" rIns="0" bIns="0" rtlCol="0" anchor="t"/>
          <a:lstStyle/>
          <a:p>
            <a:pPr indent="0" marL="0">
              <a:buNone/>
            </a:pPr>
            <a:r>
              <a:rPr lang="en-US" sz="2400" b="1" dirty="0">
                <a:solidFill>
                  <a:schemeClr val="tx1"/>
                </a:solidFill>
                <a:latin typeface="Arial" pitchFamily="34" charset="0"/>
                <a:ea typeface="Arial" pitchFamily="34" charset="-122"/>
                <a:cs typeface="Arial" pitchFamily="34" charset="-120"/>
              </a:rPr>
              <a:t>Race</a:t>
            </a:r>
            <a:endParaRPr lang="en-US" sz="2400" dirty="0"/>
          </a:p>
        </p:txBody>
      </p:sp>
      <p:sp>
        <p:nvSpPr>
          <p:cNvPr id="21" name="text-836"/>
          <p:cNvSpPr txBox="1"/>
          <p:nvPr/>
        </p:nvSpPr>
        <p:spPr>
          <a:xfrm>
            <a:off x="6505956" y="3383280"/>
            <a:ext cx="2018538" cy="1463040"/>
          </a:xfrm>
          <a:prstGeom prst="rect">
            <a:avLst/>
          </a:prstGeom>
          <a:noFill/>
          <a:ln/>
        </p:spPr>
        <p:txBody>
          <a:bodyPr wrap="square" lIns="0" tIns="0" rIns="0" bIns="0" rtlCol="0" anchor="t"/>
          <a:lstStyle/>
          <a:p>
            <a:pPr indent="0" marL="0">
              <a:buNone/>
            </a:pPr>
            <a:r>
              <a:rPr lang="en-US" sz="1500" dirty="0">
                <a:solidFill>
                  <a:schemeClr val="tx2"/>
                </a:solidFill>
              </a:rPr>
              <a:t>Enter the AutoDRIVE Sim Racing League or join a university team.</a:t>
            </a:r>
            <a:endParaRPr lang="en-US" sz="1500" dirty="0"/>
          </a:p>
        </p:txBody>
      </p:sp>
      <p:sp>
        <p:nvSpPr>
          <p:cNvPr id="22" name="link-box-837"/>
          <p:cNvSpPr/>
          <p:nvPr/>
        </p:nvSpPr>
        <p:spPr>
          <a:xfrm>
            <a:off x="6414516" y="5120640"/>
            <a:ext cx="2201418" cy="594360"/>
          </a:xfrm>
          <a:prstGeom prst="roundRect">
            <a:avLst>
              <a:gd name="adj" fmla="val 12308"/>
            </a:avLst>
          </a:prstGeom>
          <a:solidFill>
            <a:schemeClr val="bg2"/>
          </a:solidFill>
          <a:ln/>
        </p:spPr>
      </p:sp>
      <p:sp>
        <p:nvSpPr>
          <p:cNvPr id="23" name="text-838"/>
          <p:cNvSpPr txBox="1"/>
          <p:nvPr/>
        </p:nvSpPr>
        <p:spPr>
          <a:xfrm>
            <a:off x="6432804" y="5120640"/>
            <a:ext cx="2164842" cy="594360"/>
          </a:xfrm>
          <a:prstGeom prst="rect">
            <a:avLst/>
          </a:prstGeom>
          <a:noFill/>
          <a:ln/>
        </p:spPr>
        <p:txBody>
          <a:bodyPr wrap="square" lIns="0" tIns="0" rIns="0" bIns="0" rtlCol="0" anchor="ctr"/>
          <a:lstStyle/>
          <a:p>
            <a:pPr algn="ctr" indent="0" marL="0">
              <a:buNone/>
            </a:pPr>
            <a:r>
              <a:rPr lang="en-US" sz="1200" b="1" dirty="0">
                <a:solidFill>
                  <a:schemeClr val="accent1"/>
                </a:solidFill>
              </a:rPr>
              <a:t>autodrive-ecosystem.github.io</a:t>
            </a:r>
            <a:endParaRPr lang="en-US" sz="1200" dirty="0"/>
          </a:p>
        </p:txBody>
      </p:sp>
      <p:sp>
        <p:nvSpPr>
          <p:cNvPr id="24" name="card-839"/>
          <p:cNvSpPr/>
          <p:nvPr/>
        </p:nvSpPr>
        <p:spPr>
          <a:xfrm>
            <a:off x="9073134" y="1463040"/>
            <a:ext cx="2567178" cy="4526280"/>
          </a:xfrm>
          <a:prstGeom prst="roundRect">
            <a:avLst>
              <a:gd name="adj" fmla="val 2850"/>
            </a:avLst>
          </a:prstGeom>
          <a:solidFill>
            <a:schemeClr val="bg1"/>
          </a:solidFill>
          <a:ln/>
          <a:effectLst>
            <a:outerShdw sx="100000" sy="100000" kx="0" ky="0" algn="bl" rotWithShape="0" blurRad="101600" dist="25400" dir="5400000">
              <a:srgbClr val="000000">
                <a:alpha val="12000"/>
              </a:srgbClr>
            </a:outerShdw>
          </a:effectLst>
        </p:spPr>
      </p:sp>
      <p:sp>
        <p:nvSpPr>
          <p:cNvPr id="25" name="icon-circle-840"/>
          <p:cNvSpPr/>
          <p:nvPr/>
        </p:nvSpPr>
        <p:spPr>
          <a:xfrm>
            <a:off x="9347454" y="1737360"/>
            <a:ext cx="868680" cy="868680"/>
          </a:xfrm>
          <a:prstGeom prst="ellipse">
            <a:avLst/>
          </a:prstGeom>
          <a:solidFill>
            <a:schemeClr val="tx1"/>
          </a:solidFill>
          <a:ln/>
        </p:spPr>
      </p:sp>
      <p:pic>
        <p:nvPicPr>
          <p:cNvPr id="26" name="icon-841" descr="preencoded.png">    </p:cNvPr>
          <p:cNvPicPr>
            <a:picLocks noChangeAspect="1"/>
          </p:cNvPicPr>
          <p:nvPr/>
        </p:nvPicPr>
        <p:blipFill>
          <a:blip r:embed="rId4"/>
          <a:stretch>
            <a:fillRect/>
          </a:stretch>
        </p:blipFill>
        <p:spPr>
          <a:xfrm>
            <a:off x="9564624" y="1954530"/>
            <a:ext cx="434340" cy="434340"/>
          </a:xfrm>
          <a:prstGeom prst="rect">
            <a:avLst/>
          </a:prstGeom>
        </p:spPr>
      </p:pic>
      <p:sp>
        <p:nvSpPr>
          <p:cNvPr id="27" name="text-842"/>
          <p:cNvSpPr txBox="1"/>
          <p:nvPr/>
        </p:nvSpPr>
        <p:spPr>
          <a:xfrm>
            <a:off x="9347454" y="2834640"/>
            <a:ext cx="2018538" cy="457200"/>
          </a:xfrm>
          <a:prstGeom prst="rect">
            <a:avLst/>
          </a:prstGeom>
          <a:noFill/>
          <a:ln/>
        </p:spPr>
        <p:txBody>
          <a:bodyPr wrap="square" lIns="0" tIns="0" rIns="0" bIns="0" rtlCol="0" anchor="t"/>
          <a:lstStyle/>
          <a:p>
            <a:pPr indent="0" marL="0">
              <a:buNone/>
            </a:pPr>
            <a:r>
              <a:rPr lang="en-US" sz="2400" b="1" dirty="0">
                <a:solidFill>
                  <a:schemeClr val="tx1"/>
                </a:solidFill>
                <a:latin typeface="Arial" pitchFamily="34" charset="0"/>
                <a:ea typeface="Arial" pitchFamily="34" charset="-122"/>
                <a:cs typeface="Arial" pitchFamily="34" charset="-120"/>
              </a:rPr>
              <a:t>Keep coding</a:t>
            </a:r>
            <a:endParaRPr lang="en-US" sz="2400" dirty="0"/>
          </a:p>
        </p:txBody>
      </p:sp>
      <p:sp>
        <p:nvSpPr>
          <p:cNvPr id="28" name="text-843"/>
          <p:cNvSpPr txBox="1"/>
          <p:nvPr/>
        </p:nvSpPr>
        <p:spPr>
          <a:xfrm>
            <a:off x="9347454" y="3383280"/>
            <a:ext cx="2018538" cy="1463040"/>
          </a:xfrm>
          <a:prstGeom prst="rect">
            <a:avLst/>
          </a:prstGeom>
          <a:noFill/>
          <a:ln/>
        </p:spPr>
        <p:txBody>
          <a:bodyPr wrap="square" lIns="0" tIns="0" rIns="0" bIns="0" rtlCol="0" anchor="t"/>
          <a:lstStyle/>
          <a:p>
            <a:pPr indent="0" marL="0">
              <a:buNone/>
            </a:pPr>
            <a:r>
              <a:rPr lang="en-US" sz="1500" dirty="0">
                <a:solidFill>
                  <a:schemeClr val="tx2"/>
                </a:solidFill>
              </a:rPr>
              <a:t>Try a map-based stack: SLAM, a raceline and Pure Pursuit.</a:t>
            </a:r>
            <a:endParaRPr lang="en-US" sz="1500" dirty="0"/>
          </a:p>
        </p:txBody>
      </p:sp>
      <p:sp>
        <p:nvSpPr>
          <p:cNvPr id="29" name="link-box-844"/>
          <p:cNvSpPr/>
          <p:nvPr/>
        </p:nvSpPr>
        <p:spPr>
          <a:xfrm>
            <a:off x="9256014" y="5120640"/>
            <a:ext cx="2201418" cy="594360"/>
          </a:xfrm>
          <a:prstGeom prst="roundRect">
            <a:avLst>
              <a:gd name="adj" fmla="val 12308"/>
            </a:avLst>
          </a:prstGeom>
          <a:solidFill>
            <a:schemeClr val="bg2"/>
          </a:solidFill>
          <a:ln/>
        </p:spPr>
      </p:sp>
      <p:sp>
        <p:nvSpPr>
          <p:cNvPr id="30" name="text-845"/>
          <p:cNvSpPr txBox="1"/>
          <p:nvPr/>
        </p:nvSpPr>
        <p:spPr>
          <a:xfrm>
            <a:off x="9274302" y="5120640"/>
            <a:ext cx="2164842" cy="594360"/>
          </a:xfrm>
          <a:prstGeom prst="rect">
            <a:avLst/>
          </a:prstGeom>
          <a:noFill/>
          <a:ln/>
        </p:spPr>
        <p:txBody>
          <a:bodyPr wrap="square" lIns="0" tIns="0" rIns="0" bIns="0" rtlCol="0" anchor="ctr"/>
          <a:lstStyle/>
          <a:p>
            <a:pPr algn="ctr" indent="0" marL="0">
              <a:buNone/>
            </a:pPr>
            <a:r>
              <a:rPr lang="en-US" sz="1200" b="1" dirty="0">
                <a:solidFill>
                  <a:schemeClr val="accent1"/>
                </a:solidFill>
              </a:rPr>
              <a:t>Start from controller.py</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846"/>
          <p:cNvSpPr txBox="1"/>
          <p:nvPr/>
        </p:nvSpPr>
        <p:spPr>
          <a:xfrm>
            <a:off x="731520" y="1097280"/>
            <a:ext cx="4572000" cy="365760"/>
          </a:xfrm>
          <a:prstGeom prst="rect">
            <a:avLst/>
          </a:prstGeom>
          <a:noFill/>
          <a:ln/>
        </p:spPr>
        <p:txBody>
          <a:bodyPr wrap="square" lIns="0" tIns="0" rIns="0" bIns="0" rtlCol="0" anchor="t"/>
          <a:lstStyle/>
          <a:p>
            <a:pPr indent="0" marL="0">
              <a:buNone/>
            </a:pPr>
            <a:r>
              <a:rPr lang="en-US" sz="1400" b="1" spc="400" kern="0" dirty="0">
                <a:solidFill>
                  <a:schemeClr val="accent1"/>
                </a:solidFill>
              </a:rPr>
              <a:t>LIGHTS OUT</a:t>
            </a:r>
            <a:endParaRPr lang="en-US" sz="1400" dirty="0"/>
          </a:p>
        </p:txBody>
      </p:sp>
      <p:sp>
        <p:nvSpPr>
          <p:cNvPr id="3" name="text-847"/>
          <p:cNvSpPr txBox="1"/>
          <p:nvPr/>
        </p:nvSpPr>
        <p:spPr>
          <a:xfrm>
            <a:off x="731520" y="1463040"/>
            <a:ext cx="10058400" cy="914400"/>
          </a:xfrm>
          <a:prstGeom prst="rect">
            <a:avLst/>
          </a:prstGeom>
          <a:noFill/>
          <a:ln/>
        </p:spPr>
        <p:txBody>
          <a:bodyPr wrap="square" lIns="0" tIns="0" rIns="0" bIns="0" rtlCol="0" anchor="ctr"/>
          <a:lstStyle/>
          <a:p>
            <a:pPr indent="0" marL="0">
              <a:buNone/>
            </a:pPr>
            <a:r>
              <a:rPr lang="en-US" sz="4400" b="1" dirty="0">
                <a:solidFill>
                  <a:schemeClr val="bg1"/>
                </a:solidFill>
                <a:latin typeface="Arial" pitchFamily="34" charset="0"/>
                <a:ea typeface="Arial" pitchFamily="34" charset="-122"/>
                <a:cs typeface="Arial" pitchFamily="34" charset="-120"/>
              </a:rPr>
              <a:t>Ready, set, race</a:t>
            </a:r>
            <a:endParaRPr lang="en-US" sz="4400" dirty="0"/>
          </a:p>
        </p:txBody>
      </p:sp>
      <p:sp>
        <p:nvSpPr>
          <p:cNvPr id="4" name="take-card-848"/>
          <p:cNvSpPr/>
          <p:nvPr/>
        </p:nvSpPr>
        <p:spPr>
          <a:xfrm>
            <a:off x="731520" y="2880360"/>
            <a:ext cx="3392424" cy="2377440"/>
          </a:xfrm>
          <a:prstGeom prst="roundRect">
            <a:avLst>
              <a:gd name="adj" fmla="val 3077"/>
            </a:avLst>
          </a:prstGeom>
          <a:solidFill>
            <a:schemeClr val="tx2"/>
          </a:solidFill>
          <a:ln/>
        </p:spPr>
      </p:sp>
      <p:sp>
        <p:nvSpPr>
          <p:cNvPr id="5" name="icon-circle-849"/>
          <p:cNvSpPr/>
          <p:nvPr/>
        </p:nvSpPr>
        <p:spPr>
          <a:xfrm>
            <a:off x="1005840" y="3154680"/>
            <a:ext cx="640080" cy="640080"/>
          </a:xfrm>
          <a:prstGeom prst="ellipse">
            <a:avLst/>
          </a:prstGeom>
          <a:solidFill>
            <a:schemeClr val="accent1"/>
          </a:solidFill>
          <a:ln/>
        </p:spPr>
      </p:sp>
      <p:pic>
        <p:nvPicPr>
          <p:cNvPr id="6" name="icon-850" descr="preencoded.png">    </p:cNvPr>
          <p:cNvPicPr>
            <a:picLocks noChangeAspect="1"/>
          </p:cNvPicPr>
          <p:nvPr/>
        </p:nvPicPr>
        <p:blipFill>
          <a:blip r:embed="rId1"/>
          <a:stretch>
            <a:fillRect/>
          </a:stretch>
        </p:blipFill>
        <p:spPr>
          <a:xfrm>
            <a:off x="1165860" y="3314700"/>
            <a:ext cx="320040" cy="320040"/>
          </a:xfrm>
          <a:prstGeom prst="rect">
            <a:avLst/>
          </a:prstGeom>
        </p:spPr>
      </p:pic>
      <p:sp>
        <p:nvSpPr>
          <p:cNvPr id="7" name="text-851"/>
          <p:cNvSpPr txBox="1"/>
          <p:nvPr/>
        </p:nvSpPr>
        <p:spPr>
          <a:xfrm>
            <a:off x="1828800" y="3154680"/>
            <a:ext cx="2066544" cy="640080"/>
          </a:xfrm>
          <a:prstGeom prst="rect">
            <a:avLst/>
          </a:prstGeom>
          <a:noFill/>
          <a:ln/>
        </p:spPr>
        <p:txBody>
          <a:bodyPr wrap="square" lIns="0" tIns="0" rIns="0" bIns="0" rtlCol="0" anchor="ctr"/>
          <a:lstStyle/>
          <a:p>
            <a:pPr indent="0" marL="0">
              <a:buNone/>
            </a:pPr>
            <a:r>
              <a:rPr lang="en-US" sz="1900" b="1" dirty="0">
                <a:solidFill>
                  <a:schemeClr val="bg1"/>
                </a:solidFill>
                <a:latin typeface="Arial" pitchFamily="34" charset="0"/>
                <a:ea typeface="Arial" pitchFamily="34" charset="-122"/>
                <a:cs typeface="Arial" pitchFamily="34" charset="-120"/>
              </a:rPr>
              <a:t>Sense, plan, act</a:t>
            </a:r>
            <a:endParaRPr lang="en-US" sz="1900" dirty="0"/>
          </a:p>
        </p:txBody>
      </p:sp>
      <p:sp>
        <p:nvSpPr>
          <p:cNvPr id="8" name="text-852"/>
          <p:cNvSpPr txBox="1"/>
          <p:nvPr/>
        </p:nvSpPr>
        <p:spPr>
          <a:xfrm>
            <a:off x="1005840" y="4023360"/>
            <a:ext cx="2843784" cy="1097280"/>
          </a:xfrm>
          <a:prstGeom prst="rect">
            <a:avLst/>
          </a:prstGeom>
          <a:noFill/>
          <a:ln/>
        </p:spPr>
        <p:txBody>
          <a:bodyPr wrap="square" lIns="0" tIns="0" rIns="0" bIns="0" rtlCol="0" anchor="t"/>
          <a:lstStyle/>
          <a:p>
            <a:pPr indent="0" marL="0">
              <a:buNone/>
            </a:pPr>
            <a:r>
              <a:rPr lang="en-US" sz="1500" dirty="0">
                <a:solidFill>
                  <a:schemeClr val="bg2"/>
                </a:solidFill>
              </a:rPr>
              <a:t>Your drive() turns one LiDAR snapshot into one command, 20 times a second.</a:t>
            </a:r>
            <a:endParaRPr lang="en-US" sz="1500" dirty="0"/>
          </a:p>
        </p:txBody>
      </p:sp>
      <p:sp>
        <p:nvSpPr>
          <p:cNvPr id="9" name="take-card-853"/>
          <p:cNvSpPr/>
          <p:nvPr/>
        </p:nvSpPr>
        <p:spPr>
          <a:xfrm>
            <a:off x="4398264" y="2880360"/>
            <a:ext cx="3392424" cy="2377440"/>
          </a:xfrm>
          <a:prstGeom prst="roundRect">
            <a:avLst>
              <a:gd name="adj" fmla="val 3077"/>
            </a:avLst>
          </a:prstGeom>
          <a:solidFill>
            <a:schemeClr val="tx2"/>
          </a:solidFill>
          <a:ln/>
        </p:spPr>
      </p:sp>
      <p:sp>
        <p:nvSpPr>
          <p:cNvPr id="10" name="icon-circle-854"/>
          <p:cNvSpPr/>
          <p:nvPr/>
        </p:nvSpPr>
        <p:spPr>
          <a:xfrm>
            <a:off x="4672584" y="3154680"/>
            <a:ext cx="640080" cy="640080"/>
          </a:xfrm>
          <a:prstGeom prst="ellipse">
            <a:avLst/>
          </a:prstGeom>
          <a:solidFill>
            <a:schemeClr val="accent1"/>
          </a:solidFill>
          <a:ln/>
        </p:spPr>
      </p:sp>
      <p:pic>
        <p:nvPicPr>
          <p:cNvPr id="11" name="icon-855" descr="preencoded.png">    </p:cNvPr>
          <p:cNvPicPr>
            <a:picLocks noChangeAspect="1"/>
          </p:cNvPicPr>
          <p:nvPr/>
        </p:nvPicPr>
        <p:blipFill>
          <a:blip r:embed="rId2"/>
          <a:stretch>
            <a:fillRect/>
          </a:stretch>
        </p:blipFill>
        <p:spPr>
          <a:xfrm>
            <a:off x="4832604" y="3314700"/>
            <a:ext cx="320040" cy="320040"/>
          </a:xfrm>
          <a:prstGeom prst="rect">
            <a:avLst/>
          </a:prstGeom>
        </p:spPr>
      </p:pic>
      <p:sp>
        <p:nvSpPr>
          <p:cNvPr id="12" name="text-856"/>
          <p:cNvSpPr txBox="1"/>
          <p:nvPr/>
        </p:nvSpPr>
        <p:spPr>
          <a:xfrm>
            <a:off x="5495544" y="3154680"/>
            <a:ext cx="2066544" cy="640080"/>
          </a:xfrm>
          <a:prstGeom prst="rect">
            <a:avLst/>
          </a:prstGeom>
          <a:noFill/>
          <a:ln/>
        </p:spPr>
        <p:txBody>
          <a:bodyPr wrap="square" lIns="0" tIns="0" rIns="0" bIns="0" rtlCol="0" anchor="ctr"/>
          <a:lstStyle/>
          <a:p>
            <a:pPr indent="0" marL="0">
              <a:buNone/>
            </a:pPr>
            <a:r>
              <a:rPr lang="en-US" sz="1900" b="1" dirty="0">
                <a:solidFill>
                  <a:schemeClr val="bg1"/>
                </a:solidFill>
                <a:latin typeface="Arial" pitchFamily="34" charset="0"/>
                <a:ea typeface="Arial" pitchFamily="34" charset="-122"/>
                <a:cs typeface="Arial" pitchFamily="34" charset="-120"/>
              </a:rPr>
              <a:t>Safety first</a:t>
            </a:r>
            <a:endParaRPr lang="en-US" sz="1900" dirty="0"/>
          </a:p>
        </p:txBody>
      </p:sp>
      <p:sp>
        <p:nvSpPr>
          <p:cNvPr id="13" name="text-857"/>
          <p:cNvSpPr txBox="1"/>
          <p:nvPr/>
        </p:nvSpPr>
        <p:spPr>
          <a:xfrm>
            <a:off x="4672584" y="4023360"/>
            <a:ext cx="2843784" cy="1097280"/>
          </a:xfrm>
          <a:prstGeom prst="rect">
            <a:avLst/>
          </a:prstGeom>
          <a:noFill/>
          <a:ln/>
        </p:spPr>
        <p:txBody>
          <a:bodyPr wrap="square" lIns="0" tIns="0" rIns="0" bIns="0" rtlCol="0" anchor="t"/>
          <a:lstStyle/>
          <a:p>
            <a:pPr indent="0" marL="0">
              <a:buNone/>
            </a:pPr>
            <a:r>
              <a:rPr lang="en-US" sz="1500" dirty="0">
                <a:solidFill>
                  <a:schemeClr val="bg2"/>
                </a:solidFill>
              </a:rPr>
              <a:t>Unknown or blocked? Stop. Make it safe before you make it fast.</a:t>
            </a:r>
            <a:endParaRPr lang="en-US" sz="1500" dirty="0"/>
          </a:p>
        </p:txBody>
      </p:sp>
      <p:sp>
        <p:nvSpPr>
          <p:cNvPr id="14" name="take-card-858"/>
          <p:cNvSpPr/>
          <p:nvPr/>
        </p:nvSpPr>
        <p:spPr>
          <a:xfrm>
            <a:off x="8065008" y="2880360"/>
            <a:ext cx="3392424" cy="2377440"/>
          </a:xfrm>
          <a:prstGeom prst="roundRect">
            <a:avLst>
              <a:gd name="adj" fmla="val 3077"/>
            </a:avLst>
          </a:prstGeom>
          <a:solidFill>
            <a:schemeClr val="tx2"/>
          </a:solidFill>
          <a:ln/>
        </p:spPr>
      </p:sp>
      <p:sp>
        <p:nvSpPr>
          <p:cNvPr id="15" name="icon-circle-859"/>
          <p:cNvSpPr/>
          <p:nvPr/>
        </p:nvSpPr>
        <p:spPr>
          <a:xfrm>
            <a:off x="8339328" y="3154680"/>
            <a:ext cx="640080" cy="640080"/>
          </a:xfrm>
          <a:prstGeom prst="ellipse">
            <a:avLst/>
          </a:prstGeom>
          <a:solidFill>
            <a:schemeClr val="accent1"/>
          </a:solidFill>
          <a:ln/>
        </p:spPr>
      </p:sp>
      <p:pic>
        <p:nvPicPr>
          <p:cNvPr id="16" name="icon-860" descr="preencoded.png">    </p:cNvPr>
          <p:cNvPicPr>
            <a:picLocks noChangeAspect="1"/>
          </p:cNvPicPr>
          <p:nvPr/>
        </p:nvPicPr>
        <p:blipFill>
          <a:blip r:embed="rId3"/>
          <a:stretch>
            <a:fillRect/>
          </a:stretch>
        </p:blipFill>
        <p:spPr>
          <a:xfrm>
            <a:off x="8499348" y="3314700"/>
            <a:ext cx="320040" cy="320040"/>
          </a:xfrm>
          <a:prstGeom prst="rect">
            <a:avLst/>
          </a:prstGeom>
        </p:spPr>
      </p:pic>
      <p:sp>
        <p:nvSpPr>
          <p:cNvPr id="17" name="text-861"/>
          <p:cNvSpPr txBox="1"/>
          <p:nvPr/>
        </p:nvSpPr>
        <p:spPr>
          <a:xfrm>
            <a:off x="9162288" y="3154680"/>
            <a:ext cx="2066544" cy="640080"/>
          </a:xfrm>
          <a:prstGeom prst="rect">
            <a:avLst/>
          </a:prstGeom>
          <a:noFill/>
          <a:ln/>
        </p:spPr>
        <p:txBody>
          <a:bodyPr wrap="square" lIns="0" tIns="0" rIns="0" bIns="0" rtlCol="0" anchor="ctr"/>
          <a:lstStyle/>
          <a:p>
            <a:pPr indent="0" marL="0">
              <a:buNone/>
            </a:pPr>
            <a:r>
              <a:rPr lang="en-US" sz="1900" b="1" dirty="0">
                <a:solidFill>
                  <a:schemeClr val="bg1"/>
                </a:solidFill>
                <a:latin typeface="Arial" pitchFamily="34" charset="0"/>
                <a:ea typeface="Arial" pitchFamily="34" charset="-122"/>
                <a:cs typeface="Arial" pitchFamily="34" charset="-120"/>
              </a:rPr>
              <a:t>Measure everything</a:t>
            </a:r>
            <a:endParaRPr lang="en-US" sz="1900" dirty="0"/>
          </a:p>
        </p:txBody>
      </p:sp>
      <p:sp>
        <p:nvSpPr>
          <p:cNvPr id="18" name="text-862"/>
          <p:cNvSpPr txBox="1"/>
          <p:nvPr/>
        </p:nvSpPr>
        <p:spPr>
          <a:xfrm>
            <a:off x="8339328" y="4023360"/>
            <a:ext cx="2843784" cy="1097280"/>
          </a:xfrm>
          <a:prstGeom prst="rect">
            <a:avLst/>
          </a:prstGeom>
          <a:noFill/>
          <a:ln/>
        </p:spPr>
        <p:txBody>
          <a:bodyPr wrap="square" lIns="0" tIns="0" rIns="0" bIns="0" rtlCol="0" anchor="t"/>
          <a:lstStyle/>
          <a:p>
            <a:pPr indent="0" marL="0">
              <a:buNone/>
            </a:pPr>
            <a:r>
              <a:rPr lang="en-US" sz="1500" dirty="0">
                <a:solidFill>
                  <a:schemeClr val="bg2"/>
                </a:solidFill>
              </a:rPr>
              <a:t>Change one setting at a time and compare laps and collisions.</a:t>
            </a:r>
            <a:endParaRPr lang="en-US" sz="1500" dirty="0"/>
          </a:p>
        </p:txBody>
      </p:sp>
      <p:sp>
        <p:nvSpPr>
          <p:cNvPr id="19" name="text-863"/>
          <p:cNvSpPr txBox="1"/>
          <p:nvPr/>
        </p:nvSpPr>
        <p:spPr>
          <a:xfrm>
            <a:off x="731520" y="5715000"/>
            <a:ext cx="10725912" cy="457200"/>
          </a:xfrm>
          <a:prstGeom prst="rect">
            <a:avLst/>
          </a:prstGeom>
          <a:noFill/>
          <a:ln/>
        </p:spPr>
        <p:txBody>
          <a:bodyPr wrap="square" lIns="0" tIns="0" rIns="0" bIns="0" rtlCol="0" anchor="ctr"/>
          <a:lstStyle/>
          <a:p>
            <a:pPr indent="0" marL="0">
              <a:buNone/>
            </a:pPr>
            <a:r>
              <a:rPr lang="en-US" sz="1400" b="1" dirty="0">
                <a:solidFill>
                  <a:schemeClr val="accent1"/>
                </a:solidFill>
              </a:rPr>
              <a:t>Keep handy:  </a:t>
            </a:r>
            <a:pPr indent="0" marL="0">
              <a:buNone/>
            </a:pPr>
            <a:r>
              <a:rPr lang="en-US" sz="1400" dirty="0">
                <a:solidFill>
                  <a:schemeClr val="bg2"/>
                </a:solidFill>
                <a:latin typeface="Courier New" pitchFamily="34" charset="0"/>
                <a:ea typeface="Courier New" pitchFamily="34" charset="-122"/>
                <a:cs typeface="Courier New" pitchFamily="34" charset="-120"/>
              </a:rPr>
              <a:t>README.md  ·  controller.py  ·  workshop_api.py  ·  examples/follow_the_gap.py</a:t>
            </a:r>
            <a:endParaRPr lang="en-US" sz="1400" dirty="0"/>
          </a:p>
        </p:txBody>
      </p:sp>
      <p:sp>
        <p:nvSpPr>
          <p:cNvPr id="21" name="Text 0"/>
          <p:cNvSpPr/>
          <p:nvPr>
            <p:ph idx="100" type="title" hasCustomPrompt="1"/>
          </p:nvPr>
        </p:nvSpPr>
        <p:spPr>
          <a:xfrm>
            <a:off x="731520" y="2011680"/>
            <a:ext cx="6949440" cy="1737360"/>
          </a:xfrm>
          <a:prstGeom prst="rect">
            <a:avLst/>
          </a:prstGeom>
          <a:noFill/>
          <a:ln/>
        </p:spPr>
        <p:txBody>
          <a:bodyPr wrap="square" lIns="0" tIns="0" rIns="0" bIns="0" rtlCol="0" anchor="b"/>
          <a:lstStyle/>
          <a:p>
            <a:pPr algn="l" indent="0" marL="0">
              <a:buNone/>
            </a:pPr>
            <a:endParaRPr lang="en-US" sz="4800" dirty="0"/>
          </a:p>
        </p:txBody>
      </p:sp>
      <p:sp>
        <p:nvSpPr>
          <p:cNvPr id="22" name="Text 0"/>
          <p:cNvSpPr/>
          <p:nvPr>
            <p:ph idx="101" type="body" hasCustomPrompt="1"/>
          </p:nvPr>
        </p:nvSpPr>
        <p:spPr>
          <a:xfrm>
            <a:off x="731520" y="3931920"/>
            <a:ext cx="6035040" cy="914400"/>
          </a:xfrm>
          <a:prstGeom prst="rect">
            <a:avLst/>
          </a:prstGeom>
          <a:noFill/>
          <a:ln/>
        </p:spPr>
        <p:txBody>
          <a:bodyPr wrap="square" lIns="0" tIns="0" rIns="0" bIns="0" rtlCol="0" anchor="t"/>
          <a:lstStyle/>
          <a:p>
            <a:pPr algn="l" indent="0" marL="0">
              <a:buNone/>
            </a:pPr>
            <a:endParaRPr lang="en-US" sz="2000" dirty="0"/>
          </a:p>
        </p:txBody>
      </p:sp>
    </p:spTree>
  </p:cSld>
  <p:clrMapOvr>
    <a:masterClrMapping/>
  </p:clrMapOvr>
</p:sld>
</file>

<file path=ppt/theme/theme1.xml><?xml version="1.0" encoding="utf-8"?>
<a:theme xmlns:a="http://schemas.openxmlformats.org/drawingml/2006/main" name="RoboRacer Night Track">
  <a:themeElements>
    <a:clrScheme name="RoboRacer Night Track">
      <a:dk1>
        <a:srgbClr val="14161B"/>
      </a:dk1>
      <a:lt1>
        <a:srgbClr val="FFFFFF"/>
      </a:lt1>
      <a:dk2>
        <a:srgbClr val="2B2F38"/>
      </a:dk2>
      <a:lt2>
        <a:srgbClr val="F2F3F5"/>
      </a:lt2>
      <a:accent1>
        <a:srgbClr val="E63946"/>
      </a:accent1>
      <a:accent2>
        <a:srgbClr val="FFB703"/>
      </a:accent2>
      <a:accent3>
        <a:srgbClr val="2A9D8F"/>
      </a:accent3>
      <a:accent4>
        <a:srgbClr val="6C7A89"/>
      </a:accent4>
      <a:accent5>
        <a:srgbClr val="457B9D"/>
      </a:accent5>
      <a:accent6>
        <a:srgbClr val="A8DADC"/>
      </a:accent6>
      <a:hlink>
        <a:srgbClr val="E63946"/>
      </a:hlink>
      <a:folHlink>
        <a:srgbClr val="6C7A89"/>
      </a:folHlink>
    </a:clrScheme>
    <a:fontScheme name="RoboRacer Night Trac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RoboRacer Autonomous Racing Workshop</dc:title>
  <dc:subject>PptxGenJS Presentation</dc:subject>
  <dc:creator>RoboRacer Workshop</dc:creator>
  <cp:lastModifiedBy>RoboRacer Workshop</cp:lastModifiedBy>
  <cp:revision>1</cp:revision>
  <dcterms:created xsi:type="dcterms:W3CDTF">2026-10-08T08:49:34Z</dcterms:created>
  <dcterms:modified xsi:type="dcterms:W3CDTF">2026-10-08T08:49:34Z</dcterms:modified>
</cp:coreProperties>
</file>